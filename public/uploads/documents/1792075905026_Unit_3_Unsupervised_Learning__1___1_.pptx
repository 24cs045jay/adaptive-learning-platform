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40" r:id="rId59"/>
    <p:sldId id="341"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0" roundtripDataSignature="AMtx7miJDBA1KdnMZLsP12Vx6F/uEwclL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E908FD-881D-413E-8E93-3D9B53D1E616}">
  <a:tblStyle styleId="{8FE908FD-881D-413E-8E93-3D9B53D1E616}" styleName="Table_0">
    <a:wholeTbl>
      <a:tcTxStyle b="off" i="off">
        <a:font>
          <a:latin typeface="Calibri"/>
          <a:ea typeface="Calibri"/>
          <a:cs typeface="Calibri"/>
        </a:font>
        <a:schemeClr val="lt1"/>
      </a:tcTxStyle>
      <a:tcStyle>
        <a:tcBdr>
          <a:left>
            <a:ln w="9525" cap="flat" cmpd="sng">
              <a:solidFill>
                <a:srgbClr val="F6CBBC"/>
              </a:solidFill>
              <a:prstDash val="solid"/>
              <a:round/>
              <a:headEnd type="none" w="sm" len="sm"/>
              <a:tailEnd type="none" w="sm" len="sm"/>
            </a:ln>
          </a:left>
          <a:right>
            <a:ln w="9525" cap="flat" cmpd="sng">
              <a:solidFill>
                <a:srgbClr val="F6CBBC"/>
              </a:solidFill>
              <a:prstDash val="solid"/>
              <a:round/>
              <a:headEnd type="none" w="sm" len="sm"/>
              <a:tailEnd type="none" w="sm" len="sm"/>
            </a:ln>
          </a:right>
          <a:top>
            <a:ln w="9525" cap="flat" cmpd="sng">
              <a:solidFill>
                <a:srgbClr val="F6CBBC"/>
              </a:solidFill>
              <a:prstDash val="solid"/>
              <a:round/>
              <a:headEnd type="none" w="sm" len="sm"/>
              <a:tailEnd type="none" w="sm" len="sm"/>
            </a:ln>
          </a:top>
          <a:bottom>
            <a:ln w="9525" cap="flat" cmpd="sng">
              <a:solidFill>
                <a:srgbClr val="F6CBBC"/>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lt1">
              <a:alpha val="20000"/>
            </a:schemeClr>
          </a:solidFill>
        </a:fill>
      </a:tcStyle>
    </a:band1H>
    <a:band2H>
      <a:tcTxStyle/>
      <a:tcStyle>
        <a:tcBdr/>
      </a:tcStyle>
    </a:band2H>
    <a:band1V>
      <a:tcTxStyle/>
      <a:tcStyle>
        <a:tcBdr/>
        <a:fill>
          <a:solidFill>
            <a:schemeClr val="lt1">
              <a:alpha val="20000"/>
            </a:schemeClr>
          </a:solidFill>
        </a:fill>
      </a:tcStyle>
    </a:band1V>
    <a:band2V>
      <a:tcTxStyle/>
      <a:tcStyle>
        <a:tcBdr/>
      </a:tcStyle>
    </a:band2V>
    <a:lastCol>
      <a:tcTxStyle b="on" i="off"/>
      <a:tcStyle>
        <a:tcBdr>
          <a:left>
            <a:ln w="9525" cap="flat" cmpd="sng">
              <a:solidFill>
                <a:schemeClr val="lt1"/>
              </a:solidFill>
              <a:prstDash val="solid"/>
              <a:round/>
              <a:headEnd type="none" w="sm" len="sm"/>
              <a:tailEnd type="none" w="sm" len="sm"/>
            </a:ln>
          </a:left>
        </a:tcBdr>
      </a:tcStyle>
    </a:lastCol>
    <a:firstCol>
      <a:tcTxStyle b="on" i="off"/>
      <a:tcStyle>
        <a:tcBdr>
          <a:right>
            <a:ln w="9525" cap="flat" cmpd="sng">
              <a:solidFill>
                <a:schemeClr val="lt1"/>
              </a:solidFill>
              <a:prstDash val="solid"/>
              <a:round/>
              <a:headEnd type="none" w="sm" len="sm"/>
              <a:tailEnd type="none" w="sm" len="sm"/>
            </a:ln>
          </a:right>
        </a:tcBdr>
      </a:tcStyle>
    </a:firstCol>
    <a:lastRow>
      <a:tcTxStyle b="on" i="off"/>
      <a:tcStyle>
        <a:tcBdr>
          <a:top>
            <a:ln w="9525" cap="flat" cmpd="sng">
              <a:solidFill>
                <a:schemeClr val="lt1"/>
              </a:solidFill>
              <a:prstDash val="solid"/>
              <a:round/>
              <a:headEnd type="none" w="sm" len="sm"/>
              <a:tailEnd type="none" w="sm" len="sm"/>
            </a:ln>
          </a:top>
        </a:tcBdr>
        <a:fill>
          <a:solidFill>
            <a:srgbClr val="FFFFFF">
              <a:alpha val="0"/>
            </a:srgbClr>
          </a:solidFill>
        </a:fill>
      </a:tcStyle>
    </a:lastRow>
    <a:seCell>
      <a:tcTxStyle/>
      <a:tcStyle>
        <a:tcBdr>
          <a:left>
            <a:ln w="9525" cap="flat" cmpd="sng">
              <a:solidFill>
                <a:srgbClr val="000000">
                  <a:alpha val="0"/>
                </a:srgbClr>
              </a:solidFill>
              <a:prstDash val="solid"/>
              <a:round/>
              <a:headEnd type="none" w="sm" len="sm"/>
              <a:tailEnd type="none" w="sm" len="sm"/>
            </a:ln>
          </a:left>
          <a:top>
            <a:ln w="9525" cap="flat" cmpd="sng">
              <a:solidFill>
                <a:srgbClr val="000000">
                  <a:alpha val="0"/>
                </a:srgbClr>
              </a:solidFill>
              <a:prstDash val="solid"/>
              <a:round/>
              <a:headEnd type="none" w="sm" len="sm"/>
              <a:tailEnd type="none" w="sm" len="sm"/>
            </a:ln>
          </a:top>
        </a:tcBdr>
      </a:tcStyle>
    </a:seCell>
    <a:swCell>
      <a:tcTxStyle/>
      <a:tcStyle>
        <a:tcBdr>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tcBdr>
      </a:tcStyle>
    </a:swCell>
    <a:firstRow>
      <a:tcTxStyle b="on" i="off"/>
      <a:tcStyle>
        <a:tcBdr>
          <a:bottom>
            <a:ln w="9525" cap="flat" cmpd="sng">
              <a:solidFill>
                <a:schemeClr val="lt1"/>
              </a:solidFill>
              <a:prstDash val="solid"/>
              <a:round/>
              <a:headEnd type="none" w="sm" len="sm"/>
              <a:tailEnd type="none" w="sm" len="sm"/>
            </a:ln>
          </a:bottom>
        </a:tcBdr>
        <a:fill>
          <a:solidFill>
            <a:srgbClr val="FFFFFF">
              <a:alpha val="0"/>
            </a:srgbClr>
          </a:solidFill>
        </a:fill>
      </a:tcStyle>
    </a:firstRow>
    <a:neCell>
      <a:tcTxStyle/>
      <a:tcStyle>
        <a:tcBdr>
          <a:bottom>
            <a:ln w="9525" cap="flat" cmpd="sng">
              <a:solidFill>
                <a:srgbClr val="000000">
                  <a:alpha val="0"/>
                </a:srgbClr>
              </a:solidFill>
              <a:prstDash val="solid"/>
              <a:round/>
              <a:headEnd type="none" w="sm" len="sm"/>
              <a:tailEnd type="none" w="sm" len="sm"/>
            </a:ln>
          </a:bottom>
        </a:tcBdr>
      </a:tcStyle>
    </a:neCell>
    <a:nwCell>
      <a:tcTxStyle/>
      <a:tcStyle>
        <a:tcBdr/>
      </a:tcStyle>
    </a:nwCell>
  </a:tblStyle>
  <a:tblStyle styleId="{08B953BB-13DD-4FB7-82F3-D155A25E974E}" styleName="Table_1">
    <a:wholeTbl>
      <a:tcTxStyle b="off" i="off">
        <a:font>
          <a:latin typeface="Calibri"/>
          <a:ea typeface="Calibri"/>
          <a:cs typeface="Calibri"/>
        </a:font>
        <a:schemeClr val="lt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wholeTbl>
    <a:band1H>
      <a:tcTxStyle/>
      <a:tcStyle>
        <a:tcBdr/>
        <a:fill>
          <a:solidFill>
            <a:srgbClr val="487AA8"/>
          </a:solidFill>
        </a:fill>
      </a:tcStyle>
    </a:band1H>
    <a:band2H>
      <a:tcTxStyle/>
      <a:tcStyle>
        <a:tcBdr/>
      </a:tcStyle>
    </a:band2H>
    <a:band1V>
      <a:tcTxStyle/>
      <a:tcStyle>
        <a:tcBdr/>
        <a:fill>
          <a:solidFill>
            <a:srgbClr val="487AA8"/>
          </a:solidFill>
        </a:fill>
      </a:tcStyle>
    </a:band1V>
    <a:band2V>
      <a:tcTxStyle/>
      <a:tcStyle>
        <a:tcBdr/>
      </a:tcStyle>
    </a:band2V>
    <a:lastCol>
      <a:tcTxStyle b="on" i="off"/>
      <a:tcStyle>
        <a:tcBdr>
          <a:left>
            <a:ln w="25400" cap="flat" cmpd="sng">
              <a:solidFill>
                <a:schemeClr val="lt1"/>
              </a:solidFill>
              <a:prstDash val="solid"/>
              <a:round/>
              <a:headEnd type="none" w="sm" len="sm"/>
              <a:tailEnd type="none" w="sm" len="sm"/>
            </a:ln>
          </a:left>
        </a:tcBdr>
        <a:fill>
          <a:solidFill>
            <a:srgbClr val="487AA8"/>
          </a:solidFill>
        </a:fill>
      </a:tcStyle>
    </a:lastCol>
    <a:firstCol>
      <a:tcTxStyle b="on" i="off"/>
      <a:tcStyle>
        <a:tcBdr>
          <a:right>
            <a:ln w="25400" cap="flat" cmpd="sng">
              <a:solidFill>
                <a:schemeClr val="lt1"/>
              </a:solidFill>
              <a:prstDash val="solid"/>
              <a:round/>
              <a:headEnd type="none" w="sm" len="sm"/>
              <a:tailEnd type="none" w="sm" len="sm"/>
            </a:ln>
          </a:right>
        </a:tcBdr>
        <a:fill>
          <a:solidFill>
            <a:srgbClr val="487AA8"/>
          </a:solidFill>
        </a:fill>
      </a:tcStyle>
    </a:firstCol>
    <a:lastRow>
      <a:tcTxStyle b="on" i="off"/>
      <a:tcStyle>
        <a:tcBdr>
          <a:top>
            <a:ln w="25400" cap="flat" cmpd="sng">
              <a:solidFill>
                <a:schemeClr val="lt1"/>
              </a:solidFill>
              <a:prstDash val="solid"/>
              <a:round/>
              <a:headEnd type="none" w="sm" len="sm"/>
              <a:tailEnd type="none" w="sm" len="sm"/>
            </a:ln>
          </a:top>
        </a:tcBdr>
        <a:fill>
          <a:solidFill>
            <a:srgbClr val="3C668C"/>
          </a:solidFill>
        </a:fill>
      </a:tcStyle>
    </a:lastRow>
    <a:seCell>
      <a:tcTxStyle/>
      <a:tcStyle>
        <a:tcBdr>
          <a:left>
            <a:ln w="9525" cap="flat" cmpd="sng">
              <a:solidFill>
                <a:srgbClr val="000000">
                  <a:alpha val="0"/>
                </a:srgbClr>
              </a:solidFill>
              <a:prstDash val="solid"/>
              <a:round/>
              <a:headEnd type="none" w="sm" len="sm"/>
              <a:tailEnd type="none" w="sm" len="sm"/>
            </a:ln>
          </a:left>
        </a:tcBdr>
      </a:tcStyle>
    </a:seCell>
    <a:swCell>
      <a:tcTxStyle/>
      <a:tcStyle>
        <a:tcBdr>
          <a:right>
            <a:ln w="9525" cap="flat" cmpd="sng">
              <a:solidFill>
                <a:srgbClr val="000000">
                  <a:alpha val="0"/>
                </a:srgbClr>
              </a:solidFill>
              <a:prstDash val="solid"/>
              <a:round/>
              <a:headEnd type="none" w="sm" len="sm"/>
              <a:tailEnd type="none" w="sm" len="sm"/>
            </a:ln>
          </a:right>
        </a:tcBdr>
      </a:tcStyle>
    </a:swCell>
    <a:firstRow>
      <a:tcTxStyle b="on" i="off"/>
      <a:tcStyle>
        <a:tcBdr>
          <a:bottom>
            <a:ln w="25400" cap="flat" cmpd="sng">
              <a:solidFill>
                <a:schemeClr val="lt1"/>
              </a:solidFill>
              <a:prstDash val="solid"/>
              <a:round/>
              <a:headEnd type="none" w="sm" len="sm"/>
              <a:tailEnd type="none" w="sm" len="sm"/>
            </a:ln>
          </a:bottom>
        </a:tcBdr>
        <a:fill>
          <a:solidFill>
            <a:schemeClr val="dk1"/>
          </a:solidFill>
        </a:fill>
      </a:tcStyle>
    </a:firstRow>
    <a:neCell>
      <a:tcTxStyle/>
      <a:tcStyle>
        <a:tcBdr>
          <a:left>
            <a:ln w="9525" cap="flat" cmpd="sng">
              <a:solidFill>
                <a:srgbClr val="000000">
                  <a:alpha val="0"/>
                </a:srgbClr>
              </a:solidFill>
              <a:prstDash val="solid"/>
              <a:round/>
              <a:headEnd type="none" w="sm" len="sm"/>
              <a:tailEnd type="none" w="sm" len="sm"/>
            </a:ln>
          </a:left>
        </a:tcBdr>
      </a:tcStyle>
    </a:neCell>
    <a:nwCell>
      <a:tcTxStyle/>
      <a:tcStyle>
        <a:tcBdr>
          <a:right>
            <a:ln w="9525" cap="flat" cmpd="sng">
              <a:solidFill>
                <a:srgbClr val="000000">
                  <a:alpha val="0"/>
                </a:srgbClr>
              </a:solidFill>
              <a:prstDash val="solid"/>
              <a:round/>
              <a:headEnd type="none" w="sm" len="sm"/>
              <a:tailEnd type="none" w="sm" len="sm"/>
            </a:ln>
          </a:right>
        </a:tcBdr>
      </a:tcStyle>
    </a:nwCell>
  </a:tblStyle>
  <a:tblStyle styleId="{E9C6C79A-6882-41AA-894F-E257A51AF7DE}" styleName="Table_2">
    <a:wholeTbl>
      <a:tcTxStyle b="off" i="off">
        <a:font>
          <a:latin typeface="Calibri"/>
          <a:ea typeface="Calibri"/>
          <a:cs typeface="Calibr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1"/>
              </a:solidFill>
              <a:prstDash val="solid"/>
              <a:round/>
              <a:headEnd type="none" w="sm" len="sm"/>
              <a:tailEnd type="none" w="sm" len="sm"/>
            </a:ln>
          </a:top>
        </a:tcBdr>
        <a:fill>
          <a:solidFill>
            <a:srgbClr val="E9EFF7"/>
          </a:solidFill>
        </a:fill>
      </a:tcStyle>
    </a:lastRow>
    <a:seCell>
      <a:tcTxStyle/>
      <a:tcStyle>
        <a:tcBdr/>
      </a:tcStyle>
    </a:seCell>
    <a:swCell>
      <a:tcTxStyle/>
      <a:tcStyle>
        <a:tcBdr/>
      </a:tcStyle>
    </a:swCell>
    <a:firstRow>
      <a:tcTxStyle b="on" i="off"/>
      <a:tcStyle>
        <a:tcBdr/>
        <a:fill>
          <a:solidFill>
            <a:srgbClr val="E9EFF7"/>
          </a:solidFill>
        </a:fill>
      </a:tcStyle>
    </a:firstRow>
    <a:neCell>
      <a:tcTxStyle/>
      <a:tcStyle>
        <a:tcBdr/>
      </a:tcStyle>
    </a:neCell>
    <a:nwCell>
      <a:tcTxStyle/>
      <a:tcStyle>
        <a:tcBdr/>
      </a:tcStyle>
    </a:nwCell>
  </a:tblStyle>
  <a:tblStyle styleId="{3F061DAE-B09F-43A1-B523-6D36B2647786}"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B8EB8283-1C1D-4487-8DC5-DA2C1829E0BC}" styleName="Table_4">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CE7"/>
          </a:solidFill>
        </a:fill>
      </a:tcStyle>
    </a:wholeTbl>
    <a:band1H>
      <a:tcTxStyle/>
      <a:tcStyle>
        <a:tcBdr/>
        <a:fill>
          <a:solidFill>
            <a:srgbClr val="F8D6CC"/>
          </a:solidFill>
        </a:fill>
      </a:tcStyle>
    </a:band1H>
    <a:band2H>
      <a:tcTxStyle/>
      <a:tcStyle>
        <a:tcBdr/>
      </a:tcStyle>
    </a:band2H>
    <a:band1V>
      <a:tcTxStyle/>
      <a:tcStyle>
        <a:tcBdr/>
        <a:fill>
          <a:solidFill>
            <a:srgbClr val="F8D6CC"/>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49649710-54AA-49DE-955E-7AFB838E4C77}" styleName="Table_5">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customschemas.google.com/relationships/presentationmetadata" Target="meta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 name="Google Shape;378;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3" name="Google Shape;503;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8" name="Google Shape;518;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1" name="Google Shape;541;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6" name="Google Shape;586;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6" name="Google Shape;596;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8" name="Google Shape;618;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6" name="Google Shape;626;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8" name="Google Shape;658;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0" name="Google Shape;670;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9" name="Google Shape;679;p6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1" name="Google Shape;691;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9" name="Google Shape;709;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8" name="Google Shape;718;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7" name="Google Shape;727;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9" name="Google Shape;739;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2" name="Google Shape;752;p7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5" name="Google Shape;765;p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9" name="Google Shape;779;p7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3" name="Google Shape;793;p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8" name="Google Shape;808;p7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4" name="Google Shape;824;p7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3" name="Google Shape;833;p8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5" name="Google Shape;845;p8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3" name="Google Shape;853;p8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1" name="Google Shape;861;p8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8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8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8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8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8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8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9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9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4"/>
          <p:cNvSpPr>
            <a:spLocks noGrp="1"/>
          </p:cNvSpPr>
          <p:nvPr>
            <p:ph type="pic" idx="2"/>
          </p:nvPr>
        </p:nvSpPr>
        <p:spPr>
          <a:xfrm>
            <a:off x="5183188" y="987425"/>
            <a:ext cx="6172200" cy="4873625"/>
          </a:xfrm>
          <a:prstGeom prst="rect">
            <a:avLst/>
          </a:prstGeom>
          <a:noFill/>
          <a:ln>
            <a:noFill/>
          </a:ln>
        </p:spPr>
      </p:sp>
      <p:sp>
        <p:nvSpPr>
          <p:cNvPr id="64" name="Google Shape;64;p9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9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9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9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E75B5"/>
        </a:solidFill>
        <a:effectLst/>
      </p:bgPr>
    </p:bg>
    <p:spTree>
      <p:nvGrpSpPr>
        <p:cNvPr id="1" name="Shape 5"/>
        <p:cNvGrpSpPr/>
        <p:nvPr/>
      </p:nvGrpSpPr>
      <p:grpSpPr>
        <a:xfrm>
          <a:off x="0" y="0"/>
          <a:ext cx="0" cy="0"/>
          <a:chOff x="0" y="0"/>
          <a:chExt cx="0" cy="0"/>
        </a:xfrm>
      </p:grpSpPr>
      <p:sp>
        <p:nvSpPr>
          <p:cNvPr id="6" name="Google Shape;6;p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hyperlink" Target="https://stackabuse.com/hierarchical-clustering-with-python-and-scikit-learn/" TargetMode="Externa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7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3.png"/></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8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746974" y="2446981"/>
            <a:ext cx="10947042" cy="18158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0" i="0" u="none" strike="noStrike" cap="none">
                <a:solidFill>
                  <a:schemeClr val="lt1"/>
                </a:solidFill>
                <a:latin typeface="Calibri"/>
                <a:ea typeface="Calibri"/>
                <a:cs typeface="Calibri"/>
                <a:sym typeface="Calibri"/>
              </a:rPr>
              <a:t>Machine Learning</a:t>
            </a:r>
            <a:endParaRPr/>
          </a:p>
          <a:p>
            <a:pPr marL="0" marR="0" lvl="0" indent="0" algn="ctr" rtl="0">
              <a:spcBef>
                <a:spcPts val="0"/>
              </a:spcBef>
              <a:spcAft>
                <a:spcPts val="0"/>
              </a:spcAft>
              <a:buNone/>
            </a:pPr>
            <a:r>
              <a:rPr lang="en-US" sz="4000" b="0" i="0" u="none" strike="noStrike" cap="none">
                <a:solidFill>
                  <a:schemeClr val="lt1"/>
                </a:solidFill>
                <a:latin typeface="Calibri"/>
                <a:ea typeface="Calibri"/>
                <a:cs typeface="Calibri"/>
                <a:sym typeface="Calibri"/>
              </a:rPr>
              <a:t>Unsupervised Learning</a:t>
            </a:r>
            <a:endParaRPr sz="40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cxnSp>
        <p:nvCxnSpPr>
          <p:cNvPr id="89" name="Google Shape;89;p2"/>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90" name="Google Shape;90;p2"/>
          <p:cNvSpPr txBox="1"/>
          <p:nvPr/>
        </p:nvSpPr>
        <p:spPr>
          <a:xfrm>
            <a:off x="656823" y="309089"/>
            <a:ext cx="926247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0" i="0" u="none" strike="noStrike" cap="none">
                <a:solidFill>
                  <a:schemeClr val="lt1"/>
                </a:solidFill>
                <a:latin typeface="Calibri"/>
                <a:ea typeface="Calibri"/>
                <a:cs typeface="Calibri"/>
                <a:sym typeface="Calibri"/>
              </a:rPr>
              <a:t>What is Unsupervised Learning?</a:t>
            </a:r>
            <a:endParaRPr/>
          </a:p>
        </p:txBody>
      </p:sp>
      <p:sp>
        <p:nvSpPr>
          <p:cNvPr id="91" name="Google Shape;91;p2"/>
          <p:cNvSpPr/>
          <p:nvPr/>
        </p:nvSpPr>
        <p:spPr>
          <a:xfrm>
            <a:off x="540913" y="1443004"/>
            <a:ext cx="11204619" cy="2031325"/>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chemeClr val="lt1"/>
              </a:buClr>
              <a:buSzPts val="2800"/>
              <a:buFont typeface="Arial"/>
              <a:buChar char="•"/>
            </a:pPr>
            <a:r>
              <a:rPr lang="en-US" sz="2800">
                <a:solidFill>
                  <a:schemeClr val="lt1"/>
                </a:solidFill>
                <a:latin typeface="Calibri"/>
                <a:ea typeface="Calibri"/>
                <a:cs typeface="Calibri"/>
                <a:sym typeface="Calibri"/>
              </a:rPr>
              <a:t>Unsupervised learning is a type of self-organized Hebbian learning that </a:t>
            </a:r>
            <a:r>
              <a:rPr lang="en-US" sz="2800" u="sng">
                <a:solidFill>
                  <a:schemeClr val="lt1"/>
                </a:solidFill>
                <a:latin typeface="Calibri"/>
                <a:ea typeface="Calibri"/>
                <a:cs typeface="Calibri"/>
                <a:sym typeface="Calibri"/>
              </a:rPr>
              <a:t>helps find previously unknown patterns in data set without pre-existing labels.</a:t>
            </a:r>
            <a:endParaRPr/>
          </a:p>
        </p:txBody>
      </p:sp>
      <p:pic>
        <p:nvPicPr>
          <p:cNvPr id="92" name="Google Shape;92;p2" descr="https://miro.medium.com/max/532/1*63uYu9E0qrL0Ll187LXr_g.png"/>
          <p:cNvPicPr preferRelativeResize="0"/>
          <p:nvPr/>
        </p:nvPicPr>
        <p:blipFill rotWithShape="1">
          <a:blip r:embed="rId3">
            <a:alphaModFix/>
          </a:blip>
          <a:srcRect/>
          <a:stretch/>
        </p:blipFill>
        <p:spPr>
          <a:xfrm>
            <a:off x="2795229" y="3124705"/>
            <a:ext cx="7159625" cy="33836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cxnSp>
        <p:nvCxnSpPr>
          <p:cNvPr id="97" name="Google Shape;97;p3"/>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98" name="Google Shape;98;p3"/>
          <p:cNvSpPr txBox="1"/>
          <p:nvPr/>
        </p:nvSpPr>
        <p:spPr>
          <a:xfrm>
            <a:off x="656823" y="309089"/>
            <a:ext cx="926247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What is Unsupervised Learning?</a:t>
            </a:r>
            <a:endParaRPr/>
          </a:p>
        </p:txBody>
      </p:sp>
      <p:pic>
        <p:nvPicPr>
          <p:cNvPr id="99" name="Google Shape;99;p3" descr="What is Clustering"/>
          <p:cNvPicPr preferRelativeResize="0"/>
          <p:nvPr/>
        </p:nvPicPr>
        <p:blipFill rotWithShape="1">
          <a:blip r:embed="rId3">
            <a:alphaModFix/>
          </a:blip>
          <a:srcRect/>
          <a:stretch/>
        </p:blipFill>
        <p:spPr>
          <a:xfrm>
            <a:off x="507267" y="1583469"/>
            <a:ext cx="10925175" cy="4552951"/>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cxnSp>
        <p:nvCxnSpPr>
          <p:cNvPr id="104" name="Google Shape;104;p4"/>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05" name="Google Shape;105;p4"/>
          <p:cNvSpPr txBox="1"/>
          <p:nvPr/>
        </p:nvSpPr>
        <p:spPr>
          <a:xfrm>
            <a:off x="656823" y="309089"/>
            <a:ext cx="926247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What is Unsupervised Learning?</a:t>
            </a:r>
            <a:endParaRPr/>
          </a:p>
        </p:txBody>
      </p:sp>
      <p:sp>
        <p:nvSpPr>
          <p:cNvPr id="106" name="Google Shape;106;p4"/>
          <p:cNvSpPr/>
          <p:nvPr/>
        </p:nvSpPr>
        <p:spPr>
          <a:xfrm>
            <a:off x="540913" y="1429557"/>
            <a:ext cx="11204619" cy="526297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800">
                <a:solidFill>
                  <a:schemeClr val="lt1"/>
                </a:solidFill>
                <a:latin typeface="Calibri"/>
                <a:ea typeface="Calibri"/>
                <a:cs typeface="Calibri"/>
                <a:sym typeface="Calibri"/>
              </a:rPr>
              <a:t>Unsupervised learning problems can be further grouped into clustering and association problems.</a:t>
            </a:r>
            <a:endParaRPr/>
          </a:p>
          <a:p>
            <a:pPr marL="457200" marR="0" lvl="0" indent="-457200" algn="just" rtl="0">
              <a:lnSpc>
                <a:spcPct val="150000"/>
              </a:lnSpc>
              <a:spcBef>
                <a:spcPts val="0"/>
              </a:spcBef>
              <a:spcAft>
                <a:spcPts val="0"/>
              </a:spcAft>
              <a:buClr>
                <a:srgbClr val="FFC000"/>
              </a:buClr>
              <a:buSzPts val="2800"/>
              <a:buFont typeface="Arial"/>
              <a:buChar char="•"/>
            </a:pPr>
            <a:r>
              <a:rPr lang="en-US" sz="2800">
                <a:solidFill>
                  <a:srgbClr val="FFC000"/>
                </a:solidFill>
                <a:latin typeface="Calibri"/>
                <a:ea typeface="Calibri"/>
                <a:cs typeface="Calibri"/>
                <a:sym typeface="Calibri"/>
              </a:rPr>
              <a:t>Clustering: </a:t>
            </a:r>
            <a:r>
              <a:rPr lang="en-US" sz="2800">
                <a:solidFill>
                  <a:schemeClr val="lt1"/>
                </a:solidFill>
                <a:latin typeface="Calibri"/>
                <a:ea typeface="Calibri"/>
                <a:cs typeface="Calibri"/>
                <a:sym typeface="Calibri"/>
              </a:rPr>
              <a:t>A clustering problem is where you want to discover the inherent groupings in the data, such as grouping customers by purchasing behavior.</a:t>
            </a:r>
            <a:endParaRPr/>
          </a:p>
          <a:p>
            <a:pPr marL="457200" marR="0" lvl="0" indent="-457200" algn="just" rtl="0">
              <a:lnSpc>
                <a:spcPct val="150000"/>
              </a:lnSpc>
              <a:spcBef>
                <a:spcPts val="0"/>
              </a:spcBef>
              <a:spcAft>
                <a:spcPts val="0"/>
              </a:spcAft>
              <a:buClr>
                <a:srgbClr val="FFC000"/>
              </a:buClr>
              <a:buSzPts val="2800"/>
              <a:buFont typeface="Arial"/>
              <a:buChar char="•"/>
            </a:pPr>
            <a:r>
              <a:rPr lang="en-US" sz="2800">
                <a:solidFill>
                  <a:srgbClr val="FFC000"/>
                </a:solidFill>
                <a:latin typeface="Calibri"/>
                <a:ea typeface="Calibri"/>
                <a:cs typeface="Calibri"/>
                <a:sym typeface="Calibri"/>
              </a:rPr>
              <a:t>Association:  </a:t>
            </a:r>
            <a:r>
              <a:rPr lang="en-US" sz="2800">
                <a:solidFill>
                  <a:schemeClr val="lt1"/>
                </a:solidFill>
                <a:latin typeface="Calibri"/>
                <a:ea typeface="Calibri"/>
                <a:cs typeface="Calibri"/>
                <a:sym typeface="Calibri"/>
              </a:rPr>
              <a:t>An association rule learning problem is where you want to discover rules that describe large portions of your data, such as people that buy X also tend to buy Y.</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cxnSp>
        <p:nvCxnSpPr>
          <p:cNvPr id="111" name="Google Shape;111;p5"/>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12" name="Google Shape;112;p5"/>
          <p:cNvSpPr txBox="1"/>
          <p:nvPr/>
        </p:nvSpPr>
        <p:spPr>
          <a:xfrm>
            <a:off x="656823" y="309089"/>
            <a:ext cx="926247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What is Unsupervised Learning?</a:t>
            </a:r>
            <a:endParaRPr/>
          </a:p>
        </p:txBody>
      </p:sp>
      <p:pic>
        <p:nvPicPr>
          <p:cNvPr id="113" name="Google Shape;113;p5" descr="https://miro.medium.com/max/470/1*iaohGmuT6kpUQXGbzYHr_w.png"/>
          <p:cNvPicPr preferRelativeResize="0"/>
          <p:nvPr/>
        </p:nvPicPr>
        <p:blipFill rotWithShape="1">
          <a:blip r:embed="rId3">
            <a:alphaModFix/>
          </a:blip>
          <a:srcRect/>
          <a:stretch/>
        </p:blipFill>
        <p:spPr>
          <a:xfrm>
            <a:off x="785611" y="1502800"/>
            <a:ext cx="9864460" cy="368776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cxnSp>
        <p:nvCxnSpPr>
          <p:cNvPr id="118" name="Google Shape;118;p6"/>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19" name="Google Shape;119;p6"/>
          <p:cNvSpPr txBox="1"/>
          <p:nvPr/>
        </p:nvSpPr>
        <p:spPr>
          <a:xfrm>
            <a:off x="656823" y="309089"/>
            <a:ext cx="926247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What is Unsupervised Learning?</a:t>
            </a:r>
            <a:endParaRPr/>
          </a:p>
        </p:txBody>
      </p:sp>
      <p:pic>
        <p:nvPicPr>
          <p:cNvPr id="120" name="Google Shape;120;p6" descr="https://miro.medium.com/max/574/1*ITNGvstPoYCE_89e0G7kCw.png"/>
          <p:cNvPicPr preferRelativeResize="0"/>
          <p:nvPr/>
        </p:nvPicPr>
        <p:blipFill rotWithShape="1">
          <a:blip r:embed="rId3">
            <a:alphaModFix/>
          </a:blip>
          <a:srcRect/>
          <a:stretch/>
        </p:blipFill>
        <p:spPr>
          <a:xfrm>
            <a:off x="558987" y="1604869"/>
            <a:ext cx="11234084" cy="3894977"/>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cxnSp>
        <p:nvCxnSpPr>
          <p:cNvPr id="125" name="Google Shape;125;p7"/>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26" name="Google Shape;126;p7"/>
          <p:cNvSpPr txBox="1"/>
          <p:nvPr/>
        </p:nvSpPr>
        <p:spPr>
          <a:xfrm>
            <a:off x="656823" y="309089"/>
            <a:ext cx="9262472"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What is Unsupervised Learning?</a:t>
            </a:r>
            <a:endParaRPr/>
          </a:p>
        </p:txBody>
      </p:sp>
      <p:pic>
        <p:nvPicPr>
          <p:cNvPr id="127" name="Google Shape;127;p7" descr="https://miro.medium.com/max/585/1*_rgKI0Mo3urRCSg4G9aKtw.png"/>
          <p:cNvPicPr preferRelativeResize="0"/>
          <p:nvPr/>
        </p:nvPicPr>
        <p:blipFill rotWithShape="1">
          <a:blip r:embed="rId3">
            <a:alphaModFix/>
          </a:blip>
          <a:srcRect/>
          <a:stretch/>
        </p:blipFill>
        <p:spPr>
          <a:xfrm>
            <a:off x="656823" y="1483846"/>
            <a:ext cx="11378873" cy="3034366"/>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cxnSp>
        <p:nvCxnSpPr>
          <p:cNvPr id="132" name="Google Shape;132;p8"/>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33" name="Google Shape;133;p8"/>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34" name="Google Shape;134;p8"/>
          <p:cNvSpPr/>
          <p:nvPr/>
        </p:nvSpPr>
        <p:spPr>
          <a:xfrm>
            <a:off x="860927" y="1510988"/>
            <a:ext cx="4793556" cy="3093154"/>
          </a:xfrm>
          <a:prstGeom prst="rect">
            <a:avLst/>
          </a:prstGeom>
          <a:noFill/>
          <a:ln>
            <a:noFill/>
          </a:ln>
        </p:spPr>
        <p:txBody>
          <a:bodyPr spcFirstLastPara="1" wrap="square" lIns="91425" tIns="45700" rIns="91425" bIns="45700" anchor="t" anchorCtr="0">
            <a:spAutoFit/>
          </a:bodyPr>
          <a:lstStyle/>
          <a:p>
            <a:pPr marL="514350" marR="0" lvl="0" indent="-514350" algn="l" rtl="0">
              <a:lnSpc>
                <a:spcPct val="150000"/>
              </a:lnSpc>
              <a:spcBef>
                <a:spcPts val="0"/>
              </a:spcBef>
              <a:spcAft>
                <a:spcPts val="0"/>
              </a:spcAft>
              <a:buClr>
                <a:schemeClr val="lt1"/>
              </a:buClr>
              <a:buSzPts val="2600"/>
              <a:buFont typeface="Arial"/>
              <a:buChar char="•"/>
            </a:pPr>
            <a:r>
              <a:rPr lang="en-US" sz="2600">
                <a:solidFill>
                  <a:schemeClr val="lt1"/>
                </a:solidFill>
                <a:latin typeface="Calibri"/>
                <a:ea typeface="Calibri"/>
                <a:cs typeface="Calibri"/>
                <a:sym typeface="Calibri"/>
              </a:rPr>
              <a:t>Manhattan distance</a:t>
            </a:r>
            <a:endParaRPr/>
          </a:p>
          <a:p>
            <a:pPr marL="514350" marR="0" lvl="0" indent="-514350" algn="l" rtl="0">
              <a:lnSpc>
                <a:spcPct val="150000"/>
              </a:lnSpc>
              <a:spcBef>
                <a:spcPts val="0"/>
              </a:spcBef>
              <a:spcAft>
                <a:spcPts val="0"/>
              </a:spcAft>
              <a:buClr>
                <a:schemeClr val="lt1"/>
              </a:buClr>
              <a:buSzPts val="2600"/>
              <a:buFont typeface="Arial"/>
              <a:buChar char="•"/>
            </a:pPr>
            <a:r>
              <a:rPr lang="en-US" sz="2600">
                <a:solidFill>
                  <a:schemeClr val="lt1"/>
                </a:solidFill>
                <a:latin typeface="Calibri"/>
                <a:ea typeface="Calibri"/>
                <a:cs typeface="Calibri"/>
                <a:sym typeface="Calibri"/>
              </a:rPr>
              <a:t>Euclidean distance</a:t>
            </a:r>
            <a:endParaRPr/>
          </a:p>
          <a:p>
            <a:pPr marL="514350" marR="0" lvl="0" indent="-514350" algn="l" rtl="0">
              <a:lnSpc>
                <a:spcPct val="150000"/>
              </a:lnSpc>
              <a:spcBef>
                <a:spcPts val="0"/>
              </a:spcBef>
              <a:spcAft>
                <a:spcPts val="0"/>
              </a:spcAft>
              <a:buClr>
                <a:schemeClr val="lt1"/>
              </a:buClr>
              <a:buSzPts val="2600"/>
              <a:buFont typeface="Arial"/>
              <a:buChar char="•"/>
            </a:pPr>
            <a:r>
              <a:rPr lang="en-US" sz="2600">
                <a:solidFill>
                  <a:schemeClr val="lt1"/>
                </a:solidFill>
                <a:latin typeface="Calibri"/>
                <a:ea typeface="Calibri"/>
                <a:cs typeface="Calibri"/>
                <a:sym typeface="Calibri"/>
              </a:rPr>
              <a:t>Minkowski distance</a:t>
            </a:r>
            <a:endParaRPr sz="2600">
              <a:solidFill>
                <a:schemeClr val="lt1"/>
              </a:solidFill>
              <a:latin typeface="Calibri"/>
              <a:ea typeface="Calibri"/>
              <a:cs typeface="Calibri"/>
              <a:sym typeface="Calibri"/>
            </a:endParaRPr>
          </a:p>
          <a:p>
            <a:pPr marL="514350" marR="0" lvl="0" indent="-514350" algn="l" rtl="0">
              <a:lnSpc>
                <a:spcPct val="150000"/>
              </a:lnSpc>
              <a:spcBef>
                <a:spcPts val="0"/>
              </a:spcBef>
              <a:spcAft>
                <a:spcPts val="0"/>
              </a:spcAft>
              <a:buClr>
                <a:schemeClr val="lt1"/>
              </a:buClr>
              <a:buSzPts val="2600"/>
              <a:buFont typeface="Arial"/>
              <a:buChar char="•"/>
            </a:pPr>
            <a:r>
              <a:rPr lang="en-US" sz="2600">
                <a:solidFill>
                  <a:schemeClr val="lt1"/>
                </a:solidFill>
                <a:latin typeface="Calibri"/>
                <a:ea typeface="Calibri"/>
                <a:cs typeface="Calibri"/>
                <a:sym typeface="Calibri"/>
              </a:rPr>
              <a:t>Hamming distance </a:t>
            </a:r>
            <a:r>
              <a:rPr lang="en-US" sz="2600">
                <a:solidFill>
                  <a:srgbClr val="FFC000"/>
                </a:solidFill>
                <a:latin typeface="Calibri"/>
                <a:ea typeface="Calibri"/>
                <a:cs typeface="Calibri"/>
                <a:sym typeface="Calibri"/>
              </a:rPr>
              <a:t>(Self Study)</a:t>
            </a:r>
            <a:endParaRPr sz="2600">
              <a:solidFill>
                <a:srgbClr val="FFC000"/>
              </a:solidFill>
              <a:latin typeface="Calibri"/>
              <a:ea typeface="Calibri"/>
              <a:cs typeface="Calibri"/>
              <a:sym typeface="Calibri"/>
            </a:endParaRPr>
          </a:p>
          <a:p>
            <a:pPr marL="514350" marR="0" lvl="0" indent="-514350" algn="l" rtl="0">
              <a:lnSpc>
                <a:spcPct val="150000"/>
              </a:lnSpc>
              <a:spcBef>
                <a:spcPts val="0"/>
              </a:spcBef>
              <a:spcAft>
                <a:spcPts val="0"/>
              </a:spcAft>
              <a:buClr>
                <a:schemeClr val="lt1"/>
              </a:buClr>
              <a:buSzPts val="2600"/>
              <a:buFont typeface="Arial"/>
              <a:buChar char="•"/>
            </a:pPr>
            <a:r>
              <a:rPr lang="en-US" sz="2600">
                <a:solidFill>
                  <a:schemeClr val="lt1"/>
                </a:solidFill>
                <a:latin typeface="Calibri"/>
                <a:ea typeface="Calibri"/>
                <a:cs typeface="Calibri"/>
                <a:sym typeface="Calibri"/>
              </a:rPr>
              <a:t>Cosine distance </a:t>
            </a:r>
            <a:r>
              <a:rPr lang="en-US" sz="2600">
                <a:solidFill>
                  <a:srgbClr val="FFC000"/>
                </a:solidFill>
                <a:latin typeface="Calibri"/>
                <a:ea typeface="Calibri"/>
                <a:cs typeface="Calibri"/>
                <a:sym typeface="Calibri"/>
              </a:rPr>
              <a:t>(Self Study)</a:t>
            </a: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cxnSp>
        <p:nvCxnSpPr>
          <p:cNvPr id="139" name="Google Shape;139;p9"/>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40" name="Google Shape;140;p9"/>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41" name="Google Shape;141;p9"/>
          <p:cNvSpPr/>
          <p:nvPr/>
        </p:nvSpPr>
        <p:spPr>
          <a:xfrm>
            <a:off x="656824" y="1387605"/>
            <a:ext cx="11307650" cy="189282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600">
                <a:solidFill>
                  <a:srgbClr val="FFC000"/>
                </a:solidFill>
                <a:latin typeface="Calibri"/>
                <a:ea typeface="Calibri"/>
                <a:cs typeface="Calibri"/>
                <a:sym typeface="Calibri"/>
              </a:rPr>
              <a:t>Manhattan distance: </a:t>
            </a:r>
            <a:r>
              <a:rPr lang="en-US" sz="2600">
                <a:solidFill>
                  <a:schemeClr val="lt1"/>
                </a:solidFill>
                <a:latin typeface="Calibri"/>
                <a:ea typeface="Calibri"/>
                <a:cs typeface="Calibri"/>
                <a:sym typeface="Calibri"/>
              </a:rPr>
              <a:t>We use Manhattan distance, also known as city block distance, or taxicab geometry if we need to calculate the distance between two data points in a grid-like path.</a:t>
            </a:r>
            <a:endParaRPr/>
          </a:p>
        </p:txBody>
      </p:sp>
      <p:pic>
        <p:nvPicPr>
          <p:cNvPr id="142" name="Google Shape;142;p9" descr="https://miro.medium.com/v2/resize:fit:300/1*52bc_cCCMgVF-SYZuWpTLQ.png"/>
          <p:cNvPicPr preferRelativeResize="0"/>
          <p:nvPr/>
        </p:nvPicPr>
        <p:blipFill rotWithShape="1">
          <a:blip r:embed="rId3">
            <a:alphaModFix/>
          </a:blip>
          <a:srcRect/>
          <a:stretch/>
        </p:blipFill>
        <p:spPr>
          <a:xfrm>
            <a:off x="785611" y="3435617"/>
            <a:ext cx="3141540" cy="2958284"/>
          </a:xfrm>
          <a:prstGeom prst="rect">
            <a:avLst/>
          </a:prstGeom>
          <a:noFill/>
          <a:ln>
            <a:noFill/>
          </a:ln>
        </p:spPr>
      </p:pic>
      <p:pic>
        <p:nvPicPr>
          <p:cNvPr id="143" name="Google Shape;143;p9" descr="https://miro.medium.com/v2/resize:fit:355/1*ph2xC44Zy-EHazYOom6tjg.png"/>
          <p:cNvPicPr preferRelativeResize="0"/>
          <p:nvPr/>
        </p:nvPicPr>
        <p:blipFill rotWithShape="1">
          <a:blip r:embed="rId4">
            <a:alphaModFix/>
          </a:blip>
          <a:srcRect/>
          <a:stretch/>
        </p:blipFill>
        <p:spPr>
          <a:xfrm>
            <a:off x="5951670" y="3573331"/>
            <a:ext cx="2705100" cy="847725"/>
          </a:xfrm>
          <a:prstGeom prst="rect">
            <a:avLst/>
          </a:prstGeom>
          <a:noFill/>
          <a:ln>
            <a:noFill/>
          </a:ln>
        </p:spPr>
      </p:pic>
      <p:sp>
        <p:nvSpPr>
          <p:cNvPr id="144" name="Google Shape;144;p9"/>
          <p:cNvSpPr/>
          <p:nvPr/>
        </p:nvSpPr>
        <p:spPr>
          <a:xfrm>
            <a:off x="4256220" y="5728962"/>
            <a:ext cx="7708253"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lt1"/>
                </a:solidFill>
                <a:latin typeface="Calibri"/>
                <a:ea typeface="Calibri"/>
                <a:cs typeface="Calibri"/>
                <a:sym typeface="Calibri"/>
              </a:rPr>
              <a:t>Manhattan distance is used to calculate the shortest travel time between two points in a grid-like city layout.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cxnSp>
        <p:nvCxnSpPr>
          <p:cNvPr id="149" name="Google Shape;149;p10"/>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50" name="Google Shape;150;p10"/>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51" name="Google Shape;151;p10"/>
          <p:cNvSpPr/>
          <p:nvPr/>
        </p:nvSpPr>
        <p:spPr>
          <a:xfrm>
            <a:off x="656824" y="1387605"/>
            <a:ext cx="11307650" cy="123059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600" b="1">
                <a:solidFill>
                  <a:srgbClr val="FFC000"/>
                </a:solidFill>
                <a:latin typeface="Calibri"/>
                <a:ea typeface="Calibri"/>
                <a:cs typeface="Calibri"/>
                <a:sym typeface="Calibri"/>
              </a:rPr>
              <a:t>Euclidean distance: </a:t>
            </a:r>
            <a:r>
              <a:rPr lang="en-US" sz="2600">
                <a:solidFill>
                  <a:schemeClr val="lt1"/>
                </a:solidFill>
                <a:latin typeface="Calibri"/>
                <a:ea typeface="Calibri"/>
                <a:cs typeface="Calibri"/>
                <a:sym typeface="Calibri"/>
              </a:rPr>
              <a:t>Euclidean distance is the straight line distance between 2 data points in a plane.</a:t>
            </a:r>
            <a:endParaRPr/>
          </a:p>
        </p:txBody>
      </p:sp>
      <p:pic>
        <p:nvPicPr>
          <p:cNvPr id="152" name="Google Shape;152;p10" descr="https://miro.medium.com/v2/resize:fit:875/1*yjxwoNqIwb1fXW26HvK_Kw.png"/>
          <p:cNvPicPr preferRelativeResize="0"/>
          <p:nvPr/>
        </p:nvPicPr>
        <p:blipFill rotWithShape="1">
          <a:blip r:embed="rId3">
            <a:alphaModFix/>
          </a:blip>
          <a:srcRect/>
          <a:stretch/>
        </p:blipFill>
        <p:spPr>
          <a:xfrm>
            <a:off x="908154" y="2773384"/>
            <a:ext cx="5402495" cy="2123953"/>
          </a:xfrm>
          <a:prstGeom prst="rect">
            <a:avLst/>
          </a:prstGeom>
          <a:noFill/>
          <a:ln>
            <a:noFill/>
          </a:ln>
        </p:spPr>
      </p:pic>
      <p:pic>
        <p:nvPicPr>
          <p:cNvPr id="153" name="Google Shape;153;p10" descr="https://miro.medium.com/v2/resize:fit:399/1*EUUQDZQktwUPkdCZaFicSQ.png"/>
          <p:cNvPicPr preferRelativeResize="0"/>
          <p:nvPr/>
        </p:nvPicPr>
        <p:blipFill rotWithShape="1">
          <a:blip r:embed="rId4">
            <a:alphaModFix/>
          </a:blip>
          <a:srcRect/>
          <a:stretch/>
        </p:blipFill>
        <p:spPr>
          <a:xfrm>
            <a:off x="6744034" y="2773384"/>
            <a:ext cx="3038475" cy="1266826"/>
          </a:xfrm>
          <a:prstGeom prst="rect">
            <a:avLst/>
          </a:prstGeom>
          <a:noFill/>
          <a:ln>
            <a:noFill/>
          </a:ln>
        </p:spPr>
      </p:pic>
      <p:sp>
        <p:nvSpPr>
          <p:cNvPr id="154" name="Google Shape;154;p10"/>
          <p:cNvSpPr/>
          <p:nvPr/>
        </p:nvSpPr>
        <p:spPr>
          <a:xfrm>
            <a:off x="452582" y="5052523"/>
            <a:ext cx="11268363" cy="14465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a:solidFill>
                  <a:schemeClr val="lt1"/>
                </a:solidFill>
                <a:latin typeface="Calibri"/>
                <a:ea typeface="Calibri"/>
                <a:cs typeface="Calibri"/>
                <a:sym typeface="Calibri"/>
              </a:rPr>
              <a:t>Clustering Customers in Retail: A retail company wants to segment its customers based on purchasing behavior. They collect data on the number of purchases and the amount spent by each customer. Using Euclidean distance, they can measure the similarity between customers and cluster them into groups (e.g., </a:t>
            </a:r>
            <a:r>
              <a:rPr lang="en-US" sz="2200" b="1" u="sng">
                <a:solidFill>
                  <a:schemeClr val="lt1"/>
                </a:solidFill>
                <a:latin typeface="Calibri"/>
                <a:ea typeface="Calibri"/>
                <a:cs typeface="Calibri"/>
                <a:sym typeface="Calibri"/>
              </a:rPr>
              <a:t>high spenders vs. low spenders</a:t>
            </a:r>
            <a:r>
              <a:rPr lang="en-US" sz="2200">
                <a:solidFill>
                  <a:schemeClr val="lt1"/>
                </a:solidFill>
                <a:latin typeface="Calibri"/>
                <a:ea typeface="Calibri"/>
                <a:cs typeface="Calibri"/>
                <a:sym typeface="Calibri"/>
              </a:rPr>
              <a:t>) for targeted marketing.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cxnSp>
        <p:nvCxnSpPr>
          <p:cNvPr id="159" name="Google Shape;159;p11"/>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60" name="Google Shape;160;p11"/>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61" name="Google Shape;161;p11"/>
          <p:cNvSpPr/>
          <p:nvPr/>
        </p:nvSpPr>
        <p:spPr>
          <a:xfrm>
            <a:off x="656824" y="1387605"/>
            <a:ext cx="11307650" cy="243092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600">
                <a:solidFill>
                  <a:srgbClr val="FFC000"/>
                </a:solidFill>
                <a:latin typeface="Calibri"/>
                <a:ea typeface="Calibri"/>
                <a:cs typeface="Calibri"/>
                <a:sym typeface="Calibri"/>
              </a:rPr>
              <a:t>Minkowski distance: </a:t>
            </a:r>
            <a:r>
              <a:rPr lang="en-US" sz="2600">
                <a:solidFill>
                  <a:schemeClr val="lt1"/>
                </a:solidFill>
                <a:latin typeface="Calibri"/>
                <a:ea typeface="Calibri"/>
                <a:cs typeface="Calibri"/>
                <a:sym typeface="Calibri"/>
              </a:rPr>
              <a:t>This distance metric is a generalization of the Euclidean and Manhattan distance metrics. It determines the similarity of distances between two or more vectors in space. In machine learning, the distance metric calculated from the Minkowski equation is applied to determine the similarity of size.</a:t>
            </a:r>
            <a:endParaRPr sz="2600">
              <a:solidFill>
                <a:schemeClr val="lt1"/>
              </a:solidFill>
              <a:latin typeface="Calibri"/>
              <a:ea typeface="Calibri"/>
              <a:cs typeface="Calibri"/>
              <a:sym typeface="Calibri"/>
            </a:endParaRPr>
          </a:p>
        </p:txBody>
      </p:sp>
      <p:pic>
        <p:nvPicPr>
          <p:cNvPr id="162" name="Google Shape;162;p11" descr="image4_11zon (1).webp"/>
          <p:cNvPicPr preferRelativeResize="0"/>
          <p:nvPr/>
        </p:nvPicPr>
        <p:blipFill rotWithShape="1">
          <a:blip r:embed="rId3">
            <a:alphaModFix/>
          </a:blip>
          <a:srcRect/>
          <a:stretch/>
        </p:blipFill>
        <p:spPr>
          <a:xfrm>
            <a:off x="3549405" y="5236110"/>
            <a:ext cx="4295775" cy="1466851"/>
          </a:xfrm>
          <a:prstGeom prst="rect">
            <a:avLst/>
          </a:prstGeom>
          <a:noFill/>
          <a:ln>
            <a:noFill/>
          </a:ln>
        </p:spPr>
      </p:pic>
      <p:sp>
        <p:nvSpPr>
          <p:cNvPr id="163" name="Google Shape;163;p11"/>
          <p:cNvSpPr/>
          <p:nvPr/>
        </p:nvSpPr>
        <p:spPr>
          <a:xfrm>
            <a:off x="8059615" y="5160975"/>
            <a:ext cx="3983033"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where</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p=1 for Manhattan distance</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p=2 for Euclidean distance</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p=infinity for Chebyshev distance</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cxnSp>
        <p:nvCxnSpPr>
          <p:cNvPr id="168" name="Google Shape;168;p12"/>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69" name="Google Shape;169;p12"/>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70" name="Google Shape;170;p12"/>
          <p:cNvSpPr/>
          <p:nvPr/>
        </p:nvSpPr>
        <p:spPr>
          <a:xfrm>
            <a:off x="656824" y="1387605"/>
            <a:ext cx="11307650" cy="5493812"/>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600">
                <a:solidFill>
                  <a:srgbClr val="FFC000"/>
                </a:solidFill>
                <a:latin typeface="Calibri"/>
                <a:ea typeface="Calibri"/>
                <a:cs typeface="Calibri"/>
                <a:sym typeface="Calibri"/>
              </a:rPr>
              <a:t>Hamming distance: </a:t>
            </a:r>
            <a:r>
              <a:rPr lang="en-US" sz="2600">
                <a:solidFill>
                  <a:schemeClr val="lt1"/>
                </a:solidFill>
                <a:latin typeface="Calibri"/>
                <a:ea typeface="Calibri"/>
                <a:cs typeface="Calibri"/>
                <a:sym typeface="Calibri"/>
              </a:rPr>
              <a:t>The Hamming distance algorithm is primarily used for comparing two strings of equal length and determining how many positions in those strings are different. t's particularly useful in various applications where you need to measure the similarity or dissimilarity between binary strings.</a:t>
            </a:r>
            <a:endParaRPr/>
          </a:p>
          <a:p>
            <a:pPr marL="0" marR="0" lvl="0" indent="0" algn="just" rtl="0">
              <a:lnSpc>
                <a:spcPct val="150000"/>
              </a:lnSpc>
              <a:spcBef>
                <a:spcPts val="0"/>
              </a:spcBef>
              <a:spcAft>
                <a:spcPts val="0"/>
              </a:spcAft>
              <a:buNone/>
            </a:pPr>
            <a:endParaRPr sz="26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2600">
                <a:solidFill>
                  <a:schemeClr val="lt1"/>
                </a:solidFill>
                <a:latin typeface="Calibri"/>
                <a:ea typeface="Calibri"/>
                <a:cs typeface="Calibri"/>
                <a:sym typeface="Calibri"/>
              </a:rPr>
              <a:t>Example: </a:t>
            </a:r>
            <a:r>
              <a:rPr lang="en-US" sz="2600" b="1">
                <a:solidFill>
                  <a:srgbClr val="FFC000"/>
                </a:solidFill>
                <a:latin typeface="Calibri"/>
                <a:ea typeface="Calibri"/>
                <a:cs typeface="Calibri"/>
                <a:sym typeface="Calibri"/>
              </a:rPr>
              <a:t>Error Detection and Correction</a:t>
            </a:r>
            <a:r>
              <a:rPr lang="en-US" sz="2600">
                <a:solidFill>
                  <a:schemeClr val="lt1"/>
                </a:solidFill>
                <a:latin typeface="Calibri"/>
                <a:ea typeface="Calibri"/>
                <a:cs typeface="Calibri"/>
                <a:sym typeface="Calibri"/>
              </a:rPr>
              <a:t>: Hamming distance is used in error-correcting codes, such as the Hamming code, to detect and correct errors in transmitted data. By comparing received binary data to the expected data, it's possible to identify and fix bit errors.</a:t>
            </a: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cxnSp>
        <p:nvCxnSpPr>
          <p:cNvPr id="175" name="Google Shape;175;p13"/>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76" name="Google Shape;176;p13"/>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77" name="Google Shape;177;p13"/>
          <p:cNvSpPr/>
          <p:nvPr/>
        </p:nvSpPr>
        <p:spPr>
          <a:xfrm>
            <a:off x="656824" y="1387605"/>
            <a:ext cx="11307650" cy="303108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600" u="sng">
                <a:solidFill>
                  <a:srgbClr val="FFC000"/>
                </a:solidFill>
                <a:latin typeface="Calibri"/>
                <a:ea typeface="Calibri"/>
                <a:cs typeface="Calibri"/>
                <a:sym typeface="Calibri"/>
              </a:rPr>
              <a:t>Example of Hamming Distance</a:t>
            </a:r>
            <a:endParaRPr sz="2600" u="sng">
              <a:solidFill>
                <a:srgbClr val="FFC000"/>
              </a:solidFill>
              <a:latin typeface="Calibri"/>
              <a:ea typeface="Calibri"/>
              <a:cs typeface="Calibri"/>
              <a:sym typeface="Calibri"/>
            </a:endParaRPr>
          </a:p>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Suppose there are two strings 1101 1001 and 1001 1101.</a:t>
            </a:r>
            <a:endParaRPr/>
          </a:p>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11011001 ⊕ 10011101 = 01000100. Since, this contains two 1s, the Hamming distance, d(11011001, 10011101) = 2.</a:t>
            </a: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cxnSp>
        <p:nvCxnSpPr>
          <p:cNvPr id="182" name="Google Shape;182;p14"/>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83" name="Google Shape;183;p14"/>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84" name="Google Shape;184;p14"/>
          <p:cNvSpPr/>
          <p:nvPr/>
        </p:nvSpPr>
        <p:spPr>
          <a:xfrm>
            <a:off x="656824" y="1387605"/>
            <a:ext cx="11307650" cy="309315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600" b="1" u="sng">
                <a:solidFill>
                  <a:srgbClr val="FFC000"/>
                </a:solidFill>
                <a:latin typeface="Calibri"/>
                <a:ea typeface="Calibri"/>
                <a:cs typeface="Calibri"/>
                <a:sym typeface="Calibri"/>
              </a:rPr>
              <a:t>Cosine Distance: </a:t>
            </a:r>
            <a:r>
              <a:rPr lang="en-US" sz="2600">
                <a:solidFill>
                  <a:schemeClr val="lt1"/>
                </a:solidFill>
                <a:latin typeface="Calibri"/>
                <a:ea typeface="Calibri"/>
                <a:cs typeface="Calibri"/>
                <a:sym typeface="Calibri"/>
              </a:rPr>
              <a:t>Cosine distance &amp; Cosine Similarity metric is mainly used to find similarities between two data points. As the cosine distance between the data points increases, the cosine similarity, or the amount of similarity decreases, and vice versa. Thus, Points closer to each other are more similar than points that are far away from each other.</a:t>
            </a:r>
            <a:endParaRPr sz="2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15"/>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90" name="Google Shape;190;p15"/>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pic>
        <p:nvPicPr>
          <p:cNvPr id="191" name="Google Shape;191;p15" descr="https://miro.medium.com/v2/resize:fit:759/1*rBoComnSSWKgu4gj671wUg.png"/>
          <p:cNvPicPr preferRelativeResize="0"/>
          <p:nvPr/>
        </p:nvPicPr>
        <p:blipFill rotWithShape="1">
          <a:blip r:embed="rId3">
            <a:alphaModFix/>
          </a:blip>
          <a:srcRect/>
          <a:stretch/>
        </p:blipFill>
        <p:spPr>
          <a:xfrm>
            <a:off x="3060832" y="1407854"/>
            <a:ext cx="5781675" cy="3086101"/>
          </a:xfrm>
          <a:prstGeom prst="rect">
            <a:avLst/>
          </a:prstGeom>
          <a:noFill/>
          <a:ln>
            <a:noFill/>
          </a:ln>
        </p:spPr>
      </p:pic>
      <p:sp>
        <p:nvSpPr>
          <p:cNvPr id="192" name="Google Shape;192;p15"/>
          <p:cNvSpPr/>
          <p:nvPr/>
        </p:nvSpPr>
        <p:spPr>
          <a:xfrm>
            <a:off x="785610" y="4807105"/>
            <a:ext cx="1082902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In the above image, there are two data points shown in blue, the angle between these points is 90 degrees, and Cos 90 = 0. Therefore, the shown two points are not similar, and their cosine distance is 1 — Cos 90 = 1.</a:t>
            </a:r>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cxnSp>
        <p:nvCxnSpPr>
          <p:cNvPr id="197" name="Google Shape;197;p16"/>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198" name="Google Shape;198;p16"/>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199" name="Google Shape;199;p16"/>
          <p:cNvSpPr/>
          <p:nvPr/>
        </p:nvSpPr>
        <p:spPr>
          <a:xfrm>
            <a:off x="785610" y="4807105"/>
            <a:ext cx="1082902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Now if the angle between the two points is 0 degrees in the above figure, then the cosine similarity, Cos 0 = 1 and Cosine distance is 1- Cos 0 = 0. Then we can interpret that the two points are 100% similar to each other.</a:t>
            </a:r>
            <a:endParaRPr/>
          </a:p>
        </p:txBody>
      </p:sp>
      <p:pic>
        <p:nvPicPr>
          <p:cNvPr id="200" name="Google Shape;200;p16" descr="https://miro.medium.com/v2/resize:fit:753/1*wTgudU3s2_oCXTTLhmVZkg.png"/>
          <p:cNvPicPr preferRelativeResize="0"/>
          <p:nvPr/>
        </p:nvPicPr>
        <p:blipFill rotWithShape="1">
          <a:blip r:embed="rId3">
            <a:alphaModFix/>
          </a:blip>
          <a:srcRect/>
          <a:stretch/>
        </p:blipFill>
        <p:spPr>
          <a:xfrm>
            <a:off x="2716823" y="1357263"/>
            <a:ext cx="6311656" cy="3187283"/>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cxnSp>
        <p:nvCxnSpPr>
          <p:cNvPr id="205" name="Google Shape;205;p17"/>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06" name="Google Shape;206;p17"/>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207" name="Google Shape;207;p17"/>
          <p:cNvSpPr/>
          <p:nvPr/>
        </p:nvSpPr>
        <p:spPr>
          <a:xfrm>
            <a:off x="785610" y="4807105"/>
            <a:ext cx="1082902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In the above figure, imagine the value of θ to be 60 degrees, then by cosine similarity formula, Cos 60 =0.5 and Cosine distance is 1- 0.5 = 0.5. Therefore the points are 50% similar to each other.</a:t>
            </a:r>
            <a:endParaRPr/>
          </a:p>
        </p:txBody>
      </p:sp>
      <p:pic>
        <p:nvPicPr>
          <p:cNvPr id="208" name="Google Shape;208;p17" descr="https://miro.medium.com/v2/resize:fit:773/1*23O5Hck8v5flOF9LtvGr8A.png"/>
          <p:cNvPicPr preferRelativeResize="0"/>
          <p:nvPr/>
        </p:nvPicPr>
        <p:blipFill rotWithShape="1">
          <a:blip r:embed="rId3">
            <a:alphaModFix/>
          </a:blip>
          <a:srcRect/>
          <a:stretch/>
        </p:blipFill>
        <p:spPr>
          <a:xfrm>
            <a:off x="2722929" y="1374517"/>
            <a:ext cx="5886450" cy="3152775"/>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cxnSp>
        <p:nvCxnSpPr>
          <p:cNvPr id="213" name="Google Shape;213;p18"/>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14" name="Google Shape;214;p18"/>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graphicFrame>
        <p:nvGraphicFramePr>
          <p:cNvPr id="215" name="Google Shape;215;p18"/>
          <p:cNvGraphicFramePr/>
          <p:nvPr/>
        </p:nvGraphicFramePr>
        <p:xfrm>
          <a:off x="656823" y="2493087"/>
          <a:ext cx="10515625" cy="853460"/>
        </p:xfrm>
        <a:graphic>
          <a:graphicData uri="http://schemas.openxmlformats.org/drawingml/2006/table">
            <a:tbl>
              <a:tblPr>
                <a:gradFill>
                  <a:gsLst>
                    <a:gs pos="0">
                      <a:srgbClr val="F08B54"/>
                    </a:gs>
                    <a:gs pos="50000">
                      <a:srgbClr val="F67B27"/>
                    </a:gs>
                    <a:gs pos="100000">
                      <a:srgbClr val="E36A18"/>
                    </a:gs>
                  </a:gsLst>
                  <a:lin ang="5400000" scaled="0"/>
                </a:gradFill>
                <a:tableStyleId>{8FE908FD-881D-413E-8E93-3D9B53D1E616}</a:tableStyleId>
              </a:tblPr>
              <a:tblGrid>
                <a:gridCol w="2103125">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2103125">
                  <a:extLst>
                    <a:ext uri="{9D8B030D-6E8A-4147-A177-3AD203B41FA5}">
                      <a16:colId xmlns:a16="http://schemas.microsoft.com/office/drawing/2014/main" val="20002"/>
                    </a:ext>
                  </a:extLst>
                </a:gridCol>
                <a:gridCol w="2103125">
                  <a:extLst>
                    <a:ext uri="{9D8B030D-6E8A-4147-A177-3AD203B41FA5}">
                      <a16:colId xmlns:a16="http://schemas.microsoft.com/office/drawing/2014/main" val="20003"/>
                    </a:ext>
                  </a:extLst>
                </a:gridCol>
                <a:gridCol w="2103125">
                  <a:extLst>
                    <a:ext uri="{9D8B030D-6E8A-4147-A177-3AD203B41FA5}">
                      <a16:colId xmlns:a16="http://schemas.microsoft.com/office/drawing/2014/main" val="20004"/>
                    </a:ext>
                  </a:extLst>
                </a:gridCol>
              </a:tblGrid>
              <a:tr h="279400">
                <a:tc>
                  <a:txBody>
                    <a:bodyPr/>
                    <a:lstStyle/>
                    <a:p>
                      <a:pPr marL="0" marR="0" lvl="0" indent="0" algn="l" rtl="0">
                        <a:spcBef>
                          <a:spcPts val="0"/>
                        </a:spcBef>
                        <a:spcAft>
                          <a:spcPts val="0"/>
                        </a:spcAft>
                        <a:buNone/>
                      </a:pPr>
                      <a:r>
                        <a:rPr lang="en-US" sz="2200" u="none" strike="noStrike" cap="none"/>
                        <a:t>Movie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Matrix</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Titanic</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Inception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Toy Story</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9400">
                <a:tc>
                  <a:txBody>
                    <a:bodyPr/>
                    <a:lstStyle/>
                    <a:p>
                      <a:pPr marL="0" marR="0" lvl="0" indent="0" algn="l" rtl="0">
                        <a:spcBef>
                          <a:spcPts val="0"/>
                        </a:spcBef>
                        <a:spcAft>
                          <a:spcPts val="0"/>
                        </a:spcAft>
                        <a:buNone/>
                      </a:pPr>
                      <a:r>
                        <a:rPr lang="en-US" sz="2200"/>
                        <a:t>User A</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5</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4</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0</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3</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16" name="Google Shape;216;p18"/>
          <p:cNvGraphicFramePr/>
          <p:nvPr/>
        </p:nvGraphicFramePr>
        <p:xfrm>
          <a:off x="656823" y="3712727"/>
          <a:ext cx="10515625" cy="853460"/>
        </p:xfrm>
        <a:graphic>
          <a:graphicData uri="http://schemas.openxmlformats.org/drawingml/2006/table">
            <a:tbl>
              <a:tblPr>
                <a:noFill/>
                <a:tableStyleId>{8FE908FD-881D-413E-8E93-3D9B53D1E616}</a:tableStyleId>
              </a:tblPr>
              <a:tblGrid>
                <a:gridCol w="2103125">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2103125">
                  <a:extLst>
                    <a:ext uri="{9D8B030D-6E8A-4147-A177-3AD203B41FA5}">
                      <a16:colId xmlns:a16="http://schemas.microsoft.com/office/drawing/2014/main" val="20002"/>
                    </a:ext>
                  </a:extLst>
                </a:gridCol>
                <a:gridCol w="2103125">
                  <a:extLst>
                    <a:ext uri="{9D8B030D-6E8A-4147-A177-3AD203B41FA5}">
                      <a16:colId xmlns:a16="http://schemas.microsoft.com/office/drawing/2014/main" val="20003"/>
                    </a:ext>
                  </a:extLst>
                </a:gridCol>
                <a:gridCol w="2103125">
                  <a:extLst>
                    <a:ext uri="{9D8B030D-6E8A-4147-A177-3AD203B41FA5}">
                      <a16:colId xmlns:a16="http://schemas.microsoft.com/office/drawing/2014/main" val="20004"/>
                    </a:ext>
                  </a:extLst>
                </a:gridCol>
              </a:tblGrid>
              <a:tr h="279400">
                <a:tc>
                  <a:txBody>
                    <a:bodyPr/>
                    <a:lstStyle/>
                    <a:p>
                      <a:pPr marL="0" marR="0" lvl="0" indent="0" algn="l" rtl="0">
                        <a:spcBef>
                          <a:spcPts val="0"/>
                        </a:spcBef>
                        <a:spcAft>
                          <a:spcPts val="0"/>
                        </a:spcAft>
                        <a:buNone/>
                      </a:pPr>
                      <a:r>
                        <a:rPr lang="en-US" sz="2200"/>
                        <a:t>Movies</a:t>
                      </a:r>
                      <a:endParaRPr sz="22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Matrix</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Titanic</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Inception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Toy Story</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9400">
                <a:tc>
                  <a:txBody>
                    <a:bodyPr/>
                    <a:lstStyle/>
                    <a:p>
                      <a:pPr marL="0" marR="0" lvl="0" indent="0" algn="l" rtl="0">
                        <a:spcBef>
                          <a:spcPts val="0"/>
                        </a:spcBef>
                        <a:spcAft>
                          <a:spcPts val="0"/>
                        </a:spcAft>
                        <a:buNone/>
                      </a:pPr>
                      <a:r>
                        <a:rPr lang="en-US" sz="2200"/>
                        <a:t>User B</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4</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5</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2</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2200"/>
                        <a:t>3</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17" name="Google Shape;217;p18"/>
          <p:cNvSpPr/>
          <p:nvPr/>
        </p:nvSpPr>
        <p:spPr>
          <a:xfrm>
            <a:off x="656823" y="1248807"/>
            <a:ext cx="11171549" cy="76944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How it works: </a:t>
            </a:r>
            <a:r>
              <a:rPr lang="en-US" sz="2200" b="0" i="0" u="none" strike="noStrike" cap="none">
                <a:solidFill>
                  <a:schemeClr val="lt1"/>
                </a:solidFill>
                <a:latin typeface="Calibri"/>
                <a:ea typeface="Calibri"/>
                <a:cs typeface="Calibri"/>
                <a:sym typeface="Calibri"/>
              </a:rPr>
              <a:t>Each user is represented as a vector of movie ratings. For example, if User A has rated movies like this:</a:t>
            </a:r>
            <a:endParaRPr/>
          </a:p>
        </p:txBody>
      </p:sp>
      <p:sp>
        <p:nvSpPr>
          <p:cNvPr id="218" name="Google Shape;218;p18"/>
          <p:cNvSpPr/>
          <p:nvPr/>
        </p:nvSpPr>
        <p:spPr>
          <a:xfrm>
            <a:off x="656823" y="4932367"/>
            <a:ext cx="10589694"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lt1"/>
                </a:solidFill>
                <a:latin typeface="Calibri"/>
                <a:ea typeface="Calibri"/>
                <a:cs typeface="Calibri"/>
                <a:sym typeface="Calibri"/>
              </a:rPr>
              <a:t>Using </a:t>
            </a:r>
            <a:r>
              <a:rPr lang="en-US" sz="2200" b="1">
                <a:solidFill>
                  <a:schemeClr val="lt1"/>
                </a:solidFill>
                <a:latin typeface="Calibri"/>
                <a:ea typeface="Calibri"/>
                <a:cs typeface="Calibri"/>
                <a:sym typeface="Calibri"/>
              </a:rPr>
              <a:t>cosine similarity</a:t>
            </a:r>
            <a:r>
              <a:rPr lang="en-US" sz="2200">
                <a:solidFill>
                  <a:schemeClr val="lt1"/>
                </a:solidFill>
                <a:latin typeface="Calibri"/>
                <a:ea typeface="Calibri"/>
                <a:cs typeface="Calibri"/>
                <a:sym typeface="Calibri"/>
              </a:rPr>
              <a:t>, the system calculates how "close" User A and User B's preferences are, based on their ratings for common movies. If User A has not watched "Inception," but User B rated it 2, the system might still suggest "Inception" to User A based on the overall similarity.</a:t>
            </a:r>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cxnSp>
        <p:nvCxnSpPr>
          <p:cNvPr id="223" name="Google Shape;223;p19"/>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24" name="Google Shape;224;p19"/>
          <p:cNvSpPr txBox="1"/>
          <p:nvPr/>
        </p:nvSpPr>
        <p:spPr>
          <a:xfrm>
            <a:off x="656823" y="309089"/>
            <a:ext cx="105896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Types of Distance Metrics used in ML</a:t>
            </a:r>
            <a:endParaRPr sz="5400">
              <a:solidFill>
                <a:schemeClr val="lt1"/>
              </a:solidFill>
              <a:latin typeface="Calibri"/>
              <a:ea typeface="Calibri"/>
              <a:cs typeface="Calibri"/>
              <a:sym typeface="Calibri"/>
            </a:endParaRPr>
          </a:p>
        </p:txBody>
      </p:sp>
      <p:sp>
        <p:nvSpPr>
          <p:cNvPr id="225" name="Google Shape;225;p19"/>
          <p:cNvSpPr/>
          <p:nvPr/>
        </p:nvSpPr>
        <p:spPr>
          <a:xfrm>
            <a:off x="656823" y="1316559"/>
            <a:ext cx="10829027"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rgbClr val="FFC000"/>
                </a:solidFill>
                <a:latin typeface="Calibri"/>
                <a:ea typeface="Calibri"/>
                <a:cs typeface="Calibri"/>
                <a:sym typeface="Calibri"/>
              </a:rPr>
              <a:t>Where is it used?</a:t>
            </a:r>
            <a:endParaRPr/>
          </a:p>
          <a:p>
            <a:pPr marL="0" marR="0" lvl="0" indent="0" algn="just" rtl="0">
              <a:spcBef>
                <a:spcPts val="0"/>
              </a:spcBef>
              <a:spcAft>
                <a:spcPts val="0"/>
              </a:spcAft>
              <a:buNone/>
            </a:pPr>
            <a:r>
              <a:rPr lang="en-US" sz="2400">
                <a:solidFill>
                  <a:schemeClr val="lt1"/>
                </a:solidFill>
                <a:latin typeface="Calibri"/>
                <a:ea typeface="Calibri"/>
                <a:cs typeface="Calibri"/>
                <a:sym typeface="Calibri"/>
              </a:rPr>
              <a:t>Taking the example of a movie recommendation system, Suppose one user (User #1) has watched movies like </a:t>
            </a:r>
            <a:r>
              <a:rPr lang="en-US" sz="2400" u="sng">
                <a:solidFill>
                  <a:schemeClr val="lt1"/>
                </a:solidFill>
                <a:latin typeface="Calibri"/>
                <a:ea typeface="Calibri"/>
                <a:cs typeface="Calibri"/>
                <a:sym typeface="Calibri"/>
              </a:rPr>
              <a:t>12</a:t>
            </a:r>
            <a:r>
              <a:rPr lang="en-US" sz="2400" u="sng" baseline="30000">
                <a:solidFill>
                  <a:schemeClr val="lt1"/>
                </a:solidFill>
                <a:latin typeface="Calibri"/>
                <a:ea typeface="Calibri"/>
                <a:cs typeface="Calibri"/>
                <a:sym typeface="Calibri"/>
              </a:rPr>
              <a:t>th</a:t>
            </a:r>
            <a:r>
              <a:rPr lang="en-US" sz="2400" u="sng">
                <a:solidFill>
                  <a:schemeClr val="lt1"/>
                </a:solidFill>
                <a:latin typeface="Calibri"/>
                <a:ea typeface="Calibri"/>
                <a:cs typeface="Calibri"/>
                <a:sym typeface="Calibri"/>
              </a:rPr>
              <a:t> Fail</a:t>
            </a:r>
            <a:r>
              <a:rPr lang="en-US" sz="2400">
                <a:solidFill>
                  <a:schemeClr val="lt1"/>
                </a:solidFill>
                <a:latin typeface="Calibri"/>
                <a:ea typeface="Calibri"/>
                <a:cs typeface="Calibri"/>
                <a:sym typeface="Calibri"/>
              </a:rPr>
              <a:t>, and </a:t>
            </a:r>
            <a:r>
              <a:rPr lang="en-US" sz="2400" u="sng">
                <a:solidFill>
                  <a:schemeClr val="lt1"/>
                </a:solidFill>
                <a:latin typeface="Calibri"/>
                <a:ea typeface="Calibri"/>
                <a:cs typeface="Calibri"/>
                <a:sym typeface="Calibri"/>
              </a:rPr>
              <a:t>Super 30</a:t>
            </a:r>
            <a:r>
              <a:rPr lang="en-US" sz="2400">
                <a:solidFill>
                  <a:schemeClr val="lt1"/>
                </a:solidFill>
                <a:latin typeface="Calibri"/>
                <a:ea typeface="Calibri"/>
                <a:cs typeface="Calibri"/>
                <a:sym typeface="Calibri"/>
              </a:rPr>
              <a:t>, which are of biographical drama, and another user (User #2) has watched movies like </a:t>
            </a:r>
            <a:r>
              <a:rPr lang="en-US" sz="2400" u="sng">
                <a:solidFill>
                  <a:schemeClr val="lt1"/>
                </a:solidFill>
                <a:latin typeface="Calibri"/>
                <a:ea typeface="Calibri"/>
                <a:cs typeface="Calibri"/>
                <a:sym typeface="Calibri"/>
              </a:rPr>
              <a:t>Catch me If you can</a:t>
            </a:r>
            <a:r>
              <a:rPr lang="en-US" sz="2400">
                <a:solidFill>
                  <a:schemeClr val="lt1"/>
                </a:solidFill>
                <a:latin typeface="Calibri"/>
                <a:ea typeface="Calibri"/>
                <a:cs typeface="Calibri"/>
                <a:sym typeface="Calibri"/>
              </a:rPr>
              <a:t>, and </a:t>
            </a:r>
            <a:r>
              <a:rPr lang="en-US" sz="2400" u="sng">
                <a:solidFill>
                  <a:schemeClr val="lt1"/>
                </a:solidFill>
                <a:latin typeface="Calibri"/>
                <a:ea typeface="Calibri"/>
                <a:cs typeface="Calibri"/>
                <a:sym typeface="Calibri"/>
              </a:rPr>
              <a:t>Cast Away</a:t>
            </a:r>
            <a:r>
              <a:rPr lang="en-US" sz="2400">
                <a:solidFill>
                  <a:schemeClr val="lt1"/>
                </a:solidFill>
                <a:latin typeface="Calibri"/>
                <a:ea typeface="Calibri"/>
                <a:cs typeface="Calibri"/>
                <a:sym typeface="Calibri"/>
              </a:rPr>
              <a:t>, which are also biographical drama genre. So the recommendation system will use this data to recommend User #1 to see </a:t>
            </a:r>
            <a:r>
              <a:rPr lang="en-US" sz="2400" u="sng">
                <a:solidFill>
                  <a:schemeClr val="lt1"/>
                </a:solidFill>
                <a:latin typeface="Calibri"/>
                <a:ea typeface="Calibri"/>
                <a:cs typeface="Calibri"/>
                <a:sym typeface="Calibri"/>
              </a:rPr>
              <a:t>Catch me If you can</a:t>
            </a:r>
            <a:r>
              <a:rPr lang="en-US" sz="2400">
                <a:solidFill>
                  <a:schemeClr val="lt1"/>
                </a:solidFill>
                <a:latin typeface="Calibri"/>
                <a:ea typeface="Calibri"/>
                <a:cs typeface="Calibri"/>
                <a:sym typeface="Calibri"/>
              </a:rPr>
              <a:t>, and </a:t>
            </a:r>
            <a:r>
              <a:rPr lang="en-US" sz="2400" u="sng">
                <a:solidFill>
                  <a:schemeClr val="lt1"/>
                </a:solidFill>
                <a:latin typeface="Calibri"/>
                <a:ea typeface="Calibri"/>
                <a:cs typeface="Calibri"/>
                <a:sym typeface="Calibri"/>
              </a:rPr>
              <a:t>Cast Away </a:t>
            </a:r>
            <a:r>
              <a:rPr lang="en-US" sz="2400">
                <a:solidFill>
                  <a:schemeClr val="lt1"/>
                </a:solidFill>
                <a:latin typeface="Calibri"/>
                <a:ea typeface="Calibri"/>
                <a:cs typeface="Calibri"/>
                <a:sym typeface="Calibri"/>
              </a:rPr>
              <a:t>as User #1 and User #2 both prefer the biographical drama genre.</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chemeClr val="lt1"/>
                </a:solidFill>
                <a:latin typeface="Calibri"/>
                <a:ea typeface="Calibri"/>
                <a:cs typeface="Calibri"/>
                <a:sym typeface="Calibri"/>
              </a:rPr>
              <a:t>Similarly, Suppose User #1 loves to watch movies based on horror, and User #2 loves the action-thriller genre. In this case, User #2 won’t be suggested to watch a horror movie as there is no similarity between the action-thriller and the horror genre.</a:t>
            </a: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cxnSp>
        <p:nvCxnSpPr>
          <p:cNvPr id="230" name="Google Shape;230;p20"/>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31" name="Google Shape;231;p20"/>
          <p:cNvSpPr txBox="1"/>
          <p:nvPr/>
        </p:nvSpPr>
        <p:spPr>
          <a:xfrm>
            <a:off x="656823" y="309089"/>
            <a:ext cx="991585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Unsupervised Learning Techniques</a:t>
            </a:r>
            <a:endParaRPr sz="5400">
              <a:solidFill>
                <a:schemeClr val="lt1"/>
              </a:solidFill>
              <a:latin typeface="Calibri"/>
              <a:ea typeface="Calibri"/>
              <a:cs typeface="Calibri"/>
              <a:sym typeface="Calibri"/>
            </a:endParaRPr>
          </a:p>
        </p:txBody>
      </p:sp>
      <p:sp>
        <p:nvSpPr>
          <p:cNvPr id="232" name="Google Shape;232;p20"/>
          <p:cNvSpPr/>
          <p:nvPr/>
        </p:nvSpPr>
        <p:spPr>
          <a:xfrm>
            <a:off x="860927" y="1510988"/>
            <a:ext cx="9539599" cy="309315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K-means algorithm</a:t>
            </a:r>
            <a:endParaRPr/>
          </a:p>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Hierarchical clustering</a:t>
            </a:r>
            <a:endParaRPr/>
          </a:p>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Principal Component Analysis</a:t>
            </a:r>
            <a:endParaRPr/>
          </a:p>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DBSCAN (Density-Based Spatial Clustering of Applications with Noise)</a:t>
            </a:r>
            <a:endParaRPr/>
          </a:p>
          <a:p>
            <a:pPr marL="0" marR="0" lvl="0" indent="0" algn="l" rtl="0">
              <a:lnSpc>
                <a:spcPct val="150000"/>
              </a:lnSpc>
              <a:spcBef>
                <a:spcPts val="0"/>
              </a:spcBef>
              <a:spcAft>
                <a:spcPts val="0"/>
              </a:spcAft>
              <a:buNone/>
            </a:pPr>
            <a:r>
              <a:rPr lang="en-US" sz="2600">
                <a:solidFill>
                  <a:schemeClr val="lt1"/>
                </a:solidFill>
                <a:latin typeface="Calibri"/>
                <a:ea typeface="Calibri"/>
                <a:cs typeface="Calibri"/>
                <a:sym typeface="Calibri"/>
              </a:rPr>
              <a:t>K-Nearest Neighbors (K-NN)</a:t>
            </a: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cxnSp>
        <p:nvCxnSpPr>
          <p:cNvPr id="237" name="Google Shape;237;p21"/>
          <p:cNvCxnSpPr/>
          <p:nvPr/>
        </p:nvCxnSpPr>
        <p:spPr>
          <a:xfrm>
            <a:off x="785611" y="109470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38" name="Google Shape;238;p21"/>
          <p:cNvSpPr txBox="1"/>
          <p:nvPr/>
        </p:nvSpPr>
        <p:spPr>
          <a:xfrm>
            <a:off x="656823" y="309089"/>
            <a:ext cx="55034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Calibri"/>
                <a:ea typeface="Calibri"/>
                <a:cs typeface="Calibri"/>
                <a:sym typeface="Calibri"/>
              </a:rPr>
              <a:t>K-means algorithm</a:t>
            </a:r>
            <a:endParaRPr sz="5400">
              <a:solidFill>
                <a:schemeClr val="lt1"/>
              </a:solidFill>
              <a:latin typeface="Calibri"/>
              <a:ea typeface="Calibri"/>
              <a:cs typeface="Calibri"/>
              <a:sym typeface="Calibri"/>
            </a:endParaRPr>
          </a:p>
        </p:txBody>
      </p:sp>
      <p:sp>
        <p:nvSpPr>
          <p:cNvPr id="239" name="Google Shape;239;p2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240" name="Google Shape;240;p21"/>
          <p:cNvSpPr/>
          <p:nvPr/>
        </p:nvSpPr>
        <p:spPr>
          <a:xfrm>
            <a:off x="656823" y="1233989"/>
            <a:ext cx="11599654" cy="335906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K-means clustering is an unsupervised machine learning algorithm used to group a dataset into k clusters.</a:t>
            </a:r>
            <a:endParaRPr/>
          </a:p>
          <a:p>
            <a:pPr marL="342900" marR="0" lvl="0" indent="-342900" algn="just" rtl="0">
              <a:lnSpc>
                <a:spcPct val="150000"/>
              </a:lnSpc>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The goal of the algorithm is to group similar data points together while maximizing the dissimilarity between different clusters. </a:t>
            </a:r>
            <a:endParaRPr sz="2400">
              <a:solidFill>
                <a:schemeClr val="lt1"/>
              </a:solidFill>
              <a:latin typeface="Calibri"/>
              <a:ea typeface="Calibri"/>
              <a:cs typeface="Calibri"/>
              <a:sym typeface="Calibri"/>
            </a:endParaRPr>
          </a:p>
          <a:p>
            <a:pPr marL="342900" marR="0" lvl="0" indent="-342900" algn="just" rtl="0">
              <a:lnSpc>
                <a:spcPct val="150000"/>
              </a:lnSpc>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It's widely used for various applications, including customer segmentation, image compression, and data preprocessing.</a:t>
            </a: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cxnSp>
        <p:nvCxnSpPr>
          <p:cNvPr id="245" name="Google Shape;245;p22"/>
          <p:cNvCxnSpPr/>
          <p:nvPr/>
        </p:nvCxnSpPr>
        <p:spPr>
          <a:xfrm>
            <a:off x="785611" y="883691"/>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46" name="Google Shape;246;p22"/>
          <p:cNvSpPr txBox="1"/>
          <p:nvPr/>
        </p:nvSpPr>
        <p:spPr>
          <a:xfrm>
            <a:off x="656823" y="168412"/>
            <a:ext cx="717183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a:t>
            </a:r>
            <a:endParaRPr sz="4400">
              <a:solidFill>
                <a:schemeClr val="lt1"/>
              </a:solidFill>
              <a:latin typeface="Calibri"/>
              <a:ea typeface="Calibri"/>
              <a:cs typeface="Calibri"/>
              <a:sym typeface="Calibri"/>
            </a:endParaRPr>
          </a:p>
        </p:txBody>
      </p:sp>
      <p:sp>
        <p:nvSpPr>
          <p:cNvPr id="247" name="Google Shape;247;p2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248" name="Google Shape;248;p22"/>
          <p:cNvSpPr/>
          <p:nvPr/>
        </p:nvSpPr>
        <p:spPr>
          <a:xfrm>
            <a:off x="175846" y="987806"/>
            <a:ext cx="12080631" cy="5346592"/>
          </a:xfrm>
          <a:prstGeom prst="rect">
            <a:avLst/>
          </a:prstGeom>
          <a:noFill/>
          <a:ln>
            <a:noFill/>
          </a:ln>
        </p:spPr>
        <p:txBody>
          <a:bodyPr spcFirstLastPara="1" wrap="square" lIns="91425" tIns="45700" rIns="91425" bIns="45700" anchor="t" anchorCtr="0">
            <a:spAutoFit/>
          </a:bodyPr>
          <a:lstStyle/>
          <a:p>
            <a:pPr marL="457200" marR="0" lvl="0" indent="-457200" algn="just" rtl="0">
              <a:lnSpc>
                <a:spcPct val="150000"/>
              </a:lnSpc>
              <a:spcBef>
                <a:spcPts val="0"/>
              </a:spcBef>
              <a:spcAft>
                <a:spcPts val="0"/>
              </a:spcAft>
              <a:buClr>
                <a:srgbClr val="FFC000"/>
              </a:buClr>
              <a:buSzPts val="2300"/>
              <a:buFont typeface="Calibri"/>
              <a:buAutoNum type="arabicPeriod"/>
            </a:pPr>
            <a:r>
              <a:rPr lang="en-US" sz="2300">
                <a:solidFill>
                  <a:srgbClr val="FFC000"/>
                </a:solidFill>
                <a:latin typeface="Calibri"/>
                <a:ea typeface="Calibri"/>
                <a:cs typeface="Calibri"/>
                <a:sym typeface="Calibri"/>
              </a:rPr>
              <a:t>Initialization:</a:t>
            </a:r>
            <a:r>
              <a:rPr lang="en-US" sz="2300">
                <a:solidFill>
                  <a:schemeClr val="lt1"/>
                </a:solidFill>
                <a:latin typeface="Calibri"/>
                <a:ea typeface="Calibri"/>
                <a:cs typeface="Calibri"/>
                <a:sym typeface="Calibri"/>
              </a:rPr>
              <a:t> Choose the number of clusters (k) you want to create and randomly initialize k cluster centroids. Each centroid represents the center of a cluster.</a:t>
            </a:r>
            <a:endParaRPr/>
          </a:p>
          <a:p>
            <a:pPr marL="457200" marR="0" lvl="0" indent="-457200" algn="just" rtl="0">
              <a:lnSpc>
                <a:spcPct val="150000"/>
              </a:lnSpc>
              <a:spcBef>
                <a:spcPts val="0"/>
              </a:spcBef>
              <a:spcAft>
                <a:spcPts val="0"/>
              </a:spcAft>
              <a:buClr>
                <a:srgbClr val="FFC000"/>
              </a:buClr>
              <a:buSzPts val="2300"/>
              <a:buFont typeface="Calibri"/>
              <a:buAutoNum type="arabicPeriod"/>
            </a:pPr>
            <a:r>
              <a:rPr lang="en-US" sz="2300">
                <a:solidFill>
                  <a:srgbClr val="FFC000"/>
                </a:solidFill>
                <a:latin typeface="Calibri"/>
                <a:ea typeface="Calibri"/>
                <a:cs typeface="Calibri"/>
                <a:sym typeface="Calibri"/>
              </a:rPr>
              <a:t>Assignment Step:</a:t>
            </a:r>
            <a:r>
              <a:rPr lang="en-US" sz="2300">
                <a:solidFill>
                  <a:schemeClr val="lt1"/>
                </a:solidFill>
                <a:latin typeface="Calibri"/>
                <a:ea typeface="Calibri"/>
                <a:cs typeface="Calibri"/>
                <a:sym typeface="Calibri"/>
              </a:rPr>
              <a:t> For each data point, calculate its distance from each of the k centroids. Assign the data point to the cluster whose centroid is closest to it. This forms k initial clusters.</a:t>
            </a:r>
            <a:endParaRPr/>
          </a:p>
          <a:p>
            <a:pPr marL="457200" marR="0" lvl="0" indent="-457200" algn="just" rtl="0">
              <a:lnSpc>
                <a:spcPct val="150000"/>
              </a:lnSpc>
              <a:spcBef>
                <a:spcPts val="0"/>
              </a:spcBef>
              <a:spcAft>
                <a:spcPts val="0"/>
              </a:spcAft>
              <a:buClr>
                <a:srgbClr val="FFC000"/>
              </a:buClr>
              <a:buSzPts val="2300"/>
              <a:buFont typeface="Calibri"/>
              <a:buAutoNum type="arabicPeriod"/>
            </a:pPr>
            <a:r>
              <a:rPr lang="en-US" sz="2300">
                <a:solidFill>
                  <a:srgbClr val="FFC000"/>
                </a:solidFill>
                <a:latin typeface="Calibri"/>
                <a:ea typeface="Calibri"/>
                <a:cs typeface="Calibri"/>
                <a:sym typeface="Calibri"/>
              </a:rPr>
              <a:t>Update Step:</a:t>
            </a:r>
            <a:r>
              <a:rPr lang="en-US" sz="2300">
                <a:solidFill>
                  <a:schemeClr val="lt1"/>
                </a:solidFill>
                <a:latin typeface="Calibri"/>
                <a:ea typeface="Calibri"/>
                <a:cs typeface="Calibri"/>
                <a:sym typeface="Calibri"/>
              </a:rPr>
              <a:t> Recalculate the centroids of the k clusters by taking the mean of all the data points assigned to each cluster.</a:t>
            </a:r>
            <a:endParaRPr/>
          </a:p>
          <a:p>
            <a:pPr marL="457200" marR="0" lvl="0" indent="-457200" algn="just" rtl="0">
              <a:lnSpc>
                <a:spcPct val="150000"/>
              </a:lnSpc>
              <a:spcBef>
                <a:spcPts val="0"/>
              </a:spcBef>
              <a:spcAft>
                <a:spcPts val="0"/>
              </a:spcAft>
              <a:buClr>
                <a:srgbClr val="FFC000"/>
              </a:buClr>
              <a:buSzPts val="2300"/>
              <a:buFont typeface="Calibri"/>
              <a:buAutoNum type="arabicPeriod"/>
            </a:pPr>
            <a:r>
              <a:rPr lang="en-US" sz="2300">
                <a:solidFill>
                  <a:srgbClr val="FFC000"/>
                </a:solidFill>
                <a:latin typeface="Calibri"/>
                <a:ea typeface="Calibri"/>
                <a:cs typeface="Calibri"/>
                <a:sym typeface="Calibri"/>
              </a:rPr>
              <a:t>Repeat: </a:t>
            </a:r>
            <a:r>
              <a:rPr lang="en-US" sz="2300">
                <a:solidFill>
                  <a:schemeClr val="lt1"/>
                </a:solidFill>
                <a:latin typeface="Calibri"/>
                <a:ea typeface="Calibri"/>
                <a:cs typeface="Calibri"/>
                <a:sym typeface="Calibri"/>
              </a:rPr>
              <a:t>Repeat the assignment and update steps iteratively until either a maximum number of iterations is reached or the centroids stop changing significantly.</a:t>
            </a:r>
            <a:endParaRPr/>
          </a:p>
          <a:p>
            <a:pPr marL="457200" marR="0" lvl="0" indent="-457200" algn="just" rtl="0">
              <a:lnSpc>
                <a:spcPct val="150000"/>
              </a:lnSpc>
              <a:spcBef>
                <a:spcPts val="0"/>
              </a:spcBef>
              <a:spcAft>
                <a:spcPts val="0"/>
              </a:spcAft>
              <a:buClr>
                <a:srgbClr val="FFC000"/>
              </a:buClr>
              <a:buSzPts val="2300"/>
              <a:buFont typeface="Calibri"/>
              <a:buAutoNum type="arabicPeriod"/>
            </a:pPr>
            <a:r>
              <a:rPr lang="en-US" sz="2300">
                <a:solidFill>
                  <a:srgbClr val="FFC000"/>
                </a:solidFill>
                <a:latin typeface="Calibri"/>
                <a:ea typeface="Calibri"/>
                <a:cs typeface="Calibri"/>
                <a:sym typeface="Calibri"/>
              </a:rPr>
              <a:t>Convergence: </a:t>
            </a:r>
            <a:r>
              <a:rPr lang="en-US" sz="2300">
                <a:solidFill>
                  <a:schemeClr val="lt1"/>
                </a:solidFill>
                <a:latin typeface="Calibri"/>
                <a:ea typeface="Calibri"/>
                <a:cs typeface="Calibri"/>
                <a:sym typeface="Calibri"/>
              </a:rPr>
              <a:t>The algorithm is considered to have converged when the centroids of the clusters no longer change substantially between iterations.</a:t>
            </a:r>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cxnSp>
        <p:nvCxnSpPr>
          <p:cNvPr id="253" name="Google Shape;253;p23"/>
          <p:cNvCxnSpPr/>
          <p:nvPr/>
        </p:nvCxnSpPr>
        <p:spPr>
          <a:xfrm>
            <a:off x="785611" y="883691"/>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54" name="Google Shape;254;p23"/>
          <p:cNvSpPr txBox="1"/>
          <p:nvPr/>
        </p:nvSpPr>
        <p:spPr>
          <a:xfrm>
            <a:off x="656823" y="168412"/>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255" name="Google Shape;255;p2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256" name="Google Shape;256;p23"/>
          <p:cNvGraphicFramePr/>
          <p:nvPr/>
        </p:nvGraphicFramePr>
        <p:xfrm>
          <a:off x="113581" y="937853"/>
          <a:ext cx="3623150" cy="5964800"/>
        </p:xfrm>
        <a:graphic>
          <a:graphicData uri="http://schemas.openxmlformats.org/drawingml/2006/table">
            <a:tbl>
              <a:tblPr>
                <a:noFill/>
                <a:tableStyleId>{08B953BB-13DD-4FB7-82F3-D155A25E974E}</a:tableStyleId>
              </a:tblPr>
              <a:tblGrid>
                <a:gridCol w="16800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tblGrid>
              <a:tr h="271950">
                <a:tc>
                  <a:txBody>
                    <a:bodyPr/>
                    <a:lstStyle/>
                    <a:p>
                      <a:pPr marL="0" marR="0" lvl="0" indent="0" algn="l" rtl="0">
                        <a:spcBef>
                          <a:spcPts val="0"/>
                        </a:spcBef>
                        <a:spcAft>
                          <a:spcPts val="0"/>
                        </a:spcAft>
                        <a:buNone/>
                      </a:pPr>
                      <a:r>
                        <a:rPr lang="en-US" sz="2000" b="1">
                          <a:solidFill>
                            <a:srgbClr val="FFC000"/>
                          </a:solidFill>
                        </a:rPr>
                        <a:t>Point</a:t>
                      </a:r>
                      <a:endParaRPr/>
                    </a:p>
                  </a:txBody>
                  <a:tcPr marL="68000" marR="68000" marT="34000" marB="34000" anchor="ctr"/>
                </a:tc>
                <a:tc>
                  <a:txBody>
                    <a:bodyPr/>
                    <a:lstStyle/>
                    <a:p>
                      <a:pPr marL="0" marR="0" lvl="0" indent="0" algn="l" rtl="0">
                        <a:spcBef>
                          <a:spcPts val="0"/>
                        </a:spcBef>
                        <a:spcAft>
                          <a:spcPts val="0"/>
                        </a:spcAft>
                        <a:buNone/>
                      </a:pPr>
                      <a:r>
                        <a:rPr lang="en-US" sz="2000" b="1">
                          <a:solidFill>
                            <a:srgbClr val="FFC000"/>
                          </a:solidFill>
                        </a:rPr>
                        <a:t>Coordinates</a:t>
                      </a:r>
                      <a:endParaRPr/>
                    </a:p>
                  </a:txBody>
                  <a:tcPr marL="68000" marR="68000" marT="34000" marB="34000" anchor="ctr"/>
                </a:tc>
                <a:extLst>
                  <a:ext uri="{0D108BD9-81ED-4DB2-BD59-A6C34878D82A}">
                    <a16:rowId xmlns:a16="http://schemas.microsoft.com/office/drawing/2014/main" val="10000"/>
                  </a:ext>
                </a:extLst>
              </a:tr>
              <a:tr h="271950">
                <a:tc>
                  <a:txBody>
                    <a:bodyPr/>
                    <a:lstStyle/>
                    <a:p>
                      <a:pPr marL="0" marR="0" lvl="0" indent="0" algn="l" rtl="0">
                        <a:spcBef>
                          <a:spcPts val="0"/>
                        </a:spcBef>
                        <a:spcAft>
                          <a:spcPts val="0"/>
                        </a:spcAft>
                        <a:buNone/>
                      </a:pPr>
                      <a:r>
                        <a:rPr lang="en-US" sz="2000"/>
                        <a:t>A1</a:t>
                      </a:r>
                      <a:endParaRPr/>
                    </a:p>
                  </a:txBody>
                  <a:tcPr marL="68000" marR="68000" marT="34000" marB="34000" anchor="ctr"/>
                </a:tc>
                <a:tc>
                  <a:txBody>
                    <a:bodyPr/>
                    <a:lstStyle/>
                    <a:p>
                      <a:pPr marL="0" marR="0" lvl="0" indent="0" algn="l" rtl="0">
                        <a:spcBef>
                          <a:spcPts val="0"/>
                        </a:spcBef>
                        <a:spcAft>
                          <a:spcPts val="0"/>
                        </a:spcAft>
                        <a:buNone/>
                      </a:pPr>
                      <a:r>
                        <a:rPr lang="en-US" sz="2000"/>
                        <a:t>(2,10)</a:t>
                      </a:r>
                      <a:endParaRPr/>
                    </a:p>
                  </a:txBody>
                  <a:tcPr marL="68000" marR="68000" marT="34000" marB="34000" anchor="ctr"/>
                </a:tc>
                <a:extLst>
                  <a:ext uri="{0D108BD9-81ED-4DB2-BD59-A6C34878D82A}">
                    <a16:rowId xmlns:a16="http://schemas.microsoft.com/office/drawing/2014/main" val="10001"/>
                  </a:ext>
                </a:extLst>
              </a:tr>
              <a:tr h="271950">
                <a:tc>
                  <a:txBody>
                    <a:bodyPr/>
                    <a:lstStyle/>
                    <a:p>
                      <a:pPr marL="0" marR="0" lvl="0" indent="0" algn="l" rtl="0">
                        <a:spcBef>
                          <a:spcPts val="0"/>
                        </a:spcBef>
                        <a:spcAft>
                          <a:spcPts val="0"/>
                        </a:spcAft>
                        <a:buNone/>
                      </a:pPr>
                      <a:r>
                        <a:rPr lang="en-US" sz="2000"/>
                        <a:t>A2</a:t>
                      </a:r>
                      <a:endParaRPr/>
                    </a:p>
                  </a:txBody>
                  <a:tcPr marL="68000" marR="68000" marT="34000" marB="34000" anchor="ctr">
                    <a:solidFill>
                      <a:srgbClr val="002060"/>
                    </a:solidFill>
                  </a:tcPr>
                </a:tc>
                <a:tc>
                  <a:txBody>
                    <a:bodyPr/>
                    <a:lstStyle/>
                    <a:p>
                      <a:pPr marL="0" marR="0" lvl="0" indent="0" algn="l" rtl="0">
                        <a:spcBef>
                          <a:spcPts val="0"/>
                        </a:spcBef>
                        <a:spcAft>
                          <a:spcPts val="0"/>
                        </a:spcAft>
                        <a:buNone/>
                      </a:pPr>
                      <a:r>
                        <a:rPr lang="en-US" sz="2000"/>
                        <a:t>(2,6)</a:t>
                      </a:r>
                      <a:endParaRPr/>
                    </a:p>
                  </a:txBody>
                  <a:tcPr marL="68000" marR="68000" marT="34000" marB="34000" anchor="ctr">
                    <a:solidFill>
                      <a:srgbClr val="002060"/>
                    </a:solidFill>
                  </a:tcPr>
                </a:tc>
                <a:extLst>
                  <a:ext uri="{0D108BD9-81ED-4DB2-BD59-A6C34878D82A}">
                    <a16:rowId xmlns:a16="http://schemas.microsoft.com/office/drawing/2014/main" val="10002"/>
                  </a:ext>
                </a:extLst>
              </a:tr>
              <a:tr h="271950">
                <a:tc>
                  <a:txBody>
                    <a:bodyPr/>
                    <a:lstStyle/>
                    <a:p>
                      <a:pPr marL="0" marR="0" lvl="0" indent="0" algn="l" rtl="0">
                        <a:spcBef>
                          <a:spcPts val="0"/>
                        </a:spcBef>
                        <a:spcAft>
                          <a:spcPts val="0"/>
                        </a:spcAft>
                        <a:buNone/>
                      </a:pPr>
                      <a:r>
                        <a:rPr lang="en-US" sz="2000"/>
                        <a:t>A3</a:t>
                      </a:r>
                      <a:endParaRPr/>
                    </a:p>
                  </a:txBody>
                  <a:tcPr marL="68000" marR="68000" marT="34000" marB="34000" anchor="ctr"/>
                </a:tc>
                <a:tc>
                  <a:txBody>
                    <a:bodyPr/>
                    <a:lstStyle/>
                    <a:p>
                      <a:pPr marL="0" marR="0" lvl="0" indent="0" algn="l" rtl="0">
                        <a:spcBef>
                          <a:spcPts val="0"/>
                        </a:spcBef>
                        <a:spcAft>
                          <a:spcPts val="0"/>
                        </a:spcAft>
                        <a:buNone/>
                      </a:pPr>
                      <a:r>
                        <a:rPr lang="en-US" sz="2000"/>
                        <a:t>(11,11)</a:t>
                      </a:r>
                      <a:endParaRPr/>
                    </a:p>
                  </a:txBody>
                  <a:tcPr marL="68000" marR="68000" marT="34000" marB="34000" anchor="ctr"/>
                </a:tc>
                <a:extLst>
                  <a:ext uri="{0D108BD9-81ED-4DB2-BD59-A6C34878D82A}">
                    <a16:rowId xmlns:a16="http://schemas.microsoft.com/office/drawing/2014/main" val="10003"/>
                  </a:ext>
                </a:extLst>
              </a:tr>
              <a:tr h="271950">
                <a:tc>
                  <a:txBody>
                    <a:bodyPr/>
                    <a:lstStyle/>
                    <a:p>
                      <a:pPr marL="0" marR="0" lvl="0" indent="0" algn="l" rtl="0">
                        <a:spcBef>
                          <a:spcPts val="0"/>
                        </a:spcBef>
                        <a:spcAft>
                          <a:spcPts val="0"/>
                        </a:spcAft>
                        <a:buNone/>
                      </a:pPr>
                      <a:r>
                        <a:rPr lang="en-US" sz="2000"/>
                        <a:t>A4</a:t>
                      </a:r>
                      <a:endParaRPr/>
                    </a:p>
                  </a:txBody>
                  <a:tcPr marL="68000" marR="68000" marT="34000" marB="34000" anchor="ctr"/>
                </a:tc>
                <a:tc>
                  <a:txBody>
                    <a:bodyPr/>
                    <a:lstStyle/>
                    <a:p>
                      <a:pPr marL="0" marR="0" lvl="0" indent="0" algn="l" rtl="0">
                        <a:spcBef>
                          <a:spcPts val="0"/>
                        </a:spcBef>
                        <a:spcAft>
                          <a:spcPts val="0"/>
                        </a:spcAft>
                        <a:buNone/>
                      </a:pPr>
                      <a:r>
                        <a:rPr lang="en-US" sz="2000"/>
                        <a:t>(6,9)</a:t>
                      </a:r>
                      <a:endParaRPr/>
                    </a:p>
                  </a:txBody>
                  <a:tcPr marL="68000" marR="68000" marT="34000" marB="34000" anchor="ctr"/>
                </a:tc>
                <a:extLst>
                  <a:ext uri="{0D108BD9-81ED-4DB2-BD59-A6C34878D82A}">
                    <a16:rowId xmlns:a16="http://schemas.microsoft.com/office/drawing/2014/main" val="10004"/>
                  </a:ext>
                </a:extLst>
              </a:tr>
              <a:tr h="271950">
                <a:tc>
                  <a:txBody>
                    <a:bodyPr/>
                    <a:lstStyle/>
                    <a:p>
                      <a:pPr marL="0" marR="0" lvl="0" indent="0" algn="l" rtl="0">
                        <a:spcBef>
                          <a:spcPts val="0"/>
                        </a:spcBef>
                        <a:spcAft>
                          <a:spcPts val="0"/>
                        </a:spcAft>
                        <a:buNone/>
                      </a:pPr>
                      <a:r>
                        <a:rPr lang="en-US" sz="2000"/>
                        <a:t>A5</a:t>
                      </a:r>
                      <a:endParaRPr/>
                    </a:p>
                  </a:txBody>
                  <a:tcPr marL="68000" marR="68000" marT="34000" marB="34000" anchor="ctr"/>
                </a:tc>
                <a:tc>
                  <a:txBody>
                    <a:bodyPr/>
                    <a:lstStyle/>
                    <a:p>
                      <a:pPr marL="0" marR="0" lvl="0" indent="0" algn="l" rtl="0">
                        <a:spcBef>
                          <a:spcPts val="0"/>
                        </a:spcBef>
                        <a:spcAft>
                          <a:spcPts val="0"/>
                        </a:spcAft>
                        <a:buNone/>
                      </a:pPr>
                      <a:r>
                        <a:rPr lang="en-US" sz="2000"/>
                        <a:t>(6,4)</a:t>
                      </a:r>
                      <a:endParaRPr/>
                    </a:p>
                  </a:txBody>
                  <a:tcPr marL="68000" marR="68000" marT="34000" marB="34000" anchor="ctr"/>
                </a:tc>
                <a:extLst>
                  <a:ext uri="{0D108BD9-81ED-4DB2-BD59-A6C34878D82A}">
                    <a16:rowId xmlns:a16="http://schemas.microsoft.com/office/drawing/2014/main" val="10005"/>
                  </a:ext>
                </a:extLst>
              </a:tr>
              <a:tr h="271950">
                <a:tc>
                  <a:txBody>
                    <a:bodyPr/>
                    <a:lstStyle/>
                    <a:p>
                      <a:pPr marL="0" marR="0" lvl="0" indent="0" algn="l" rtl="0">
                        <a:spcBef>
                          <a:spcPts val="0"/>
                        </a:spcBef>
                        <a:spcAft>
                          <a:spcPts val="0"/>
                        </a:spcAft>
                        <a:buNone/>
                      </a:pPr>
                      <a:r>
                        <a:rPr lang="en-US" sz="2000"/>
                        <a:t>A6</a:t>
                      </a:r>
                      <a:endParaRPr/>
                    </a:p>
                  </a:txBody>
                  <a:tcPr marL="68000" marR="68000" marT="34000" marB="34000" anchor="ctr"/>
                </a:tc>
                <a:tc>
                  <a:txBody>
                    <a:bodyPr/>
                    <a:lstStyle/>
                    <a:p>
                      <a:pPr marL="0" marR="0" lvl="0" indent="0" algn="l" rtl="0">
                        <a:spcBef>
                          <a:spcPts val="0"/>
                        </a:spcBef>
                        <a:spcAft>
                          <a:spcPts val="0"/>
                        </a:spcAft>
                        <a:buNone/>
                      </a:pPr>
                      <a:r>
                        <a:rPr lang="en-US" sz="2000"/>
                        <a:t>(1,2)</a:t>
                      </a:r>
                      <a:endParaRPr/>
                    </a:p>
                  </a:txBody>
                  <a:tcPr marL="68000" marR="68000" marT="34000" marB="34000" anchor="ctr"/>
                </a:tc>
                <a:extLst>
                  <a:ext uri="{0D108BD9-81ED-4DB2-BD59-A6C34878D82A}">
                    <a16:rowId xmlns:a16="http://schemas.microsoft.com/office/drawing/2014/main" val="10006"/>
                  </a:ext>
                </a:extLst>
              </a:tr>
              <a:tr h="271950">
                <a:tc>
                  <a:txBody>
                    <a:bodyPr/>
                    <a:lstStyle/>
                    <a:p>
                      <a:pPr marL="0" marR="0" lvl="0" indent="0" algn="l" rtl="0">
                        <a:spcBef>
                          <a:spcPts val="0"/>
                        </a:spcBef>
                        <a:spcAft>
                          <a:spcPts val="0"/>
                        </a:spcAft>
                        <a:buNone/>
                      </a:pPr>
                      <a:r>
                        <a:rPr lang="en-US" sz="2000"/>
                        <a:t>A7</a:t>
                      </a:r>
                      <a:endParaRPr/>
                    </a:p>
                  </a:txBody>
                  <a:tcPr marL="68000" marR="68000" marT="34000" marB="34000" anchor="ctr">
                    <a:solidFill>
                      <a:srgbClr val="002060"/>
                    </a:solidFill>
                  </a:tcPr>
                </a:tc>
                <a:tc>
                  <a:txBody>
                    <a:bodyPr/>
                    <a:lstStyle/>
                    <a:p>
                      <a:pPr marL="0" marR="0" lvl="0" indent="0" algn="l" rtl="0">
                        <a:spcBef>
                          <a:spcPts val="0"/>
                        </a:spcBef>
                        <a:spcAft>
                          <a:spcPts val="0"/>
                        </a:spcAft>
                        <a:buNone/>
                      </a:pPr>
                      <a:r>
                        <a:rPr lang="en-US" sz="2000"/>
                        <a:t>(5,10)</a:t>
                      </a:r>
                      <a:endParaRPr/>
                    </a:p>
                  </a:txBody>
                  <a:tcPr marL="68000" marR="68000" marT="34000" marB="34000" anchor="ctr">
                    <a:solidFill>
                      <a:srgbClr val="002060"/>
                    </a:solidFill>
                  </a:tcPr>
                </a:tc>
                <a:extLst>
                  <a:ext uri="{0D108BD9-81ED-4DB2-BD59-A6C34878D82A}">
                    <a16:rowId xmlns:a16="http://schemas.microsoft.com/office/drawing/2014/main" val="10007"/>
                  </a:ext>
                </a:extLst>
              </a:tr>
              <a:tr h="271950">
                <a:tc>
                  <a:txBody>
                    <a:bodyPr/>
                    <a:lstStyle/>
                    <a:p>
                      <a:pPr marL="0" marR="0" lvl="0" indent="0" algn="l" rtl="0">
                        <a:spcBef>
                          <a:spcPts val="0"/>
                        </a:spcBef>
                        <a:spcAft>
                          <a:spcPts val="0"/>
                        </a:spcAft>
                        <a:buNone/>
                      </a:pPr>
                      <a:r>
                        <a:rPr lang="en-US" sz="2000"/>
                        <a:t>A8</a:t>
                      </a:r>
                      <a:endParaRPr/>
                    </a:p>
                  </a:txBody>
                  <a:tcPr marL="68000" marR="68000" marT="34000" marB="34000" anchor="ctr"/>
                </a:tc>
                <a:tc>
                  <a:txBody>
                    <a:bodyPr/>
                    <a:lstStyle/>
                    <a:p>
                      <a:pPr marL="0" marR="0" lvl="0" indent="0" algn="l" rtl="0">
                        <a:spcBef>
                          <a:spcPts val="0"/>
                        </a:spcBef>
                        <a:spcAft>
                          <a:spcPts val="0"/>
                        </a:spcAft>
                        <a:buNone/>
                      </a:pPr>
                      <a:r>
                        <a:rPr lang="en-US" sz="2000"/>
                        <a:t>(4,9)</a:t>
                      </a:r>
                      <a:endParaRPr/>
                    </a:p>
                  </a:txBody>
                  <a:tcPr marL="68000" marR="68000" marT="34000" marB="34000" anchor="ctr"/>
                </a:tc>
                <a:extLst>
                  <a:ext uri="{0D108BD9-81ED-4DB2-BD59-A6C34878D82A}">
                    <a16:rowId xmlns:a16="http://schemas.microsoft.com/office/drawing/2014/main" val="10008"/>
                  </a:ext>
                </a:extLst>
              </a:tr>
              <a:tr h="271950">
                <a:tc>
                  <a:txBody>
                    <a:bodyPr/>
                    <a:lstStyle/>
                    <a:p>
                      <a:pPr marL="0" marR="0" lvl="0" indent="0" algn="l" rtl="0">
                        <a:spcBef>
                          <a:spcPts val="0"/>
                        </a:spcBef>
                        <a:spcAft>
                          <a:spcPts val="0"/>
                        </a:spcAft>
                        <a:buNone/>
                      </a:pPr>
                      <a:r>
                        <a:rPr lang="en-US" sz="2000"/>
                        <a:t>A9</a:t>
                      </a:r>
                      <a:endParaRPr/>
                    </a:p>
                  </a:txBody>
                  <a:tcPr marL="68000" marR="68000" marT="34000" marB="34000" anchor="ctr"/>
                </a:tc>
                <a:tc>
                  <a:txBody>
                    <a:bodyPr/>
                    <a:lstStyle/>
                    <a:p>
                      <a:pPr marL="0" marR="0" lvl="0" indent="0" algn="l" rtl="0">
                        <a:spcBef>
                          <a:spcPts val="0"/>
                        </a:spcBef>
                        <a:spcAft>
                          <a:spcPts val="0"/>
                        </a:spcAft>
                        <a:buNone/>
                      </a:pPr>
                      <a:r>
                        <a:rPr lang="en-US" sz="2000"/>
                        <a:t>(10,12)</a:t>
                      </a:r>
                      <a:endParaRPr/>
                    </a:p>
                  </a:txBody>
                  <a:tcPr marL="68000" marR="68000" marT="34000" marB="34000" anchor="ctr"/>
                </a:tc>
                <a:extLst>
                  <a:ext uri="{0D108BD9-81ED-4DB2-BD59-A6C34878D82A}">
                    <a16:rowId xmlns:a16="http://schemas.microsoft.com/office/drawing/2014/main" val="10009"/>
                  </a:ext>
                </a:extLst>
              </a:tr>
              <a:tr h="271950">
                <a:tc>
                  <a:txBody>
                    <a:bodyPr/>
                    <a:lstStyle/>
                    <a:p>
                      <a:pPr marL="0" marR="0" lvl="0" indent="0" algn="l" rtl="0">
                        <a:spcBef>
                          <a:spcPts val="0"/>
                        </a:spcBef>
                        <a:spcAft>
                          <a:spcPts val="0"/>
                        </a:spcAft>
                        <a:buNone/>
                      </a:pPr>
                      <a:r>
                        <a:rPr lang="en-US" sz="2000"/>
                        <a:t>A10</a:t>
                      </a:r>
                      <a:endParaRPr/>
                    </a:p>
                  </a:txBody>
                  <a:tcPr marL="68000" marR="68000" marT="34000" marB="34000" anchor="ctr"/>
                </a:tc>
                <a:tc>
                  <a:txBody>
                    <a:bodyPr/>
                    <a:lstStyle/>
                    <a:p>
                      <a:pPr marL="0" marR="0" lvl="0" indent="0" algn="l" rtl="0">
                        <a:spcBef>
                          <a:spcPts val="0"/>
                        </a:spcBef>
                        <a:spcAft>
                          <a:spcPts val="0"/>
                        </a:spcAft>
                        <a:buNone/>
                      </a:pPr>
                      <a:r>
                        <a:rPr lang="en-US" sz="2000"/>
                        <a:t>(7,5)</a:t>
                      </a:r>
                      <a:endParaRPr/>
                    </a:p>
                  </a:txBody>
                  <a:tcPr marL="68000" marR="68000" marT="34000" marB="34000" anchor="ctr"/>
                </a:tc>
                <a:extLst>
                  <a:ext uri="{0D108BD9-81ED-4DB2-BD59-A6C34878D82A}">
                    <a16:rowId xmlns:a16="http://schemas.microsoft.com/office/drawing/2014/main" val="10010"/>
                  </a:ext>
                </a:extLst>
              </a:tr>
              <a:tr h="271950">
                <a:tc>
                  <a:txBody>
                    <a:bodyPr/>
                    <a:lstStyle/>
                    <a:p>
                      <a:pPr marL="0" marR="0" lvl="0" indent="0" algn="l" rtl="0">
                        <a:spcBef>
                          <a:spcPts val="0"/>
                        </a:spcBef>
                        <a:spcAft>
                          <a:spcPts val="0"/>
                        </a:spcAft>
                        <a:buNone/>
                      </a:pPr>
                      <a:r>
                        <a:rPr lang="en-US" sz="2000"/>
                        <a:t>A11</a:t>
                      </a:r>
                      <a:endParaRPr/>
                    </a:p>
                  </a:txBody>
                  <a:tcPr marL="68000" marR="68000" marT="34000" marB="34000" anchor="ctr"/>
                </a:tc>
                <a:tc>
                  <a:txBody>
                    <a:bodyPr/>
                    <a:lstStyle/>
                    <a:p>
                      <a:pPr marL="0" marR="0" lvl="0" indent="0" algn="l" rtl="0">
                        <a:spcBef>
                          <a:spcPts val="0"/>
                        </a:spcBef>
                        <a:spcAft>
                          <a:spcPts val="0"/>
                        </a:spcAft>
                        <a:buNone/>
                      </a:pPr>
                      <a:r>
                        <a:rPr lang="en-US" sz="2000"/>
                        <a:t>(9,11)</a:t>
                      </a:r>
                      <a:endParaRPr/>
                    </a:p>
                  </a:txBody>
                  <a:tcPr marL="68000" marR="68000" marT="34000" marB="34000" anchor="ctr"/>
                </a:tc>
                <a:extLst>
                  <a:ext uri="{0D108BD9-81ED-4DB2-BD59-A6C34878D82A}">
                    <a16:rowId xmlns:a16="http://schemas.microsoft.com/office/drawing/2014/main" val="10011"/>
                  </a:ext>
                </a:extLst>
              </a:tr>
              <a:tr h="271950">
                <a:tc>
                  <a:txBody>
                    <a:bodyPr/>
                    <a:lstStyle/>
                    <a:p>
                      <a:pPr marL="0" marR="0" lvl="0" indent="0" algn="l" rtl="0">
                        <a:spcBef>
                          <a:spcPts val="0"/>
                        </a:spcBef>
                        <a:spcAft>
                          <a:spcPts val="0"/>
                        </a:spcAft>
                        <a:buNone/>
                      </a:pPr>
                      <a:r>
                        <a:rPr lang="en-US" sz="2000"/>
                        <a:t>A12</a:t>
                      </a:r>
                      <a:endParaRPr/>
                    </a:p>
                  </a:txBody>
                  <a:tcPr marL="68000" marR="68000" marT="34000" marB="34000" anchor="ctr"/>
                </a:tc>
                <a:tc>
                  <a:txBody>
                    <a:bodyPr/>
                    <a:lstStyle/>
                    <a:p>
                      <a:pPr marL="0" marR="0" lvl="0" indent="0" algn="l" rtl="0">
                        <a:spcBef>
                          <a:spcPts val="0"/>
                        </a:spcBef>
                        <a:spcAft>
                          <a:spcPts val="0"/>
                        </a:spcAft>
                        <a:buNone/>
                      </a:pPr>
                      <a:r>
                        <a:rPr lang="en-US" sz="2000"/>
                        <a:t>(4,6)</a:t>
                      </a:r>
                      <a:endParaRPr/>
                    </a:p>
                  </a:txBody>
                  <a:tcPr marL="68000" marR="68000" marT="34000" marB="34000" anchor="ctr"/>
                </a:tc>
                <a:extLst>
                  <a:ext uri="{0D108BD9-81ED-4DB2-BD59-A6C34878D82A}">
                    <a16:rowId xmlns:a16="http://schemas.microsoft.com/office/drawing/2014/main" val="10012"/>
                  </a:ext>
                </a:extLst>
              </a:tr>
              <a:tr h="271950">
                <a:tc>
                  <a:txBody>
                    <a:bodyPr/>
                    <a:lstStyle/>
                    <a:p>
                      <a:pPr marL="0" marR="0" lvl="0" indent="0" algn="l" rtl="0">
                        <a:spcBef>
                          <a:spcPts val="0"/>
                        </a:spcBef>
                        <a:spcAft>
                          <a:spcPts val="0"/>
                        </a:spcAft>
                        <a:buNone/>
                      </a:pPr>
                      <a:r>
                        <a:rPr lang="en-US" sz="2000"/>
                        <a:t>A13</a:t>
                      </a:r>
                      <a:endParaRPr/>
                    </a:p>
                  </a:txBody>
                  <a:tcPr marL="68000" marR="68000" marT="34000" marB="34000" anchor="ctr"/>
                </a:tc>
                <a:tc>
                  <a:txBody>
                    <a:bodyPr/>
                    <a:lstStyle/>
                    <a:p>
                      <a:pPr marL="0" marR="0" lvl="0" indent="0" algn="l" rtl="0">
                        <a:spcBef>
                          <a:spcPts val="0"/>
                        </a:spcBef>
                        <a:spcAft>
                          <a:spcPts val="0"/>
                        </a:spcAft>
                        <a:buNone/>
                      </a:pPr>
                      <a:r>
                        <a:rPr lang="en-US" sz="2000"/>
                        <a:t>(3,10)</a:t>
                      </a:r>
                      <a:endParaRPr/>
                    </a:p>
                  </a:txBody>
                  <a:tcPr marL="68000" marR="68000" marT="34000" marB="34000" anchor="ctr"/>
                </a:tc>
                <a:extLst>
                  <a:ext uri="{0D108BD9-81ED-4DB2-BD59-A6C34878D82A}">
                    <a16:rowId xmlns:a16="http://schemas.microsoft.com/office/drawing/2014/main" val="10013"/>
                  </a:ext>
                </a:extLst>
              </a:tr>
              <a:tr h="271950">
                <a:tc>
                  <a:txBody>
                    <a:bodyPr/>
                    <a:lstStyle/>
                    <a:p>
                      <a:pPr marL="0" marR="0" lvl="0" indent="0" algn="l" rtl="0">
                        <a:spcBef>
                          <a:spcPts val="0"/>
                        </a:spcBef>
                        <a:spcAft>
                          <a:spcPts val="0"/>
                        </a:spcAft>
                        <a:buNone/>
                      </a:pPr>
                      <a:r>
                        <a:rPr lang="en-US" sz="2000"/>
                        <a:t>A14</a:t>
                      </a:r>
                      <a:endParaRPr/>
                    </a:p>
                  </a:txBody>
                  <a:tcPr marL="68000" marR="68000" marT="34000" marB="34000" anchor="ctr"/>
                </a:tc>
                <a:tc>
                  <a:txBody>
                    <a:bodyPr/>
                    <a:lstStyle/>
                    <a:p>
                      <a:pPr marL="0" marR="0" lvl="0" indent="0" algn="l" rtl="0">
                        <a:spcBef>
                          <a:spcPts val="0"/>
                        </a:spcBef>
                        <a:spcAft>
                          <a:spcPts val="0"/>
                        </a:spcAft>
                        <a:buNone/>
                      </a:pPr>
                      <a:r>
                        <a:rPr lang="en-US" sz="2000"/>
                        <a:t>(3,8)</a:t>
                      </a:r>
                      <a:endParaRPr/>
                    </a:p>
                  </a:txBody>
                  <a:tcPr marL="68000" marR="68000" marT="34000" marB="34000" anchor="ctr"/>
                </a:tc>
                <a:extLst>
                  <a:ext uri="{0D108BD9-81ED-4DB2-BD59-A6C34878D82A}">
                    <a16:rowId xmlns:a16="http://schemas.microsoft.com/office/drawing/2014/main" val="10014"/>
                  </a:ext>
                </a:extLst>
              </a:tr>
              <a:tr h="271950">
                <a:tc>
                  <a:txBody>
                    <a:bodyPr/>
                    <a:lstStyle/>
                    <a:p>
                      <a:pPr marL="0" marR="0" lvl="0" indent="0" algn="l" rtl="0">
                        <a:spcBef>
                          <a:spcPts val="0"/>
                        </a:spcBef>
                        <a:spcAft>
                          <a:spcPts val="0"/>
                        </a:spcAft>
                        <a:buNone/>
                      </a:pPr>
                      <a:r>
                        <a:rPr lang="en-US" sz="2000"/>
                        <a:t>A15</a:t>
                      </a:r>
                      <a:endParaRPr/>
                    </a:p>
                  </a:txBody>
                  <a:tcPr marL="68000" marR="68000" marT="34000" marB="34000" anchor="ctr">
                    <a:solidFill>
                      <a:srgbClr val="002060"/>
                    </a:solidFill>
                  </a:tcPr>
                </a:tc>
                <a:tc>
                  <a:txBody>
                    <a:bodyPr/>
                    <a:lstStyle/>
                    <a:p>
                      <a:pPr marL="0" marR="0" lvl="0" indent="0" algn="l" rtl="0">
                        <a:spcBef>
                          <a:spcPts val="0"/>
                        </a:spcBef>
                        <a:spcAft>
                          <a:spcPts val="0"/>
                        </a:spcAft>
                        <a:buNone/>
                      </a:pPr>
                      <a:r>
                        <a:rPr lang="en-US" sz="2000"/>
                        <a:t>(6,11)</a:t>
                      </a:r>
                      <a:endParaRPr/>
                    </a:p>
                  </a:txBody>
                  <a:tcPr marL="68000" marR="68000" marT="34000" marB="34000" anchor="ctr">
                    <a:solidFill>
                      <a:srgbClr val="002060"/>
                    </a:solidFill>
                  </a:tcPr>
                </a:tc>
                <a:extLst>
                  <a:ext uri="{0D108BD9-81ED-4DB2-BD59-A6C34878D82A}">
                    <a16:rowId xmlns:a16="http://schemas.microsoft.com/office/drawing/2014/main" val="10015"/>
                  </a:ext>
                </a:extLst>
              </a:tr>
            </a:tbl>
          </a:graphicData>
        </a:graphic>
      </p:graphicFrame>
      <p:sp>
        <p:nvSpPr>
          <p:cNvPr id="257" name="Google Shape;257;p23"/>
          <p:cNvSpPr/>
          <p:nvPr/>
        </p:nvSpPr>
        <p:spPr>
          <a:xfrm>
            <a:off x="4402016" y="1218087"/>
            <a:ext cx="6096000" cy="23083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a:solidFill>
                  <a:srgbClr val="FFC000"/>
                </a:solidFill>
                <a:latin typeface="Calibri"/>
                <a:ea typeface="Calibri"/>
                <a:cs typeface="Calibri"/>
                <a:sym typeface="Calibri"/>
              </a:rPr>
              <a:t>STEP1: randomly initialize k cluster centroids</a:t>
            </a:r>
            <a:endParaRPr sz="2400" b="1">
              <a:solidFill>
                <a:srgbClr val="FFC000"/>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Centroid 1=(2,6) is associated with cluster k=1.</a:t>
            </a:r>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Centroid 2=(5,10) is associated with cluster k=2.</a:t>
            </a:r>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Centroid 3=(6,11) is associated with cluster k=3.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cxnSp>
        <p:nvCxnSpPr>
          <p:cNvPr id="262" name="Google Shape;262;p24"/>
          <p:cNvCxnSpPr/>
          <p:nvPr/>
        </p:nvCxnSpPr>
        <p:spPr>
          <a:xfrm>
            <a:off x="785611" y="883691"/>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63" name="Google Shape;263;p24"/>
          <p:cNvSpPr txBox="1"/>
          <p:nvPr/>
        </p:nvSpPr>
        <p:spPr>
          <a:xfrm>
            <a:off x="656823" y="168412"/>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264" name="Google Shape;264;p2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265" name="Google Shape;265;p24"/>
          <p:cNvGraphicFramePr/>
          <p:nvPr/>
        </p:nvGraphicFramePr>
        <p:xfrm>
          <a:off x="173249" y="916636"/>
          <a:ext cx="8065125" cy="5899375"/>
        </p:xfrm>
        <a:graphic>
          <a:graphicData uri="http://schemas.openxmlformats.org/drawingml/2006/table">
            <a:tbl>
              <a:tblPr>
                <a:noFill/>
                <a:tableStyleId>{08B953BB-13DD-4FB7-82F3-D155A25E974E}</a:tableStyleId>
              </a:tblPr>
              <a:tblGrid>
                <a:gridCol w="1613025">
                  <a:extLst>
                    <a:ext uri="{9D8B030D-6E8A-4147-A177-3AD203B41FA5}">
                      <a16:colId xmlns:a16="http://schemas.microsoft.com/office/drawing/2014/main" val="20000"/>
                    </a:ext>
                  </a:extLst>
                </a:gridCol>
                <a:gridCol w="1613025">
                  <a:extLst>
                    <a:ext uri="{9D8B030D-6E8A-4147-A177-3AD203B41FA5}">
                      <a16:colId xmlns:a16="http://schemas.microsoft.com/office/drawing/2014/main" val="20001"/>
                    </a:ext>
                  </a:extLst>
                </a:gridCol>
                <a:gridCol w="1613025">
                  <a:extLst>
                    <a:ext uri="{9D8B030D-6E8A-4147-A177-3AD203B41FA5}">
                      <a16:colId xmlns:a16="http://schemas.microsoft.com/office/drawing/2014/main" val="20002"/>
                    </a:ext>
                  </a:extLst>
                </a:gridCol>
                <a:gridCol w="1613025">
                  <a:extLst>
                    <a:ext uri="{9D8B030D-6E8A-4147-A177-3AD203B41FA5}">
                      <a16:colId xmlns:a16="http://schemas.microsoft.com/office/drawing/2014/main" val="20003"/>
                    </a:ext>
                  </a:extLst>
                </a:gridCol>
                <a:gridCol w="1613025">
                  <a:extLst>
                    <a:ext uri="{9D8B030D-6E8A-4147-A177-3AD203B41FA5}">
                      <a16:colId xmlns:a16="http://schemas.microsoft.com/office/drawing/2014/main" val="20004"/>
                    </a:ext>
                  </a:extLst>
                </a:gridCol>
              </a:tblGrid>
              <a:tr h="890575">
                <a:tc>
                  <a:txBody>
                    <a:bodyPr/>
                    <a:lstStyle/>
                    <a:p>
                      <a:pPr marL="0" marR="0" lvl="0" indent="0" algn="l" rtl="0">
                        <a:spcBef>
                          <a:spcPts val="0"/>
                        </a:spcBef>
                        <a:spcAft>
                          <a:spcPts val="0"/>
                        </a:spcAft>
                        <a:buNone/>
                      </a:pPr>
                      <a:r>
                        <a:rPr lang="en-US" sz="1800" b="1">
                          <a:solidFill>
                            <a:srgbClr val="FFC000"/>
                          </a:solidFill>
                        </a:rPr>
                        <a:t>Point</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1 (2,6)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b="1">
                          <a:solidFill>
                            <a:srgbClr val="FFC000"/>
                          </a:solidFill>
                        </a:rPr>
                        <a:t>Distance from Centroid 2 (5,10)</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3 (6,11)</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Assigned Cluster</a:t>
                      </a:r>
                      <a:endParaRPr/>
                    </a:p>
                  </a:txBody>
                  <a:tcPr marL="59600" marR="59600" marT="29800" marB="29800" anchor="ctr"/>
                </a:tc>
                <a:extLst>
                  <a:ext uri="{0D108BD9-81ED-4DB2-BD59-A6C34878D82A}">
                    <a16:rowId xmlns:a16="http://schemas.microsoft.com/office/drawing/2014/main" val="10000"/>
                  </a:ext>
                </a:extLst>
              </a:tr>
              <a:tr h="278700">
                <a:tc>
                  <a:txBody>
                    <a:bodyPr/>
                    <a:lstStyle/>
                    <a:p>
                      <a:pPr marL="0" marR="0" lvl="0" indent="0" algn="l" rtl="0">
                        <a:spcBef>
                          <a:spcPts val="0"/>
                        </a:spcBef>
                        <a:spcAft>
                          <a:spcPts val="0"/>
                        </a:spcAft>
                        <a:buNone/>
                      </a:pPr>
                      <a:r>
                        <a:rPr lang="en-US" sz="1800"/>
                        <a:t>A1 (2,10)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endParaRPr sz="1800" strike="sngStrike"/>
                    </a:p>
                  </a:txBody>
                  <a:tcPr marL="59600" marR="59600" marT="29800" marB="29800" anchor="ctr">
                    <a:solidFill>
                      <a:srgbClr val="002060"/>
                    </a:solidFill>
                  </a:tcPr>
                </a:tc>
                <a:extLst>
                  <a:ext uri="{0D108BD9-81ED-4DB2-BD59-A6C34878D82A}">
                    <a16:rowId xmlns:a16="http://schemas.microsoft.com/office/drawing/2014/main" val="10001"/>
                  </a:ext>
                </a:extLst>
              </a:tr>
              <a:tr h="278700">
                <a:tc>
                  <a:txBody>
                    <a:bodyPr/>
                    <a:lstStyle/>
                    <a:p>
                      <a:pPr marL="0" marR="0" lvl="0" indent="0" algn="l" rtl="0">
                        <a:spcBef>
                          <a:spcPts val="0"/>
                        </a:spcBef>
                        <a:spcAft>
                          <a:spcPts val="0"/>
                        </a:spcAft>
                        <a:buNone/>
                      </a:pPr>
                      <a:r>
                        <a:rPr lang="en-US" sz="1800"/>
                        <a:t>A2 (2,6)</a:t>
                      </a:r>
                      <a:endParaRPr/>
                    </a:p>
                  </a:txBody>
                  <a:tcPr marL="59600" marR="59600" marT="29800" marB="29800" anchor="ctr"/>
                </a:tc>
                <a:tc>
                  <a:txBody>
                    <a:bodyPr/>
                    <a:lstStyle/>
                    <a:p>
                      <a:pPr marL="0" marR="0" lvl="0" indent="0" algn="l" rtl="0">
                        <a:spcBef>
                          <a:spcPts val="0"/>
                        </a:spcBef>
                        <a:spcAft>
                          <a:spcPts val="0"/>
                        </a:spcAft>
                        <a:buNone/>
                      </a:pPr>
                      <a:r>
                        <a:rPr lang="en-US" sz="1800"/>
                        <a:t>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r>
                        <a:rPr lang="en-US" sz="1800"/>
                        <a:t>6.403124</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2"/>
                  </a:ext>
                </a:extLst>
              </a:tr>
              <a:tr h="278700">
                <a:tc>
                  <a:txBody>
                    <a:bodyPr/>
                    <a:lstStyle/>
                    <a:p>
                      <a:pPr marL="0" marR="0" lvl="0" indent="0" algn="l" rtl="0">
                        <a:spcBef>
                          <a:spcPts val="0"/>
                        </a:spcBef>
                        <a:spcAft>
                          <a:spcPts val="0"/>
                        </a:spcAft>
                        <a:buNone/>
                      </a:pPr>
                      <a:r>
                        <a:rPr lang="en-US" sz="1800"/>
                        <a:t>A3 (11,11)</a:t>
                      </a:r>
                      <a:endParaRPr/>
                    </a:p>
                  </a:txBody>
                  <a:tcPr marL="59600" marR="59600" marT="29800" marB="29800" anchor="ctr"/>
                </a:tc>
                <a:tc>
                  <a:txBody>
                    <a:bodyPr/>
                    <a:lstStyle/>
                    <a:p>
                      <a:pPr marL="0" marR="0" lvl="0" indent="0" algn="l" rtl="0">
                        <a:spcBef>
                          <a:spcPts val="0"/>
                        </a:spcBef>
                        <a:spcAft>
                          <a:spcPts val="0"/>
                        </a:spcAft>
                        <a:buNone/>
                      </a:pPr>
                      <a:r>
                        <a:rPr lang="en-US" sz="1800"/>
                        <a:t>10.29563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6.082763</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3"/>
                  </a:ext>
                </a:extLst>
              </a:tr>
              <a:tr h="278700">
                <a:tc>
                  <a:txBody>
                    <a:bodyPr/>
                    <a:lstStyle/>
                    <a:p>
                      <a:pPr marL="0" marR="0" lvl="0" indent="0" algn="l" rtl="0">
                        <a:spcBef>
                          <a:spcPts val="0"/>
                        </a:spcBef>
                        <a:spcAft>
                          <a:spcPts val="0"/>
                        </a:spcAft>
                        <a:buNone/>
                      </a:pPr>
                      <a:r>
                        <a:rPr lang="en-US" sz="1800"/>
                        <a:t>A4 (6,9)</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4"/>
                  </a:ext>
                </a:extLst>
              </a:tr>
              <a:tr h="278700">
                <a:tc>
                  <a:txBody>
                    <a:bodyPr/>
                    <a:lstStyle/>
                    <a:p>
                      <a:pPr marL="0" marR="0" lvl="0" indent="0" algn="l" rtl="0">
                        <a:spcBef>
                          <a:spcPts val="0"/>
                        </a:spcBef>
                        <a:spcAft>
                          <a:spcPts val="0"/>
                        </a:spcAft>
                        <a:buNone/>
                      </a:pPr>
                      <a:r>
                        <a:rPr lang="en-US" sz="1800"/>
                        <a:t>A5 (6,4)</a:t>
                      </a:r>
                      <a:endParaRPr/>
                    </a:p>
                  </a:txBody>
                  <a:tcPr marL="59600" marR="59600" marT="29800" marB="29800" anchor="ctr"/>
                </a:tc>
                <a:tc>
                  <a:txBody>
                    <a:bodyPr/>
                    <a:lstStyle/>
                    <a:p>
                      <a:pPr marL="0" marR="0" lvl="0" indent="0" algn="l" rtl="0">
                        <a:spcBef>
                          <a:spcPts val="0"/>
                        </a:spcBef>
                        <a:spcAft>
                          <a:spcPts val="0"/>
                        </a:spcAft>
                        <a:buNone/>
                      </a:pPr>
                      <a:r>
                        <a:rPr lang="en-US" sz="1800"/>
                        <a:t>4.472136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6.082763</a:t>
                      </a:r>
                      <a:endParaRPr/>
                    </a:p>
                  </a:txBody>
                  <a:tcPr marL="59600" marR="59600" marT="29800" marB="29800" anchor="ctr"/>
                </a:tc>
                <a:tc>
                  <a:txBody>
                    <a:bodyPr/>
                    <a:lstStyle/>
                    <a:p>
                      <a:pPr marL="0" marR="0" lvl="0" indent="0" algn="l" rtl="0">
                        <a:spcBef>
                          <a:spcPts val="0"/>
                        </a:spcBef>
                        <a:spcAft>
                          <a:spcPts val="0"/>
                        </a:spcAft>
                        <a:buNone/>
                      </a:pPr>
                      <a:r>
                        <a:rPr lang="en-US" sz="1800"/>
                        <a:t>7</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5"/>
                  </a:ext>
                </a:extLst>
              </a:tr>
              <a:tr h="278700">
                <a:tc>
                  <a:txBody>
                    <a:bodyPr/>
                    <a:lstStyle/>
                    <a:p>
                      <a:pPr marL="0" marR="0" lvl="0" indent="0" algn="l" rtl="0">
                        <a:spcBef>
                          <a:spcPts val="0"/>
                        </a:spcBef>
                        <a:spcAft>
                          <a:spcPts val="0"/>
                        </a:spcAft>
                        <a:buNone/>
                      </a:pPr>
                      <a:r>
                        <a:rPr lang="en-US" sz="1800"/>
                        <a:t>A6 (1,2)</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8.944272</a:t>
                      </a:r>
                      <a:endParaRPr/>
                    </a:p>
                  </a:txBody>
                  <a:tcPr marL="59600" marR="59600" marT="29800" marB="29800" anchor="ctr"/>
                </a:tc>
                <a:tc>
                  <a:txBody>
                    <a:bodyPr/>
                    <a:lstStyle/>
                    <a:p>
                      <a:pPr marL="0" marR="0" lvl="0" indent="0" algn="l" rtl="0">
                        <a:spcBef>
                          <a:spcPts val="0"/>
                        </a:spcBef>
                        <a:spcAft>
                          <a:spcPts val="0"/>
                        </a:spcAft>
                        <a:buNone/>
                      </a:pPr>
                      <a:r>
                        <a:rPr lang="en-US" sz="1800"/>
                        <a:t>10.29563</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6"/>
                  </a:ext>
                </a:extLst>
              </a:tr>
              <a:tr h="278700">
                <a:tc>
                  <a:txBody>
                    <a:bodyPr/>
                    <a:lstStyle/>
                    <a:p>
                      <a:pPr marL="0" marR="0" lvl="0" indent="0" algn="l" rtl="0">
                        <a:spcBef>
                          <a:spcPts val="0"/>
                        </a:spcBef>
                        <a:spcAft>
                          <a:spcPts val="0"/>
                        </a:spcAft>
                        <a:buNone/>
                      </a:pPr>
                      <a:r>
                        <a:rPr lang="en-US" sz="1800"/>
                        <a:t>A7 (5,10)</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0</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7"/>
                  </a:ext>
                </a:extLst>
              </a:tr>
              <a:tr h="278700">
                <a:tc>
                  <a:txBody>
                    <a:bodyPr/>
                    <a:lstStyle/>
                    <a:p>
                      <a:pPr marL="0" marR="0" lvl="0" indent="0" algn="l" rtl="0">
                        <a:spcBef>
                          <a:spcPts val="0"/>
                        </a:spcBef>
                        <a:spcAft>
                          <a:spcPts val="0"/>
                        </a:spcAft>
                        <a:buNone/>
                      </a:pPr>
                      <a:r>
                        <a:rPr lang="en-US" sz="1800"/>
                        <a:t>A8 (4,9)</a:t>
                      </a:r>
                      <a:endParaRPr/>
                    </a:p>
                  </a:txBody>
                  <a:tcPr marL="59600" marR="59600" marT="29800" marB="29800" anchor="ctr"/>
                </a:tc>
                <a:tc>
                  <a:txBody>
                    <a:bodyPr/>
                    <a:lstStyle/>
                    <a:p>
                      <a:pPr marL="0" marR="0" lvl="0" indent="0" algn="l" rtl="0">
                        <a:spcBef>
                          <a:spcPts val="0"/>
                        </a:spcBef>
                        <a:spcAft>
                          <a:spcPts val="0"/>
                        </a:spcAft>
                        <a:buNone/>
                      </a:pPr>
                      <a:r>
                        <a:rPr lang="en-US" sz="1800"/>
                        <a:t>3.605551</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r>
                        <a:rPr lang="en-US" sz="1800"/>
                        <a:t>2.828427</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8"/>
                  </a:ext>
                </a:extLst>
              </a:tr>
              <a:tr h="278700">
                <a:tc>
                  <a:txBody>
                    <a:bodyPr/>
                    <a:lstStyle/>
                    <a:p>
                      <a:pPr marL="0" marR="0" lvl="0" indent="0" algn="l" rtl="0">
                        <a:spcBef>
                          <a:spcPts val="0"/>
                        </a:spcBef>
                        <a:spcAft>
                          <a:spcPts val="0"/>
                        </a:spcAft>
                        <a:buNone/>
                      </a:pPr>
                      <a:r>
                        <a:rPr lang="en-US" sz="1800"/>
                        <a:t>A9 (10,12)</a:t>
                      </a:r>
                      <a:endParaRPr/>
                    </a:p>
                  </a:txBody>
                  <a:tcPr marL="59600" marR="59600" marT="29800" marB="29800" anchor="ctr"/>
                </a:tc>
                <a:tc>
                  <a:txBody>
                    <a:bodyPr/>
                    <a:lstStyle/>
                    <a:p>
                      <a:pPr marL="0" marR="0" lvl="0" indent="0" algn="l" rtl="0">
                        <a:spcBef>
                          <a:spcPts val="0"/>
                        </a:spcBef>
                        <a:spcAft>
                          <a:spcPts val="0"/>
                        </a:spcAft>
                        <a:buNone/>
                      </a:pPr>
                      <a:r>
                        <a:rPr lang="en-US" sz="1800"/>
                        <a:t>10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5.385165</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09"/>
                  </a:ext>
                </a:extLst>
              </a:tr>
              <a:tr h="278700">
                <a:tc>
                  <a:txBody>
                    <a:bodyPr/>
                    <a:lstStyle/>
                    <a:p>
                      <a:pPr marL="0" marR="0" lvl="0" indent="0" algn="l" rtl="0">
                        <a:spcBef>
                          <a:spcPts val="0"/>
                        </a:spcBef>
                        <a:spcAft>
                          <a:spcPts val="0"/>
                        </a:spcAft>
                        <a:buNone/>
                      </a:pPr>
                      <a:r>
                        <a:rPr lang="en-US" sz="1800"/>
                        <a:t>A10 (7,5)</a:t>
                      </a:r>
                      <a:endParaRPr/>
                    </a:p>
                  </a:txBody>
                  <a:tcPr marL="59600" marR="59600" marT="29800" marB="29800" anchor="ctr"/>
                </a:tc>
                <a:tc>
                  <a:txBody>
                    <a:bodyPr/>
                    <a:lstStyle/>
                    <a:p>
                      <a:pPr marL="0" marR="0" lvl="0" indent="0" algn="l" rtl="0">
                        <a:spcBef>
                          <a:spcPts val="0"/>
                        </a:spcBef>
                        <a:spcAft>
                          <a:spcPts val="0"/>
                        </a:spcAft>
                        <a:buNone/>
                      </a:pPr>
                      <a:r>
                        <a:rPr lang="en-US" sz="1800"/>
                        <a:t>5.09902</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5.385165</a:t>
                      </a:r>
                      <a:endParaRPr/>
                    </a:p>
                  </a:txBody>
                  <a:tcPr marL="59600" marR="59600" marT="29800" marB="29800" anchor="ctr"/>
                </a:tc>
                <a:tc>
                  <a:txBody>
                    <a:bodyPr/>
                    <a:lstStyle/>
                    <a:p>
                      <a:pPr marL="0" marR="0" lvl="0" indent="0" algn="l" rtl="0">
                        <a:spcBef>
                          <a:spcPts val="0"/>
                        </a:spcBef>
                        <a:spcAft>
                          <a:spcPts val="0"/>
                        </a:spcAft>
                        <a:buNone/>
                      </a:pPr>
                      <a:r>
                        <a:rPr lang="en-US" sz="1800"/>
                        <a:t>6.082763</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10"/>
                  </a:ext>
                </a:extLst>
              </a:tr>
              <a:tr h="278700">
                <a:tc>
                  <a:txBody>
                    <a:bodyPr/>
                    <a:lstStyle/>
                    <a:p>
                      <a:pPr marL="0" marR="0" lvl="0" indent="0" algn="l" rtl="0">
                        <a:spcBef>
                          <a:spcPts val="0"/>
                        </a:spcBef>
                        <a:spcAft>
                          <a:spcPts val="0"/>
                        </a:spcAft>
                        <a:buNone/>
                      </a:pPr>
                      <a:r>
                        <a:rPr lang="en-US" sz="1800"/>
                        <a:t>A11 (9,11)</a:t>
                      </a:r>
                      <a:endParaRPr/>
                    </a:p>
                  </a:txBody>
                  <a:tcPr marL="59600" marR="59600" marT="29800" marB="29800" anchor="ctr"/>
                </a:tc>
                <a:tc>
                  <a:txBody>
                    <a:bodyPr/>
                    <a:lstStyle/>
                    <a:p>
                      <a:pPr marL="0" marR="0" lvl="0" indent="0" algn="l" rtl="0">
                        <a:spcBef>
                          <a:spcPts val="0"/>
                        </a:spcBef>
                        <a:spcAft>
                          <a:spcPts val="0"/>
                        </a:spcAft>
                        <a:buNone/>
                      </a:pPr>
                      <a:r>
                        <a:rPr lang="en-US" sz="1800"/>
                        <a:t>8.602325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3</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11"/>
                  </a:ext>
                </a:extLst>
              </a:tr>
              <a:tr h="278700">
                <a:tc>
                  <a:txBody>
                    <a:bodyPr/>
                    <a:lstStyle/>
                    <a:p>
                      <a:pPr marL="0" marR="0" lvl="0" indent="0" algn="l" rtl="0">
                        <a:spcBef>
                          <a:spcPts val="0"/>
                        </a:spcBef>
                        <a:spcAft>
                          <a:spcPts val="0"/>
                        </a:spcAft>
                        <a:buNone/>
                      </a:pPr>
                      <a:r>
                        <a:rPr lang="en-US" sz="1800"/>
                        <a:t>A12 (4,6)</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5.385165</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12"/>
                  </a:ext>
                </a:extLst>
              </a:tr>
              <a:tr h="278700">
                <a:tc>
                  <a:txBody>
                    <a:bodyPr/>
                    <a:lstStyle/>
                    <a:p>
                      <a:pPr marL="0" marR="0" lvl="0" indent="0" algn="l" rtl="0">
                        <a:spcBef>
                          <a:spcPts val="0"/>
                        </a:spcBef>
                        <a:spcAft>
                          <a:spcPts val="0"/>
                        </a:spcAft>
                        <a:buNone/>
                      </a:pPr>
                      <a:r>
                        <a:rPr lang="en-US" sz="1800"/>
                        <a:t>A13 (3,10)</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2</a:t>
                      </a:r>
                      <a:endParaRPr/>
                    </a:p>
                  </a:txBody>
                  <a:tcPr marL="59600" marR="59600" marT="29800" marB="29800" anchor="ctr"/>
                </a:tc>
                <a:tc>
                  <a:txBody>
                    <a:bodyPr/>
                    <a:lstStyle/>
                    <a:p>
                      <a:pPr marL="0" marR="0" lvl="0" indent="0" algn="l" rtl="0">
                        <a:spcBef>
                          <a:spcPts val="0"/>
                        </a:spcBef>
                        <a:spcAft>
                          <a:spcPts val="0"/>
                        </a:spcAft>
                        <a:buNone/>
                      </a:pPr>
                      <a:r>
                        <a:rPr lang="en-US" sz="1800"/>
                        <a:t>3.162278</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13"/>
                  </a:ext>
                </a:extLst>
              </a:tr>
              <a:tr h="278700">
                <a:tc>
                  <a:txBody>
                    <a:bodyPr/>
                    <a:lstStyle/>
                    <a:p>
                      <a:pPr marL="0" marR="0" lvl="0" indent="0" algn="l" rtl="0">
                        <a:spcBef>
                          <a:spcPts val="0"/>
                        </a:spcBef>
                        <a:spcAft>
                          <a:spcPts val="0"/>
                        </a:spcAft>
                        <a:buNone/>
                      </a:pPr>
                      <a:r>
                        <a:rPr lang="en-US" sz="1800"/>
                        <a:t>A14 (3,8)</a:t>
                      </a:r>
                      <a:endParaRPr/>
                    </a:p>
                  </a:txBody>
                  <a:tcPr marL="59600" marR="59600" marT="29800" marB="29800" anchor="ctr"/>
                </a:tc>
                <a:tc>
                  <a:txBody>
                    <a:bodyPr/>
                    <a:lstStyle/>
                    <a:p>
                      <a:pPr marL="0" marR="0" lvl="0" indent="0" algn="l" rtl="0">
                        <a:spcBef>
                          <a:spcPts val="0"/>
                        </a:spcBef>
                        <a:spcAft>
                          <a:spcPts val="0"/>
                        </a:spcAft>
                        <a:buNone/>
                      </a:pPr>
                      <a:r>
                        <a:rPr lang="en-US" sz="1800"/>
                        <a:t>2.236068</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2.828427</a:t>
                      </a:r>
                      <a:endParaRPr/>
                    </a:p>
                  </a:txBody>
                  <a:tcPr marL="59600" marR="59600" marT="29800" marB="29800" anchor="ctr"/>
                </a:tc>
                <a:tc>
                  <a:txBody>
                    <a:bodyPr/>
                    <a:lstStyle/>
                    <a:p>
                      <a:pPr marL="0" marR="0" lvl="0" indent="0" algn="l" rtl="0">
                        <a:spcBef>
                          <a:spcPts val="0"/>
                        </a:spcBef>
                        <a:spcAft>
                          <a:spcPts val="0"/>
                        </a:spcAft>
                        <a:buNone/>
                      </a:pPr>
                      <a:r>
                        <a:rPr lang="en-US" sz="1800"/>
                        <a:t>4.242641</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14"/>
                  </a:ext>
                </a:extLst>
              </a:tr>
              <a:tr h="278700">
                <a:tc>
                  <a:txBody>
                    <a:bodyPr/>
                    <a:lstStyle/>
                    <a:p>
                      <a:pPr marL="0" marR="0" lvl="0" indent="0" algn="l" rtl="0">
                        <a:spcBef>
                          <a:spcPts val="0"/>
                        </a:spcBef>
                        <a:spcAft>
                          <a:spcPts val="0"/>
                        </a:spcAft>
                        <a:buNone/>
                      </a:pPr>
                      <a:r>
                        <a:rPr lang="en-US" sz="1800"/>
                        <a:t>A15 (6,11)</a:t>
                      </a:r>
                      <a:endParaRPr/>
                    </a:p>
                  </a:txBody>
                  <a:tcPr marL="59600" marR="59600" marT="29800" marB="29800" anchor="ctr"/>
                </a:tc>
                <a:tc>
                  <a:txBody>
                    <a:bodyPr/>
                    <a:lstStyle/>
                    <a:p>
                      <a:pPr marL="0" marR="0" lvl="0" indent="0" algn="l" rtl="0">
                        <a:spcBef>
                          <a:spcPts val="0"/>
                        </a:spcBef>
                        <a:spcAft>
                          <a:spcPts val="0"/>
                        </a:spcAft>
                        <a:buNone/>
                      </a:pPr>
                      <a:r>
                        <a:rPr lang="en-US" sz="1800"/>
                        <a:t>6.403124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r>
                        <a:rPr lang="en-US" sz="1800"/>
                        <a:t>0</a:t>
                      </a:r>
                      <a:endParaRPr/>
                    </a:p>
                  </a:txBody>
                  <a:tcPr marL="59600" marR="59600" marT="29800" marB="29800" anchor="ctr"/>
                </a:tc>
                <a:tc>
                  <a:txBody>
                    <a:bodyPr/>
                    <a:lstStyle/>
                    <a:p>
                      <a:pPr marL="0" marR="0" lvl="0" indent="0" algn="l" rtl="0">
                        <a:spcBef>
                          <a:spcPts val="0"/>
                        </a:spcBef>
                        <a:spcAft>
                          <a:spcPts val="0"/>
                        </a:spcAft>
                        <a:buNone/>
                      </a:pPr>
                      <a:endParaRPr sz="1800" strike="sngStrike"/>
                    </a:p>
                  </a:txBody>
                  <a:tcPr marL="59600" marR="59600" marT="29800" marB="29800" anchor="ctr"/>
                </a:tc>
                <a:extLst>
                  <a:ext uri="{0D108BD9-81ED-4DB2-BD59-A6C34878D82A}">
                    <a16:rowId xmlns:a16="http://schemas.microsoft.com/office/drawing/2014/main" val="10015"/>
                  </a:ext>
                </a:extLst>
              </a:tr>
            </a:tbl>
          </a:graphicData>
        </a:graphic>
      </p:graphicFrame>
      <p:sp>
        <p:nvSpPr>
          <p:cNvPr id="266" name="Google Shape;266;p24"/>
          <p:cNvSpPr/>
          <p:nvPr/>
        </p:nvSpPr>
        <p:spPr>
          <a:xfrm>
            <a:off x="8367347" y="1087538"/>
            <a:ext cx="3597126" cy="53245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The distance function between two points </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a = (x1, y1) and b = (x2, y2) is defined as-</a:t>
            </a:r>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Euclidean Distance = </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√((x₂ - x₁)² + (y₂ - y₁)²)</a:t>
            </a:r>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(x₁, y₁) = (2, 6)</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(x₂, y₂) = (2, 10)</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rgbClr val="FFC000"/>
                </a:solidFill>
                <a:latin typeface="Calibri"/>
                <a:ea typeface="Calibri"/>
                <a:cs typeface="Calibri"/>
                <a:sym typeface="Calibri"/>
              </a:rPr>
              <a:t>Euclidean Distance C1</a:t>
            </a:r>
            <a:r>
              <a:rPr lang="en-US" sz="2000">
                <a:solidFill>
                  <a:schemeClr val="lt1"/>
                </a:solidFill>
                <a:latin typeface="Calibri"/>
                <a:ea typeface="Calibri"/>
                <a:cs typeface="Calibri"/>
                <a:sym typeface="Calibri"/>
              </a:rPr>
              <a:t> </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√((2 - 2)² + (6 - 10)²)</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√(0² + 4²)</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√(0 + 16)</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√16</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4</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cxnSp>
        <p:nvCxnSpPr>
          <p:cNvPr id="271" name="Google Shape;271;p25"/>
          <p:cNvCxnSpPr/>
          <p:nvPr/>
        </p:nvCxnSpPr>
        <p:spPr>
          <a:xfrm>
            <a:off x="785611" y="883691"/>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72" name="Google Shape;272;p25"/>
          <p:cNvSpPr txBox="1"/>
          <p:nvPr/>
        </p:nvSpPr>
        <p:spPr>
          <a:xfrm>
            <a:off x="656823" y="168412"/>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273" name="Google Shape;273;p25"/>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274" name="Google Shape;274;p25"/>
          <p:cNvGraphicFramePr/>
          <p:nvPr/>
        </p:nvGraphicFramePr>
        <p:xfrm>
          <a:off x="173249" y="916636"/>
          <a:ext cx="8065125" cy="5899375"/>
        </p:xfrm>
        <a:graphic>
          <a:graphicData uri="http://schemas.openxmlformats.org/drawingml/2006/table">
            <a:tbl>
              <a:tblPr>
                <a:noFill/>
                <a:tableStyleId>{08B953BB-13DD-4FB7-82F3-D155A25E974E}</a:tableStyleId>
              </a:tblPr>
              <a:tblGrid>
                <a:gridCol w="1613025">
                  <a:extLst>
                    <a:ext uri="{9D8B030D-6E8A-4147-A177-3AD203B41FA5}">
                      <a16:colId xmlns:a16="http://schemas.microsoft.com/office/drawing/2014/main" val="20000"/>
                    </a:ext>
                  </a:extLst>
                </a:gridCol>
                <a:gridCol w="1613025">
                  <a:extLst>
                    <a:ext uri="{9D8B030D-6E8A-4147-A177-3AD203B41FA5}">
                      <a16:colId xmlns:a16="http://schemas.microsoft.com/office/drawing/2014/main" val="20001"/>
                    </a:ext>
                  </a:extLst>
                </a:gridCol>
                <a:gridCol w="1613025">
                  <a:extLst>
                    <a:ext uri="{9D8B030D-6E8A-4147-A177-3AD203B41FA5}">
                      <a16:colId xmlns:a16="http://schemas.microsoft.com/office/drawing/2014/main" val="20002"/>
                    </a:ext>
                  </a:extLst>
                </a:gridCol>
                <a:gridCol w="1613025">
                  <a:extLst>
                    <a:ext uri="{9D8B030D-6E8A-4147-A177-3AD203B41FA5}">
                      <a16:colId xmlns:a16="http://schemas.microsoft.com/office/drawing/2014/main" val="20003"/>
                    </a:ext>
                  </a:extLst>
                </a:gridCol>
                <a:gridCol w="1613025">
                  <a:extLst>
                    <a:ext uri="{9D8B030D-6E8A-4147-A177-3AD203B41FA5}">
                      <a16:colId xmlns:a16="http://schemas.microsoft.com/office/drawing/2014/main" val="20004"/>
                    </a:ext>
                  </a:extLst>
                </a:gridCol>
              </a:tblGrid>
              <a:tr h="890575">
                <a:tc>
                  <a:txBody>
                    <a:bodyPr/>
                    <a:lstStyle/>
                    <a:p>
                      <a:pPr marL="0" marR="0" lvl="0" indent="0" algn="l" rtl="0">
                        <a:spcBef>
                          <a:spcPts val="0"/>
                        </a:spcBef>
                        <a:spcAft>
                          <a:spcPts val="0"/>
                        </a:spcAft>
                        <a:buNone/>
                      </a:pPr>
                      <a:r>
                        <a:rPr lang="en-US" sz="1800" b="1">
                          <a:solidFill>
                            <a:srgbClr val="FFC000"/>
                          </a:solidFill>
                        </a:rPr>
                        <a:t>Point</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1 (2,6)</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2 (5,10)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b="1">
                          <a:solidFill>
                            <a:srgbClr val="FFC000"/>
                          </a:solidFill>
                        </a:rPr>
                        <a:t>Distance from Centroid 3 (6,11)</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Assigned Cluster</a:t>
                      </a:r>
                      <a:endParaRPr/>
                    </a:p>
                  </a:txBody>
                  <a:tcPr marL="59600" marR="59600" marT="29800" marB="29800" anchor="ctr"/>
                </a:tc>
                <a:extLst>
                  <a:ext uri="{0D108BD9-81ED-4DB2-BD59-A6C34878D82A}">
                    <a16:rowId xmlns:a16="http://schemas.microsoft.com/office/drawing/2014/main" val="10000"/>
                  </a:ext>
                </a:extLst>
              </a:tr>
              <a:tr h="278700">
                <a:tc>
                  <a:txBody>
                    <a:bodyPr/>
                    <a:lstStyle/>
                    <a:p>
                      <a:pPr marL="0" marR="0" lvl="0" indent="0" algn="l" rtl="0">
                        <a:spcBef>
                          <a:spcPts val="0"/>
                        </a:spcBef>
                        <a:spcAft>
                          <a:spcPts val="0"/>
                        </a:spcAft>
                        <a:buNone/>
                      </a:pPr>
                      <a:r>
                        <a:rPr lang="en-US" sz="1800"/>
                        <a:t>A1 (2,10)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endParaRPr sz="1800"/>
                    </a:p>
                  </a:txBody>
                  <a:tcPr marL="59600" marR="59600" marT="29800" marB="29800" anchor="ctr">
                    <a:solidFill>
                      <a:srgbClr val="002060"/>
                    </a:solidFill>
                  </a:tcPr>
                </a:tc>
                <a:extLst>
                  <a:ext uri="{0D108BD9-81ED-4DB2-BD59-A6C34878D82A}">
                    <a16:rowId xmlns:a16="http://schemas.microsoft.com/office/drawing/2014/main" val="10001"/>
                  </a:ext>
                </a:extLst>
              </a:tr>
              <a:tr h="278700">
                <a:tc>
                  <a:txBody>
                    <a:bodyPr/>
                    <a:lstStyle/>
                    <a:p>
                      <a:pPr marL="0" marR="0" lvl="0" indent="0" algn="l" rtl="0">
                        <a:spcBef>
                          <a:spcPts val="0"/>
                        </a:spcBef>
                        <a:spcAft>
                          <a:spcPts val="0"/>
                        </a:spcAft>
                        <a:buNone/>
                      </a:pPr>
                      <a:r>
                        <a:rPr lang="en-US" sz="1800"/>
                        <a:t>A2 (2,6)</a:t>
                      </a:r>
                      <a:endParaRPr/>
                    </a:p>
                  </a:txBody>
                  <a:tcPr marL="59600" marR="59600" marT="29800" marB="29800" anchor="ctr"/>
                </a:tc>
                <a:tc>
                  <a:txBody>
                    <a:bodyPr/>
                    <a:lstStyle/>
                    <a:p>
                      <a:pPr marL="0" marR="0" lvl="0" indent="0" algn="l" rtl="0">
                        <a:spcBef>
                          <a:spcPts val="0"/>
                        </a:spcBef>
                        <a:spcAft>
                          <a:spcPts val="0"/>
                        </a:spcAft>
                        <a:buNone/>
                      </a:pPr>
                      <a:r>
                        <a:rPr lang="en-US" sz="1800"/>
                        <a:t>0</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6.403124</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2"/>
                  </a:ext>
                </a:extLst>
              </a:tr>
              <a:tr h="278700">
                <a:tc>
                  <a:txBody>
                    <a:bodyPr/>
                    <a:lstStyle/>
                    <a:p>
                      <a:pPr marL="0" marR="0" lvl="0" indent="0" algn="l" rtl="0">
                        <a:spcBef>
                          <a:spcPts val="0"/>
                        </a:spcBef>
                        <a:spcAft>
                          <a:spcPts val="0"/>
                        </a:spcAft>
                        <a:buNone/>
                      </a:pPr>
                      <a:r>
                        <a:rPr lang="en-US" sz="1800"/>
                        <a:t>A3 (11,11)</a:t>
                      </a:r>
                      <a:endParaRPr/>
                    </a:p>
                  </a:txBody>
                  <a:tcPr marL="59600" marR="59600" marT="29800" marB="29800" anchor="ctr"/>
                </a:tc>
                <a:tc>
                  <a:txBody>
                    <a:bodyPr/>
                    <a:lstStyle/>
                    <a:p>
                      <a:pPr marL="0" marR="0" lvl="0" indent="0" algn="l" rtl="0">
                        <a:spcBef>
                          <a:spcPts val="0"/>
                        </a:spcBef>
                        <a:spcAft>
                          <a:spcPts val="0"/>
                        </a:spcAft>
                        <a:buNone/>
                      </a:pPr>
                      <a:r>
                        <a:rPr lang="en-US" sz="1800"/>
                        <a:t>10.29563</a:t>
                      </a:r>
                      <a:endParaRPr/>
                    </a:p>
                  </a:txBody>
                  <a:tcPr marL="59600" marR="59600" marT="29800" marB="29800" anchor="ctr"/>
                </a:tc>
                <a:tc>
                  <a:txBody>
                    <a:bodyPr/>
                    <a:lstStyle/>
                    <a:p>
                      <a:pPr marL="0" marR="0" lvl="0" indent="0" algn="l" rtl="0">
                        <a:spcBef>
                          <a:spcPts val="0"/>
                        </a:spcBef>
                        <a:spcAft>
                          <a:spcPts val="0"/>
                        </a:spcAft>
                        <a:buNone/>
                      </a:pPr>
                      <a:r>
                        <a:rPr lang="en-US" sz="1800"/>
                        <a:t>6.082763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3"/>
                  </a:ext>
                </a:extLst>
              </a:tr>
              <a:tr h="278700">
                <a:tc>
                  <a:txBody>
                    <a:bodyPr/>
                    <a:lstStyle/>
                    <a:p>
                      <a:pPr marL="0" marR="0" lvl="0" indent="0" algn="l" rtl="0">
                        <a:spcBef>
                          <a:spcPts val="0"/>
                        </a:spcBef>
                        <a:spcAft>
                          <a:spcPts val="0"/>
                        </a:spcAft>
                        <a:buNone/>
                      </a:pPr>
                      <a:r>
                        <a:rPr lang="en-US" sz="1800"/>
                        <a:t>A4 (6,9)</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2</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4"/>
                  </a:ext>
                </a:extLst>
              </a:tr>
              <a:tr h="278700">
                <a:tc>
                  <a:txBody>
                    <a:bodyPr/>
                    <a:lstStyle/>
                    <a:p>
                      <a:pPr marL="0" marR="0" lvl="0" indent="0" algn="l" rtl="0">
                        <a:spcBef>
                          <a:spcPts val="0"/>
                        </a:spcBef>
                        <a:spcAft>
                          <a:spcPts val="0"/>
                        </a:spcAft>
                        <a:buNone/>
                      </a:pPr>
                      <a:r>
                        <a:rPr lang="en-US" sz="1800"/>
                        <a:t>A5 (6,4)</a:t>
                      </a:r>
                      <a:endParaRPr/>
                    </a:p>
                  </a:txBody>
                  <a:tcPr marL="59600" marR="59600" marT="29800" marB="29800" anchor="ctr"/>
                </a:tc>
                <a:tc>
                  <a:txBody>
                    <a:bodyPr/>
                    <a:lstStyle/>
                    <a:p>
                      <a:pPr marL="0" marR="0" lvl="0" indent="0" algn="l" rtl="0">
                        <a:spcBef>
                          <a:spcPts val="0"/>
                        </a:spcBef>
                        <a:spcAft>
                          <a:spcPts val="0"/>
                        </a:spcAft>
                        <a:buNone/>
                      </a:pPr>
                      <a:r>
                        <a:rPr lang="en-US" sz="1800"/>
                        <a:t>4.472136</a:t>
                      </a:r>
                      <a:endParaRPr/>
                    </a:p>
                  </a:txBody>
                  <a:tcPr marL="59600" marR="59600" marT="29800" marB="29800" anchor="ctr"/>
                </a:tc>
                <a:tc>
                  <a:txBody>
                    <a:bodyPr/>
                    <a:lstStyle/>
                    <a:p>
                      <a:pPr marL="0" marR="0" lvl="0" indent="0" algn="l" rtl="0">
                        <a:spcBef>
                          <a:spcPts val="0"/>
                        </a:spcBef>
                        <a:spcAft>
                          <a:spcPts val="0"/>
                        </a:spcAft>
                        <a:buNone/>
                      </a:pPr>
                      <a:r>
                        <a:rPr lang="en-US" sz="1800"/>
                        <a:t>6.082763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7</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5"/>
                  </a:ext>
                </a:extLst>
              </a:tr>
              <a:tr h="278700">
                <a:tc>
                  <a:txBody>
                    <a:bodyPr/>
                    <a:lstStyle/>
                    <a:p>
                      <a:pPr marL="0" marR="0" lvl="0" indent="0" algn="l" rtl="0">
                        <a:spcBef>
                          <a:spcPts val="0"/>
                        </a:spcBef>
                        <a:spcAft>
                          <a:spcPts val="0"/>
                        </a:spcAft>
                        <a:buNone/>
                      </a:pPr>
                      <a:r>
                        <a:rPr lang="en-US" sz="1800"/>
                        <a:t>A6 (1,2)</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8.944272</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10.29563</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6"/>
                  </a:ext>
                </a:extLst>
              </a:tr>
              <a:tr h="278700">
                <a:tc>
                  <a:txBody>
                    <a:bodyPr/>
                    <a:lstStyle/>
                    <a:p>
                      <a:pPr marL="0" marR="0" lvl="0" indent="0" algn="l" rtl="0">
                        <a:spcBef>
                          <a:spcPts val="0"/>
                        </a:spcBef>
                        <a:spcAft>
                          <a:spcPts val="0"/>
                        </a:spcAft>
                        <a:buNone/>
                      </a:pPr>
                      <a:r>
                        <a:rPr lang="en-US" sz="1800"/>
                        <a:t>A7 (5,10)</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r>
                        <a:rPr lang="en-US" sz="1800"/>
                        <a:t>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7"/>
                  </a:ext>
                </a:extLst>
              </a:tr>
              <a:tr h="278700">
                <a:tc>
                  <a:txBody>
                    <a:bodyPr/>
                    <a:lstStyle/>
                    <a:p>
                      <a:pPr marL="0" marR="0" lvl="0" indent="0" algn="l" rtl="0">
                        <a:spcBef>
                          <a:spcPts val="0"/>
                        </a:spcBef>
                        <a:spcAft>
                          <a:spcPts val="0"/>
                        </a:spcAft>
                        <a:buNone/>
                      </a:pPr>
                      <a:r>
                        <a:rPr lang="en-US" sz="1800"/>
                        <a:t>A8 (4,9)</a:t>
                      </a:r>
                      <a:endParaRPr/>
                    </a:p>
                  </a:txBody>
                  <a:tcPr marL="59600" marR="59600" marT="29800" marB="29800" anchor="ctr"/>
                </a:tc>
                <a:tc>
                  <a:txBody>
                    <a:bodyPr/>
                    <a:lstStyle/>
                    <a:p>
                      <a:pPr marL="0" marR="0" lvl="0" indent="0" algn="l" rtl="0">
                        <a:spcBef>
                          <a:spcPts val="0"/>
                        </a:spcBef>
                        <a:spcAft>
                          <a:spcPts val="0"/>
                        </a:spcAft>
                        <a:buNone/>
                      </a:pPr>
                      <a:r>
                        <a:rPr lang="en-US" sz="1800"/>
                        <a:t>3.605551</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2.828427</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8"/>
                  </a:ext>
                </a:extLst>
              </a:tr>
              <a:tr h="278700">
                <a:tc>
                  <a:txBody>
                    <a:bodyPr/>
                    <a:lstStyle/>
                    <a:p>
                      <a:pPr marL="0" marR="0" lvl="0" indent="0" algn="l" rtl="0">
                        <a:spcBef>
                          <a:spcPts val="0"/>
                        </a:spcBef>
                        <a:spcAft>
                          <a:spcPts val="0"/>
                        </a:spcAft>
                        <a:buNone/>
                      </a:pPr>
                      <a:r>
                        <a:rPr lang="en-US" sz="1800"/>
                        <a:t>A9 (10,12)</a:t>
                      </a:r>
                      <a:endParaRPr/>
                    </a:p>
                  </a:txBody>
                  <a:tcPr marL="59600" marR="59600" marT="29800" marB="29800" anchor="ctr"/>
                </a:tc>
                <a:tc>
                  <a:txBody>
                    <a:bodyPr/>
                    <a:lstStyle/>
                    <a:p>
                      <a:pPr marL="0" marR="0" lvl="0" indent="0" algn="l" rtl="0">
                        <a:spcBef>
                          <a:spcPts val="0"/>
                        </a:spcBef>
                        <a:spcAft>
                          <a:spcPts val="0"/>
                        </a:spcAft>
                        <a:buNone/>
                      </a:pPr>
                      <a:r>
                        <a:rPr lang="en-US" sz="1800"/>
                        <a:t>10</a:t>
                      </a:r>
                      <a:endParaRPr/>
                    </a:p>
                  </a:txBody>
                  <a:tcPr marL="59600" marR="59600" marT="29800" marB="29800" anchor="ctr"/>
                </a:tc>
                <a:tc>
                  <a:txBody>
                    <a:bodyPr/>
                    <a:lstStyle/>
                    <a:p>
                      <a:pPr marL="0" marR="0" lvl="0" indent="0" algn="l" rtl="0">
                        <a:spcBef>
                          <a:spcPts val="0"/>
                        </a:spcBef>
                        <a:spcAft>
                          <a:spcPts val="0"/>
                        </a:spcAft>
                        <a:buNone/>
                      </a:pPr>
                      <a:r>
                        <a:rPr lang="en-US" sz="1800"/>
                        <a:t>5.385165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09"/>
                  </a:ext>
                </a:extLst>
              </a:tr>
              <a:tr h="278700">
                <a:tc>
                  <a:txBody>
                    <a:bodyPr/>
                    <a:lstStyle/>
                    <a:p>
                      <a:pPr marL="0" marR="0" lvl="0" indent="0" algn="l" rtl="0">
                        <a:spcBef>
                          <a:spcPts val="0"/>
                        </a:spcBef>
                        <a:spcAft>
                          <a:spcPts val="0"/>
                        </a:spcAft>
                        <a:buNone/>
                      </a:pPr>
                      <a:r>
                        <a:rPr lang="en-US" sz="1800"/>
                        <a:t>A10 (7,5)</a:t>
                      </a:r>
                      <a:endParaRPr/>
                    </a:p>
                  </a:txBody>
                  <a:tcPr marL="59600" marR="59600" marT="29800" marB="29800" anchor="ctr"/>
                </a:tc>
                <a:tc>
                  <a:txBody>
                    <a:bodyPr/>
                    <a:lstStyle/>
                    <a:p>
                      <a:pPr marL="0" marR="0" lvl="0" indent="0" algn="l" rtl="0">
                        <a:spcBef>
                          <a:spcPts val="0"/>
                        </a:spcBef>
                        <a:spcAft>
                          <a:spcPts val="0"/>
                        </a:spcAft>
                        <a:buNone/>
                      </a:pPr>
                      <a:r>
                        <a:rPr lang="en-US" sz="1800"/>
                        <a:t>5.09902</a:t>
                      </a:r>
                      <a:endParaRPr/>
                    </a:p>
                  </a:txBody>
                  <a:tcPr marL="59600" marR="59600" marT="29800" marB="29800" anchor="ctr"/>
                </a:tc>
                <a:tc>
                  <a:txBody>
                    <a:bodyPr/>
                    <a:lstStyle/>
                    <a:p>
                      <a:pPr marL="0" marR="0" lvl="0" indent="0" algn="l" rtl="0">
                        <a:spcBef>
                          <a:spcPts val="0"/>
                        </a:spcBef>
                        <a:spcAft>
                          <a:spcPts val="0"/>
                        </a:spcAft>
                        <a:buNone/>
                      </a:pPr>
                      <a:r>
                        <a:rPr lang="en-US" sz="1800"/>
                        <a:t>5.385165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6.082763</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10"/>
                  </a:ext>
                </a:extLst>
              </a:tr>
              <a:tr h="278700">
                <a:tc>
                  <a:txBody>
                    <a:bodyPr/>
                    <a:lstStyle/>
                    <a:p>
                      <a:pPr marL="0" marR="0" lvl="0" indent="0" algn="l" rtl="0">
                        <a:spcBef>
                          <a:spcPts val="0"/>
                        </a:spcBef>
                        <a:spcAft>
                          <a:spcPts val="0"/>
                        </a:spcAft>
                        <a:buNone/>
                      </a:pPr>
                      <a:r>
                        <a:rPr lang="en-US" sz="1800"/>
                        <a:t>A11 (9,11)</a:t>
                      </a:r>
                      <a:endParaRPr/>
                    </a:p>
                  </a:txBody>
                  <a:tcPr marL="59600" marR="59600" marT="29800" marB="29800" anchor="ctr"/>
                </a:tc>
                <a:tc>
                  <a:txBody>
                    <a:bodyPr/>
                    <a:lstStyle/>
                    <a:p>
                      <a:pPr marL="0" marR="0" lvl="0" indent="0" algn="l" rtl="0">
                        <a:spcBef>
                          <a:spcPts val="0"/>
                        </a:spcBef>
                        <a:spcAft>
                          <a:spcPts val="0"/>
                        </a:spcAft>
                        <a:buNone/>
                      </a:pPr>
                      <a:r>
                        <a:rPr lang="en-US" sz="1800"/>
                        <a:t>8.602325</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3</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11"/>
                  </a:ext>
                </a:extLst>
              </a:tr>
              <a:tr h="278700">
                <a:tc>
                  <a:txBody>
                    <a:bodyPr/>
                    <a:lstStyle/>
                    <a:p>
                      <a:pPr marL="0" marR="0" lvl="0" indent="0" algn="l" rtl="0">
                        <a:spcBef>
                          <a:spcPts val="0"/>
                        </a:spcBef>
                        <a:spcAft>
                          <a:spcPts val="0"/>
                        </a:spcAft>
                        <a:buNone/>
                      </a:pPr>
                      <a:r>
                        <a:rPr lang="en-US" sz="1800"/>
                        <a:t>A12 (4,6)</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5.385165</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12"/>
                  </a:ext>
                </a:extLst>
              </a:tr>
              <a:tr h="278700">
                <a:tc>
                  <a:txBody>
                    <a:bodyPr/>
                    <a:lstStyle/>
                    <a:p>
                      <a:pPr marL="0" marR="0" lvl="0" indent="0" algn="l" rtl="0">
                        <a:spcBef>
                          <a:spcPts val="0"/>
                        </a:spcBef>
                        <a:spcAft>
                          <a:spcPts val="0"/>
                        </a:spcAft>
                        <a:buNone/>
                      </a:pPr>
                      <a:r>
                        <a:rPr lang="en-US" sz="1800"/>
                        <a:t>A13 (3,10)</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3.162278</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13"/>
                  </a:ext>
                </a:extLst>
              </a:tr>
              <a:tr h="278700">
                <a:tc>
                  <a:txBody>
                    <a:bodyPr/>
                    <a:lstStyle/>
                    <a:p>
                      <a:pPr marL="0" marR="0" lvl="0" indent="0" algn="l" rtl="0">
                        <a:spcBef>
                          <a:spcPts val="0"/>
                        </a:spcBef>
                        <a:spcAft>
                          <a:spcPts val="0"/>
                        </a:spcAft>
                        <a:buNone/>
                      </a:pPr>
                      <a:r>
                        <a:rPr lang="en-US" sz="1800"/>
                        <a:t>A14 (3,8)</a:t>
                      </a:r>
                      <a:endParaRPr/>
                    </a:p>
                  </a:txBody>
                  <a:tcPr marL="59600" marR="59600" marT="29800" marB="29800" anchor="ctr"/>
                </a:tc>
                <a:tc>
                  <a:txBody>
                    <a:bodyPr/>
                    <a:lstStyle/>
                    <a:p>
                      <a:pPr marL="0" marR="0" lvl="0" indent="0" algn="l" rtl="0">
                        <a:spcBef>
                          <a:spcPts val="0"/>
                        </a:spcBef>
                        <a:spcAft>
                          <a:spcPts val="0"/>
                        </a:spcAft>
                        <a:buNone/>
                      </a:pPr>
                      <a:r>
                        <a:rPr lang="en-US" sz="1800"/>
                        <a:t>2.236068</a:t>
                      </a:r>
                      <a:endParaRPr/>
                    </a:p>
                  </a:txBody>
                  <a:tcPr marL="59600" marR="59600" marT="29800" marB="29800" anchor="ctr"/>
                </a:tc>
                <a:tc>
                  <a:txBody>
                    <a:bodyPr/>
                    <a:lstStyle/>
                    <a:p>
                      <a:pPr marL="0" marR="0" lvl="0" indent="0" algn="l" rtl="0">
                        <a:spcBef>
                          <a:spcPts val="0"/>
                        </a:spcBef>
                        <a:spcAft>
                          <a:spcPts val="0"/>
                        </a:spcAft>
                        <a:buNone/>
                      </a:pPr>
                      <a:r>
                        <a:rPr lang="en-US" sz="1800"/>
                        <a:t>2.828427</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4.242641</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14"/>
                  </a:ext>
                </a:extLst>
              </a:tr>
              <a:tr h="278700">
                <a:tc>
                  <a:txBody>
                    <a:bodyPr/>
                    <a:lstStyle/>
                    <a:p>
                      <a:pPr marL="0" marR="0" lvl="0" indent="0" algn="l" rtl="0">
                        <a:spcBef>
                          <a:spcPts val="0"/>
                        </a:spcBef>
                        <a:spcAft>
                          <a:spcPts val="0"/>
                        </a:spcAft>
                        <a:buNone/>
                      </a:pPr>
                      <a:r>
                        <a:rPr lang="en-US" sz="1800"/>
                        <a:t>A15 (6,11)</a:t>
                      </a:r>
                      <a:endParaRPr/>
                    </a:p>
                  </a:txBody>
                  <a:tcPr marL="59600" marR="59600" marT="29800" marB="29800" anchor="ctr"/>
                </a:tc>
                <a:tc>
                  <a:txBody>
                    <a:bodyPr/>
                    <a:lstStyle/>
                    <a:p>
                      <a:pPr marL="0" marR="0" lvl="0" indent="0" algn="l" rtl="0">
                        <a:spcBef>
                          <a:spcPts val="0"/>
                        </a:spcBef>
                        <a:spcAft>
                          <a:spcPts val="0"/>
                        </a:spcAft>
                        <a:buNone/>
                      </a:pPr>
                      <a:r>
                        <a:rPr lang="en-US" sz="1800"/>
                        <a:t>6.403124</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0</a:t>
                      </a:r>
                      <a:endParaRPr/>
                    </a:p>
                  </a:txBody>
                  <a:tcPr marL="59600" marR="59600" marT="29800" marB="29800" anchor="ctr"/>
                </a:tc>
                <a:tc>
                  <a:txBody>
                    <a:bodyPr/>
                    <a:lstStyle/>
                    <a:p>
                      <a:pPr marL="0" marR="0" lvl="0" indent="0" algn="l" rtl="0">
                        <a:spcBef>
                          <a:spcPts val="0"/>
                        </a:spcBef>
                        <a:spcAft>
                          <a:spcPts val="0"/>
                        </a:spcAft>
                        <a:buNone/>
                      </a:pPr>
                      <a:endParaRPr sz="1800"/>
                    </a:p>
                  </a:txBody>
                  <a:tcPr marL="59600" marR="59600" marT="29800" marB="29800" anchor="ctr"/>
                </a:tc>
                <a:extLst>
                  <a:ext uri="{0D108BD9-81ED-4DB2-BD59-A6C34878D82A}">
                    <a16:rowId xmlns:a16="http://schemas.microsoft.com/office/drawing/2014/main" val="10015"/>
                  </a:ext>
                </a:extLst>
              </a:tr>
            </a:tbl>
          </a:graphicData>
        </a:graphic>
      </p:graphicFrame>
      <p:sp>
        <p:nvSpPr>
          <p:cNvPr id="275" name="Google Shape;275;p25"/>
          <p:cNvSpPr/>
          <p:nvPr/>
        </p:nvSpPr>
        <p:spPr>
          <a:xfrm>
            <a:off x="8367347" y="1087538"/>
            <a:ext cx="3597126"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Euclidean Distance = </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√((x₂ - x₁)² + (y₂ - y₁)²)</a:t>
            </a:r>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(x₁, y₁) = (5, 10)</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(x₂, y₂) = (2, 10)</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rgbClr val="FFC000"/>
                </a:solidFill>
                <a:latin typeface="Calibri"/>
                <a:ea typeface="Calibri"/>
                <a:cs typeface="Calibri"/>
                <a:sym typeface="Calibri"/>
              </a:rPr>
              <a:t>Euclidean Distance C2</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√((5 - 2)² + (10 - 10)²)</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√(3² + 0²)</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√(9 + 0)</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√9</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3</a:t>
            </a: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cxnSp>
        <p:nvCxnSpPr>
          <p:cNvPr id="280" name="Google Shape;280;p26"/>
          <p:cNvCxnSpPr/>
          <p:nvPr/>
        </p:nvCxnSpPr>
        <p:spPr>
          <a:xfrm>
            <a:off x="785611" y="722823"/>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81" name="Google Shape;281;p26"/>
          <p:cNvSpPr txBox="1"/>
          <p:nvPr/>
        </p:nvSpPr>
        <p:spPr>
          <a:xfrm>
            <a:off x="656823" y="-26322"/>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282" name="Google Shape;282;p26"/>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283" name="Google Shape;283;p26"/>
          <p:cNvGraphicFramePr/>
          <p:nvPr/>
        </p:nvGraphicFramePr>
        <p:xfrm>
          <a:off x="173249" y="747301"/>
          <a:ext cx="8065125" cy="5899375"/>
        </p:xfrm>
        <a:graphic>
          <a:graphicData uri="http://schemas.openxmlformats.org/drawingml/2006/table">
            <a:tbl>
              <a:tblPr>
                <a:noFill/>
                <a:tableStyleId>{08B953BB-13DD-4FB7-82F3-D155A25E974E}</a:tableStyleId>
              </a:tblPr>
              <a:tblGrid>
                <a:gridCol w="1613025">
                  <a:extLst>
                    <a:ext uri="{9D8B030D-6E8A-4147-A177-3AD203B41FA5}">
                      <a16:colId xmlns:a16="http://schemas.microsoft.com/office/drawing/2014/main" val="20000"/>
                    </a:ext>
                  </a:extLst>
                </a:gridCol>
                <a:gridCol w="1613025">
                  <a:extLst>
                    <a:ext uri="{9D8B030D-6E8A-4147-A177-3AD203B41FA5}">
                      <a16:colId xmlns:a16="http://schemas.microsoft.com/office/drawing/2014/main" val="20001"/>
                    </a:ext>
                  </a:extLst>
                </a:gridCol>
                <a:gridCol w="1613025">
                  <a:extLst>
                    <a:ext uri="{9D8B030D-6E8A-4147-A177-3AD203B41FA5}">
                      <a16:colId xmlns:a16="http://schemas.microsoft.com/office/drawing/2014/main" val="20002"/>
                    </a:ext>
                  </a:extLst>
                </a:gridCol>
                <a:gridCol w="1613025">
                  <a:extLst>
                    <a:ext uri="{9D8B030D-6E8A-4147-A177-3AD203B41FA5}">
                      <a16:colId xmlns:a16="http://schemas.microsoft.com/office/drawing/2014/main" val="20003"/>
                    </a:ext>
                  </a:extLst>
                </a:gridCol>
                <a:gridCol w="1613025">
                  <a:extLst>
                    <a:ext uri="{9D8B030D-6E8A-4147-A177-3AD203B41FA5}">
                      <a16:colId xmlns:a16="http://schemas.microsoft.com/office/drawing/2014/main" val="20004"/>
                    </a:ext>
                  </a:extLst>
                </a:gridCol>
              </a:tblGrid>
              <a:tr h="890575">
                <a:tc>
                  <a:txBody>
                    <a:bodyPr/>
                    <a:lstStyle/>
                    <a:p>
                      <a:pPr marL="0" marR="0" lvl="0" indent="0" algn="l" rtl="0">
                        <a:spcBef>
                          <a:spcPts val="0"/>
                        </a:spcBef>
                        <a:spcAft>
                          <a:spcPts val="0"/>
                        </a:spcAft>
                        <a:buNone/>
                      </a:pPr>
                      <a:r>
                        <a:rPr lang="en-US" sz="1800" b="1">
                          <a:solidFill>
                            <a:srgbClr val="FFC000"/>
                          </a:solidFill>
                        </a:rPr>
                        <a:t>Point</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1 (2,6)</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2 (5,10)</a:t>
                      </a:r>
                      <a:endParaRPr/>
                    </a:p>
                  </a:txBody>
                  <a:tcPr marL="59600" marR="59600" marT="29800" marB="29800" anchor="ctr"/>
                </a:tc>
                <a:tc>
                  <a:txBody>
                    <a:bodyPr/>
                    <a:lstStyle/>
                    <a:p>
                      <a:pPr marL="0" marR="0" lvl="0" indent="0" algn="l" rtl="0">
                        <a:spcBef>
                          <a:spcPts val="0"/>
                        </a:spcBef>
                        <a:spcAft>
                          <a:spcPts val="0"/>
                        </a:spcAft>
                        <a:buNone/>
                      </a:pPr>
                      <a:r>
                        <a:rPr lang="en-US" sz="1800" b="1">
                          <a:solidFill>
                            <a:srgbClr val="FFC000"/>
                          </a:solidFill>
                        </a:rPr>
                        <a:t>Distance from Centroid 3 (6,11)</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b="1">
                          <a:solidFill>
                            <a:srgbClr val="FFC000"/>
                          </a:solidFill>
                        </a:rPr>
                        <a:t>Assigned Cluster</a:t>
                      </a:r>
                      <a:endParaRPr/>
                    </a:p>
                  </a:txBody>
                  <a:tcPr marL="59600" marR="59600" marT="29800" marB="29800" anchor="ctr"/>
                </a:tc>
                <a:extLst>
                  <a:ext uri="{0D108BD9-81ED-4DB2-BD59-A6C34878D82A}">
                    <a16:rowId xmlns:a16="http://schemas.microsoft.com/office/drawing/2014/main" val="10000"/>
                  </a:ext>
                </a:extLst>
              </a:tr>
              <a:tr h="278700">
                <a:tc>
                  <a:txBody>
                    <a:bodyPr/>
                    <a:lstStyle/>
                    <a:p>
                      <a:pPr marL="0" marR="0" lvl="0" indent="0" algn="l" rtl="0">
                        <a:spcBef>
                          <a:spcPts val="0"/>
                        </a:spcBef>
                        <a:spcAft>
                          <a:spcPts val="0"/>
                        </a:spcAft>
                        <a:buNone/>
                      </a:pPr>
                      <a:r>
                        <a:rPr lang="en-US" sz="1800"/>
                        <a:t>A1 (2,10)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2</a:t>
                      </a:r>
                      <a:endParaRPr/>
                    </a:p>
                  </a:txBody>
                  <a:tcPr marL="59600" marR="59600" marT="29800" marB="29800" anchor="ctr">
                    <a:solidFill>
                      <a:srgbClr val="002060"/>
                    </a:solidFill>
                  </a:tcPr>
                </a:tc>
                <a:extLst>
                  <a:ext uri="{0D108BD9-81ED-4DB2-BD59-A6C34878D82A}">
                    <a16:rowId xmlns:a16="http://schemas.microsoft.com/office/drawing/2014/main" val="10001"/>
                  </a:ext>
                </a:extLst>
              </a:tr>
              <a:tr h="278700">
                <a:tc>
                  <a:txBody>
                    <a:bodyPr/>
                    <a:lstStyle/>
                    <a:p>
                      <a:pPr marL="0" marR="0" lvl="0" indent="0" algn="l" rtl="0">
                        <a:spcBef>
                          <a:spcPts val="0"/>
                        </a:spcBef>
                        <a:spcAft>
                          <a:spcPts val="0"/>
                        </a:spcAft>
                        <a:buNone/>
                      </a:pPr>
                      <a:r>
                        <a:rPr lang="en-US" sz="1800"/>
                        <a:t>A2 (2,6)</a:t>
                      </a:r>
                      <a:endParaRPr/>
                    </a:p>
                  </a:txBody>
                  <a:tcPr marL="59600" marR="59600" marT="29800" marB="29800" anchor="ctr"/>
                </a:tc>
                <a:tc>
                  <a:txBody>
                    <a:bodyPr/>
                    <a:lstStyle/>
                    <a:p>
                      <a:pPr marL="0" marR="0" lvl="0" indent="0" algn="l" rtl="0">
                        <a:spcBef>
                          <a:spcPts val="0"/>
                        </a:spcBef>
                        <a:spcAft>
                          <a:spcPts val="0"/>
                        </a:spcAft>
                        <a:buNone/>
                      </a:pPr>
                      <a:r>
                        <a:rPr lang="en-US" sz="1800"/>
                        <a:t>0</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r>
                        <a:rPr lang="en-US" sz="1800"/>
                        <a:t>6.403124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1</a:t>
                      </a:r>
                      <a:endParaRPr/>
                    </a:p>
                  </a:txBody>
                  <a:tcPr marL="59600" marR="59600" marT="29800" marB="29800" anchor="ctr">
                    <a:solidFill>
                      <a:srgbClr val="FFC000"/>
                    </a:solidFill>
                  </a:tcPr>
                </a:tc>
                <a:extLst>
                  <a:ext uri="{0D108BD9-81ED-4DB2-BD59-A6C34878D82A}">
                    <a16:rowId xmlns:a16="http://schemas.microsoft.com/office/drawing/2014/main" val="10002"/>
                  </a:ext>
                </a:extLst>
              </a:tr>
              <a:tr h="278700">
                <a:tc>
                  <a:txBody>
                    <a:bodyPr/>
                    <a:lstStyle/>
                    <a:p>
                      <a:pPr marL="0" marR="0" lvl="0" indent="0" algn="l" rtl="0">
                        <a:spcBef>
                          <a:spcPts val="0"/>
                        </a:spcBef>
                        <a:spcAft>
                          <a:spcPts val="0"/>
                        </a:spcAft>
                        <a:buNone/>
                      </a:pPr>
                      <a:r>
                        <a:rPr lang="en-US" sz="1800"/>
                        <a:t>A3 (11,11)</a:t>
                      </a:r>
                      <a:endParaRPr/>
                    </a:p>
                  </a:txBody>
                  <a:tcPr marL="59600" marR="59600" marT="29800" marB="29800" anchor="ctr"/>
                </a:tc>
                <a:tc>
                  <a:txBody>
                    <a:bodyPr/>
                    <a:lstStyle/>
                    <a:p>
                      <a:pPr marL="0" marR="0" lvl="0" indent="0" algn="l" rtl="0">
                        <a:spcBef>
                          <a:spcPts val="0"/>
                        </a:spcBef>
                        <a:spcAft>
                          <a:spcPts val="0"/>
                        </a:spcAft>
                        <a:buNone/>
                      </a:pPr>
                      <a:r>
                        <a:rPr lang="en-US" sz="1800"/>
                        <a:t>10.29563</a:t>
                      </a:r>
                      <a:endParaRPr/>
                    </a:p>
                  </a:txBody>
                  <a:tcPr marL="59600" marR="59600" marT="29800" marB="29800" anchor="ctr"/>
                </a:tc>
                <a:tc>
                  <a:txBody>
                    <a:bodyPr/>
                    <a:lstStyle/>
                    <a:p>
                      <a:pPr marL="0" marR="0" lvl="0" indent="0" algn="l" rtl="0">
                        <a:spcBef>
                          <a:spcPts val="0"/>
                        </a:spcBef>
                        <a:spcAft>
                          <a:spcPts val="0"/>
                        </a:spcAft>
                        <a:buNone/>
                      </a:pPr>
                      <a:r>
                        <a:rPr lang="en-US" sz="1800"/>
                        <a:t>6.082763</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3</a:t>
                      </a:r>
                      <a:endParaRPr/>
                    </a:p>
                  </a:txBody>
                  <a:tcPr marL="59600" marR="59600" marT="29800" marB="29800" anchor="ctr"/>
                </a:tc>
                <a:extLst>
                  <a:ext uri="{0D108BD9-81ED-4DB2-BD59-A6C34878D82A}">
                    <a16:rowId xmlns:a16="http://schemas.microsoft.com/office/drawing/2014/main" val="10003"/>
                  </a:ext>
                </a:extLst>
              </a:tr>
              <a:tr h="278700">
                <a:tc>
                  <a:txBody>
                    <a:bodyPr/>
                    <a:lstStyle/>
                    <a:p>
                      <a:pPr marL="0" marR="0" lvl="0" indent="0" algn="l" rtl="0">
                        <a:spcBef>
                          <a:spcPts val="0"/>
                        </a:spcBef>
                        <a:spcAft>
                          <a:spcPts val="0"/>
                        </a:spcAft>
                        <a:buNone/>
                      </a:pPr>
                      <a:r>
                        <a:rPr lang="en-US" sz="1800"/>
                        <a:t>A4 (6,9)</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2</a:t>
                      </a:r>
                      <a:endParaRPr/>
                    </a:p>
                  </a:txBody>
                  <a:tcPr marL="59600" marR="59600" marT="29800" marB="29800" anchor="ctr"/>
                </a:tc>
                <a:extLst>
                  <a:ext uri="{0D108BD9-81ED-4DB2-BD59-A6C34878D82A}">
                    <a16:rowId xmlns:a16="http://schemas.microsoft.com/office/drawing/2014/main" val="10004"/>
                  </a:ext>
                </a:extLst>
              </a:tr>
              <a:tr h="278700">
                <a:tc>
                  <a:txBody>
                    <a:bodyPr/>
                    <a:lstStyle/>
                    <a:p>
                      <a:pPr marL="0" marR="0" lvl="0" indent="0" algn="l" rtl="0">
                        <a:spcBef>
                          <a:spcPts val="0"/>
                        </a:spcBef>
                        <a:spcAft>
                          <a:spcPts val="0"/>
                        </a:spcAft>
                        <a:buNone/>
                      </a:pPr>
                      <a:r>
                        <a:rPr lang="en-US" sz="1800"/>
                        <a:t>A5 (6,4)</a:t>
                      </a:r>
                      <a:endParaRPr/>
                    </a:p>
                  </a:txBody>
                  <a:tcPr marL="59600" marR="59600" marT="29800" marB="29800" anchor="ctr"/>
                </a:tc>
                <a:tc>
                  <a:txBody>
                    <a:bodyPr/>
                    <a:lstStyle/>
                    <a:p>
                      <a:pPr marL="0" marR="0" lvl="0" indent="0" algn="l" rtl="0">
                        <a:spcBef>
                          <a:spcPts val="0"/>
                        </a:spcBef>
                        <a:spcAft>
                          <a:spcPts val="0"/>
                        </a:spcAft>
                        <a:buNone/>
                      </a:pPr>
                      <a:r>
                        <a:rPr lang="en-US" sz="1800"/>
                        <a:t>4.472136</a:t>
                      </a:r>
                      <a:endParaRPr/>
                    </a:p>
                  </a:txBody>
                  <a:tcPr marL="59600" marR="59600" marT="29800" marB="29800" anchor="ctr"/>
                </a:tc>
                <a:tc>
                  <a:txBody>
                    <a:bodyPr/>
                    <a:lstStyle/>
                    <a:p>
                      <a:pPr marL="0" marR="0" lvl="0" indent="0" algn="l" rtl="0">
                        <a:spcBef>
                          <a:spcPts val="0"/>
                        </a:spcBef>
                        <a:spcAft>
                          <a:spcPts val="0"/>
                        </a:spcAft>
                        <a:buNone/>
                      </a:pPr>
                      <a:r>
                        <a:rPr lang="en-US" sz="1800"/>
                        <a:t>6.082763</a:t>
                      </a:r>
                      <a:endParaRPr/>
                    </a:p>
                  </a:txBody>
                  <a:tcPr marL="59600" marR="59600" marT="29800" marB="29800" anchor="ctr"/>
                </a:tc>
                <a:tc>
                  <a:txBody>
                    <a:bodyPr/>
                    <a:lstStyle/>
                    <a:p>
                      <a:pPr marL="0" marR="0" lvl="0" indent="0" algn="l" rtl="0">
                        <a:spcBef>
                          <a:spcPts val="0"/>
                        </a:spcBef>
                        <a:spcAft>
                          <a:spcPts val="0"/>
                        </a:spcAft>
                        <a:buNone/>
                      </a:pPr>
                      <a:r>
                        <a:rPr lang="en-US" sz="1800"/>
                        <a:t>7</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1</a:t>
                      </a:r>
                      <a:endParaRPr/>
                    </a:p>
                  </a:txBody>
                  <a:tcPr marL="59600" marR="59600" marT="29800" marB="29800" anchor="ctr">
                    <a:solidFill>
                      <a:srgbClr val="FFC000"/>
                    </a:solidFill>
                  </a:tcPr>
                </a:tc>
                <a:extLst>
                  <a:ext uri="{0D108BD9-81ED-4DB2-BD59-A6C34878D82A}">
                    <a16:rowId xmlns:a16="http://schemas.microsoft.com/office/drawing/2014/main" val="10005"/>
                  </a:ext>
                </a:extLst>
              </a:tr>
              <a:tr h="278700">
                <a:tc>
                  <a:txBody>
                    <a:bodyPr/>
                    <a:lstStyle/>
                    <a:p>
                      <a:pPr marL="0" marR="0" lvl="0" indent="0" algn="l" rtl="0">
                        <a:spcBef>
                          <a:spcPts val="0"/>
                        </a:spcBef>
                        <a:spcAft>
                          <a:spcPts val="0"/>
                        </a:spcAft>
                        <a:buNone/>
                      </a:pPr>
                      <a:r>
                        <a:rPr lang="en-US" sz="1800"/>
                        <a:t>A6 (1,2)</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8.944272</a:t>
                      </a:r>
                      <a:endParaRPr/>
                    </a:p>
                  </a:txBody>
                  <a:tcPr marL="59600" marR="59600" marT="29800" marB="29800" anchor="ctr"/>
                </a:tc>
                <a:tc>
                  <a:txBody>
                    <a:bodyPr/>
                    <a:lstStyle/>
                    <a:p>
                      <a:pPr marL="0" marR="0" lvl="0" indent="0" algn="l" rtl="0">
                        <a:spcBef>
                          <a:spcPts val="0"/>
                        </a:spcBef>
                        <a:spcAft>
                          <a:spcPts val="0"/>
                        </a:spcAft>
                        <a:buNone/>
                      </a:pPr>
                      <a:r>
                        <a:rPr lang="en-US" sz="1800"/>
                        <a:t>10.29563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1</a:t>
                      </a:r>
                      <a:endParaRPr/>
                    </a:p>
                  </a:txBody>
                  <a:tcPr marL="59600" marR="59600" marT="29800" marB="29800" anchor="ctr">
                    <a:solidFill>
                      <a:srgbClr val="FFC000"/>
                    </a:solidFill>
                  </a:tcPr>
                </a:tc>
                <a:extLst>
                  <a:ext uri="{0D108BD9-81ED-4DB2-BD59-A6C34878D82A}">
                    <a16:rowId xmlns:a16="http://schemas.microsoft.com/office/drawing/2014/main" val="10006"/>
                  </a:ext>
                </a:extLst>
              </a:tr>
              <a:tr h="278700">
                <a:tc>
                  <a:txBody>
                    <a:bodyPr/>
                    <a:lstStyle/>
                    <a:p>
                      <a:pPr marL="0" marR="0" lvl="0" indent="0" algn="l" rtl="0">
                        <a:spcBef>
                          <a:spcPts val="0"/>
                        </a:spcBef>
                        <a:spcAft>
                          <a:spcPts val="0"/>
                        </a:spcAft>
                        <a:buNone/>
                      </a:pPr>
                      <a:r>
                        <a:rPr lang="en-US" sz="1800"/>
                        <a:t>A7 (5,10)</a:t>
                      </a:r>
                      <a:endParaRPr/>
                    </a:p>
                  </a:txBody>
                  <a:tcPr marL="59600" marR="59600" marT="29800" marB="29800" anchor="ctr"/>
                </a:tc>
                <a:tc>
                  <a:txBody>
                    <a:bodyPr/>
                    <a:lstStyle/>
                    <a:p>
                      <a:pPr marL="0" marR="0" lvl="0" indent="0" algn="l" rtl="0">
                        <a:spcBef>
                          <a:spcPts val="0"/>
                        </a:spcBef>
                        <a:spcAft>
                          <a:spcPts val="0"/>
                        </a:spcAft>
                        <a:buNone/>
                      </a:pPr>
                      <a:r>
                        <a:rPr lang="en-US" sz="1800"/>
                        <a:t>5</a:t>
                      </a:r>
                      <a:endParaRPr/>
                    </a:p>
                  </a:txBody>
                  <a:tcPr marL="59600" marR="59600" marT="29800" marB="29800" anchor="ctr"/>
                </a:tc>
                <a:tc>
                  <a:txBody>
                    <a:bodyPr/>
                    <a:lstStyle/>
                    <a:p>
                      <a:pPr marL="0" marR="0" lvl="0" indent="0" algn="l" rtl="0">
                        <a:spcBef>
                          <a:spcPts val="0"/>
                        </a:spcBef>
                        <a:spcAft>
                          <a:spcPts val="0"/>
                        </a:spcAft>
                        <a:buNone/>
                      </a:pPr>
                      <a:r>
                        <a:rPr lang="en-US" sz="1800"/>
                        <a:t>0</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2</a:t>
                      </a:r>
                      <a:endParaRPr/>
                    </a:p>
                  </a:txBody>
                  <a:tcPr marL="59600" marR="59600" marT="29800" marB="29800" anchor="ctr"/>
                </a:tc>
                <a:extLst>
                  <a:ext uri="{0D108BD9-81ED-4DB2-BD59-A6C34878D82A}">
                    <a16:rowId xmlns:a16="http://schemas.microsoft.com/office/drawing/2014/main" val="10007"/>
                  </a:ext>
                </a:extLst>
              </a:tr>
              <a:tr h="278700">
                <a:tc>
                  <a:txBody>
                    <a:bodyPr/>
                    <a:lstStyle/>
                    <a:p>
                      <a:pPr marL="0" marR="0" lvl="0" indent="0" algn="l" rtl="0">
                        <a:spcBef>
                          <a:spcPts val="0"/>
                        </a:spcBef>
                        <a:spcAft>
                          <a:spcPts val="0"/>
                        </a:spcAft>
                        <a:buNone/>
                      </a:pPr>
                      <a:r>
                        <a:rPr lang="en-US" sz="1800"/>
                        <a:t>A8 (4,9)</a:t>
                      </a:r>
                      <a:endParaRPr/>
                    </a:p>
                  </a:txBody>
                  <a:tcPr marL="59600" marR="59600" marT="29800" marB="29800" anchor="ctr"/>
                </a:tc>
                <a:tc>
                  <a:txBody>
                    <a:bodyPr/>
                    <a:lstStyle/>
                    <a:p>
                      <a:pPr marL="0" marR="0" lvl="0" indent="0" algn="l" rtl="0">
                        <a:spcBef>
                          <a:spcPts val="0"/>
                        </a:spcBef>
                        <a:spcAft>
                          <a:spcPts val="0"/>
                        </a:spcAft>
                        <a:buNone/>
                      </a:pPr>
                      <a:r>
                        <a:rPr lang="en-US" sz="1800"/>
                        <a:t>3.605551</a:t>
                      </a:r>
                      <a:endParaRPr/>
                    </a:p>
                  </a:txBody>
                  <a:tcPr marL="59600" marR="59600" marT="29800" marB="29800" anchor="ctr"/>
                </a:tc>
                <a:tc>
                  <a:txBody>
                    <a:bodyPr/>
                    <a:lstStyle/>
                    <a:p>
                      <a:pPr marL="0" marR="0" lvl="0" indent="0" algn="l" rtl="0">
                        <a:spcBef>
                          <a:spcPts val="0"/>
                        </a:spcBef>
                        <a:spcAft>
                          <a:spcPts val="0"/>
                        </a:spcAft>
                        <a:buNone/>
                      </a:pPr>
                      <a:r>
                        <a:rPr lang="en-US" sz="1800"/>
                        <a:t>1.414214</a:t>
                      </a:r>
                      <a:endParaRPr/>
                    </a:p>
                  </a:txBody>
                  <a:tcPr marL="59600" marR="59600" marT="29800" marB="29800" anchor="ctr"/>
                </a:tc>
                <a:tc>
                  <a:txBody>
                    <a:bodyPr/>
                    <a:lstStyle/>
                    <a:p>
                      <a:pPr marL="0" marR="0" lvl="0" indent="0" algn="l" rtl="0">
                        <a:spcBef>
                          <a:spcPts val="0"/>
                        </a:spcBef>
                        <a:spcAft>
                          <a:spcPts val="0"/>
                        </a:spcAft>
                        <a:buNone/>
                      </a:pPr>
                      <a:r>
                        <a:rPr lang="en-US" sz="1800"/>
                        <a:t>2.828427</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2</a:t>
                      </a:r>
                      <a:endParaRPr/>
                    </a:p>
                  </a:txBody>
                  <a:tcPr marL="59600" marR="59600" marT="29800" marB="29800" anchor="ctr"/>
                </a:tc>
                <a:extLst>
                  <a:ext uri="{0D108BD9-81ED-4DB2-BD59-A6C34878D82A}">
                    <a16:rowId xmlns:a16="http://schemas.microsoft.com/office/drawing/2014/main" val="10008"/>
                  </a:ext>
                </a:extLst>
              </a:tr>
              <a:tr h="278700">
                <a:tc>
                  <a:txBody>
                    <a:bodyPr/>
                    <a:lstStyle/>
                    <a:p>
                      <a:pPr marL="0" marR="0" lvl="0" indent="0" algn="l" rtl="0">
                        <a:spcBef>
                          <a:spcPts val="0"/>
                        </a:spcBef>
                        <a:spcAft>
                          <a:spcPts val="0"/>
                        </a:spcAft>
                        <a:buNone/>
                      </a:pPr>
                      <a:r>
                        <a:rPr lang="en-US" sz="1800"/>
                        <a:t>A9 (10,12)</a:t>
                      </a:r>
                      <a:endParaRPr/>
                    </a:p>
                  </a:txBody>
                  <a:tcPr marL="59600" marR="59600" marT="29800" marB="29800" anchor="ctr"/>
                </a:tc>
                <a:tc>
                  <a:txBody>
                    <a:bodyPr/>
                    <a:lstStyle/>
                    <a:p>
                      <a:pPr marL="0" marR="0" lvl="0" indent="0" algn="l" rtl="0">
                        <a:spcBef>
                          <a:spcPts val="0"/>
                        </a:spcBef>
                        <a:spcAft>
                          <a:spcPts val="0"/>
                        </a:spcAft>
                        <a:buNone/>
                      </a:pPr>
                      <a:r>
                        <a:rPr lang="en-US" sz="1800"/>
                        <a:t>10</a:t>
                      </a:r>
                      <a:endParaRPr/>
                    </a:p>
                  </a:txBody>
                  <a:tcPr marL="59600" marR="59600" marT="29800" marB="29800" anchor="ctr"/>
                </a:tc>
                <a:tc>
                  <a:txBody>
                    <a:bodyPr/>
                    <a:lstStyle/>
                    <a:p>
                      <a:pPr marL="0" marR="0" lvl="0" indent="0" algn="l" rtl="0">
                        <a:spcBef>
                          <a:spcPts val="0"/>
                        </a:spcBef>
                        <a:spcAft>
                          <a:spcPts val="0"/>
                        </a:spcAft>
                        <a:buNone/>
                      </a:pPr>
                      <a:r>
                        <a:rPr lang="en-US" sz="1800"/>
                        <a:t>5.385165</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3</a:t>
                      </a:r>
                      <a:endParaRPr/>
                    </a:p>
                  </a:txBody>
                  <a:tcPr marL="59600" marR="59600" marT="29800" marB="29800" anchor="ctr"/>
                </a:tc>
                <a:extLst>
                  <a:ext uri="{0D108BD9-81ED-4DB2-BD59-A6C34878D82A}">
                    <a16:rowId xmlns:a16="http://schemas.microsoft.com/office/drawing/2014/main" val="10009"/>
                  </a:ext>
                </a:extLst>
              </a:tr>
              <a:tr h="278700">
                <a:tc>
                  <a:txBody>
                    <a:bodyPr/>
                    <a:lstStyle/>
                    <a:p>
                      <a:pPr marL="0" marR="0" lvl="0" indent="0" algn="l" rtl="0">
                        <a:spcBef>
                          <a:spcPts val="0"/>
                        </a:spcBef>
                        <a:spcAft>
                          <a:spcPts val="0"/>
                        </a:spcAft>
                        <a:buNone/>
                      </a:pPr>
                      <a:r>
                        <a:rPr lang="en-US" sz="1800"/>
                        <a:t>A10 (7,5)</a:t>
                      </a:r>
                      <a:endParaRPr/>
                    </a:p>
                  </a:txBody>
                  <a:tcPr marL="59600" marR="59600" marT="29800" marB="29800" anchor="ctr"/>
                </a:tc>
                <a:tc>
                  <a:txBody>
                    <a:bodyPr/>
                    <a:lstStyle/>
                    <a:p>
                      <a:pPr marL="0" marR="0" lvl="0" indent="0" algn="l" rtl="0">
                        <a:spcBef>
                          <a:spcPts val="0"/>
                        </a:spcBef>
                        <a:spcAft>
                          <a:spcPts val="0"/>
                        </a:spcAft>
                        <a:buNone/>
                      </a:pPr>
                      <a:r>
                        <a:rPr lang="en-US" sz="1800"/>
                        <a:t>5.09902</a:t>
                      </a:r>
                      <a:endParaRPr/>
                    </a:p>
                  </a:txBody>
                  <a:tcPr marL="59600" marR="59600" marT="29800" marB="29800" anchor="ctr"/>
                </a:tc>
                <a:tc>
                  <a:txBody>
                    <a:bodyPr/>
                    <a:lstStyle/>
                    <a:p>
                      <a:pPr marL="0" marR="0" lvl="0" indent="0" algn="l" rtl="0">
                        <a:spcBef>
                          <a:spcPts val="0"/>
                        </a:spcBef>
                        <a:spcAft>
                          <a:spcPts val="0"/>
                        </a:spcAft>
                        <a:buNone/>
                      </a:pPr>
                      <a:r>
                        <a:rPr lang="en-US" sz="1800"/>
                        <a:t>5.385165</a:t>
                      </a:r>
                      <a:endParaRPr/>
                    </a:p>
                  </a:txBody>
                  <a:tcPr marL="59600" marR="59600" marT="29800" marB="29800" anchor="ctr"/>
                </a:tc>
                <a:tc>
                  <a:txBody>
                    <a:bodyPr/>
                    <a:lstStyle/>
                    <a:p>
                      <a:pPr marL="0" marR="0" lvl="0" indent="0" algn="l" rtl="0">
                        <a:spcBef>
                          <a:spcPts val="0"/>
                        </a:spcBef>
                        <a:spcAft>
                          <a:spcPts val="0"/>
                        </a:spcAft>
                        <a:buNone/>
                      </a:pPr>
                      <a:r>
                        <a:rPr lang="en-US" sz="1800"/>
                        <a:t>6.082763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1</a:t>
                      </a:r>
                      <a:endParaRPr/>
                    </a:p>
                  </a:txBody>
                  <a:tcPr marL="59600" marR="59600" marT="29800" marB="29800" anchor="ctr">
                    <a:solidFill>
                      <a:srgbClr val="FFC000"/>
                    </a:solidFill>
                  </a:tcPr>
                </a:tc>
                <a:extLst>
                  <a:ext uri="{0D108BD9-81ED-4DB2-BD59-A6C34878D82A}">
                    <a16:rowId xmlns:a16="http://schemas.microsoft.com/office/drawing/2014/main" val="10010"/>
                  </a:ext>
                </a:extLst>
              </a:tr>
              <a:tr h="278700">
                <a:tc>
                  <a:txBody>
                    <a:bodyPr/>
                    <a:lstStyle/>
                    <a:p>
                      <a:pPr marL="0" marR="0" lvl="0" indent="0" algn="l" rtl="0">
                        <a:spcBef>
                          <a:spcPts val="0"/>
                        </a:spcBef>
                        <a:spcAft>
                          <a:spcPts val="0"/>
                        </a:spcAft>
                        <a:buNone/>
                      </a:pPr>
                      <a:r>
                        <a:rPr lang="en-US" sz="1800"/>
                        <a:t>A11 (9,11)</a:t>
                      </a:r>
                      <a:endParaRPr/>
                    </a:p>
                  </a:txBody>
                  <a:tcPr marL="59600" marR="59600" marT="29800" marB="29800" anchor="ctr"/>
                </a:tc>
                <a:tc>
                  <a:txBody>
                    <a:bodyPr/>
                    <a:lstStyle/>
                    <a:p>
                      <a:pPr marL="0" marR="0" lvl="0" indent="0" algn="l" rtl="0">
                        <a:spcBef>
                          <a:spcPts val="0"/>
                        </a:spcBef>
                        <a:spcAft>
                          <a:spcPts val="0"/>
                        </a:spcAft>
                        <a:buNone/>
                      </a:pPr>
                      <a:r>
                        <a:rPr lang="en-US" sz="1800"/>
                        <a:t>8.602325</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3</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3</a:t>
                      </a:r>
                      <a:endParaRPr/>
                    </a:p>
                  </a:txBody>
                  <a:tcPr marL="59600" marR="59600" marT="29800" marB="29800" anchor="ctr"/>
                </a:tc>
                <a:extLst>
                  <a:ext uri="{0D108BD9-81ED-4DB2-BD59-A6C34878D82A}">
                    <a16:rowId xmlns:a16="http://schemas.microsoft.com/office/drawing/2014/main" val="10011"/>
                  </a:ext>
                </a:extLst>
              </a:tr>
              <a:tr h="278700">
                <a:tc>
                  <a:txBody>
                    <a:bodyPr/>
                    <a:lstStyle/>
                    <a:p>
                      <a:pPr marL="0" marR="0" lvl="0" indent="0" algn="l" rtl="0">
                        <a:spcBef>
                          <a:spcPts val="0"/>
                        </a:spcBef>
                        <a:spcAft>
                          <a:spcPts val="0"/>
                        </a:spcAft>
                        <a:buNone/>
                      </a:pPr>
                      <a:r>
                        <a:rPr lang="en-US" sz="1800"/>
                        <a:t>A12 (4,6)</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5.385165</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1</a:t>
                      </a:r>
                      <a:endParaRPr/>
                    </a:p>
                  </a:txBody>
                  <a:tcPr marL="59600" marR="59600" marT="29800" marB="29800" anchor="ctr">
                    <a:solidFill>
                      <a:srgbClr val="FFC000"/>
                    </a:solidFill>
                  </a:tcPr>
                </a:tc>
                <a:extLst>
                  <a:ext uri="{0D108BD9-81ED-4DB2-BD59-A6C34878D82A}">
                    <a16:rowId xmlns:a16="http://schemas.microsoft.com/office/drawing/2014/main" val="10012"/>
                  </a:ext>
                </a:extLst>
              </a:tr>
              <a:tr h="278700">
                <a:tc>
                  <a:txBody>
                    <a:bodyPr/>
                    <a:lstStyle/>
                    <a:p>
                      <a:pPr marL="0" marR="0" lvl="0" indent="0" algn="l" rtl="0">
                        <a:spcBef>
                          <a:spcPts val="0"/>
                        </a:spcBef>
                        <a:spcAft>
                          <a:spcPts val="0"/>
                        </a:spcAft>
                        <a:buNone/>
                      </a:pPr>
                      <a:r>
                        <a:rPr lang="en-US" sz="1800"/>
                        <a:t>A13 (3,10)</a:t>
                      </a:r>
                      <a:endParaRPr/>
                    </a:p>
                  </a:txBody>
                  <a:tcPr marL="59600" marR="59600" marT="29800" marB="29800" anchor="ctr"/>
                </a:tc>
                <a:tc>
                  <a:txBody>
                    <a:bodyPr/>
                    <a:lstStyle/>
                    <a:p>
                      <a:pPr marL="0" marR="0" lvl="0" indent="0" algn="l" rtl="0">
                        <a:spcBef>
                          <a:spcPts val="0"/>
                        </a:spcBef>
                        <a:spcAft>
                          <a:spcPts val="0"/>
                        </a:spcAft>
                        <a:buNone/>
                      </a:pPr>
                      <a:r>
                        <a:rPr lang="en-US" sz="1800"/>
                        <a:t>4.123106</a:t>
                      </a:r>
                      <a:endParaRPr/>
                    </a:p>
                  </a:txBody>
                  <a:tcPr marL="59600" marR="59600" marT="29800" marB="29800" anchor="ctr"/>
                </a:tc>
                <a:tc>
                  <a:txBody>
                    <a:bodyPr/>
                    <a:lstStyle/>
                    <a:p>
                      <a:pPr marL="0" marR="0" lvl="0" indent="0" algn="l" rtl="0">
                        <a:spcBef>
                          <a:spcPts val="0"/>
                        </a:spcBef>
                        <a:spcAft>
                          <a:spcPts val="0"/>
                        </a:spcAft>
                        <a:buNone/>
                      </a:pPr>
                      <a:r>
                        <a:rPr lang="en-US" sz="1800"/>
                        <a:t>2</a:t>
                      </a:r>
                      <a:endParaRPr/>
                    </a:p>
                  </a:txBody>
                  <a:tcPr marL="59600" marR="59600" marT="29800" marB="29800" anchor="ctr"/>
                </a:tc>
                <a:tc>
                  <a:txBody>
                    <a:bodyPr/>
                    <a:lstStyle/>
                    <a:p>
                      <a:pPr marL="0" marR="0" lvl="0" indent="0" algn="l" rtl="0">
                        <a:spcBef>
                          <a:spcPts val="0"/>
                        </a:spcBef>
                        <a:spcAft>
                          <a:spcPts val="0"/>
                        </a:spcAft>
                        <a:buNone/>
                      </a:pPr>
                      <a:r>
                        <a:rPr lang="en-US" sz="1800"/>
                        <a:t>3.162278</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2</a:t>
                      </a:r>
                      <a:endParaRPr/>
                    </a:p>
                  </a:txBody>
                  <a:tcPr marL="59600" marR="59600" marT="29800" marB="29800" anchor="ctr"/>
                </a:tc>
                <a:extLst>
                  <a:ext uri="{0D108BD9-81ED-4DB2-BD59-A6C34878D82A}">
                    <a16:rowId xmlns:a16="http://schemas.microsoft.com/office/drawing/2014/main" val="10013"/>
                  </a:ext>
                </a:extLst>
              </a:tr>
              <a:tr h="278700">
                <a:tc>
                  <a:txBody>
                    <a:bodyPr/>
                    <a:lstStyle/>
                    <a:p>
                      <a:pPr marL="0" marR="0" lvl="0" indent="0" algn="l" rtl="0">
                        <a:spcBef>
                          <a:spcPts val="0"/>
                        </a:spcBef>
                        <a:spcAft>
                          <a:spcPts val="0"/>
                        </a:spcAft>
                        <a:buNone/>
                      </a:pPr>
                      <a:r>
                        <a:rPr lang="en-US" sz="1800"/>
                        <a:t>A14 (3,8)</a:t>
                      </a:r>
                      <a:endParaRPr/>
                    </a:p>
                  </a:txBody>
                  <a:tcPr marL="59600" marR="59600" marT="29800" marB="29800" anchor="ctr">
                    <a:solidFill>
                      <a:srgbClr val="FF0000"/>
                    </a:solidFill>
                  </a:tcPr>
                </a:tc>
                <a:tc>
                  <a:txBody>
                    <a:bodyPr/>
                    <a:lstStyle/>
                    <a:p>
                      <a:pPr marL="0" marR="0" lvl="0" indent="0" algn="l" rtl="0">
                        <a:spcBef>
                          <a:spcPts val="0"/>
                        </a:spcBef>
                        <a:spcAft>
                          <a:spcPts val="0"/>
                        </a:spcAft>
                        <a:buNone/>
                      </a:pPr>
                      <a:r>
                        <a:rPr lang="en-US" sz="1800"/>
                        <a:t>2.236068</a:t>
                      </a:r>
                      <a:endParaRPr/>
                    </a:p>
                  </a:txBody>
                  <a:tcPr marL="59600" marR="59600" marT="29800" marB="29800" anchor="ctr">
                    <a:solidFill>
                      <a:srgbClr val="FF0000"/>
                    </a:solidFill>
                  </a:tcPr>
                </a:tc>
                <a:tc>
                  <a:txBody>
                    <a:bodyPr/>
                    <a:lstStyle/>
                    <a:p>
                      <a:pPr marL="0" marR="0" lvl="0" indent="0" algn="l" rtl="0">
                        <a:spcBef>
                          <a:spcPts val="0"/>
                        </a:spcBef>
                        <a:spcAft>
                          <a:spcPts val="0"/>
                        </a:spcAft>
                        <a:buNone/>
                      </a:pPr>
                      <a:r>
                        <a:rPr lang="en-US" sz="1800"/>
                        <a:t>2.828427</a:t>
                      </a:r>
                      <a:endParaRPr/>
                    </a:p>
                  </a:txBody>
                  <a:tcPr marL="59600" marR="59600" marT="29800" marB="29800" anchor="ctr">
                    <a:solidFill>
                      <a:srgbClr val="FF0000"/>
                    </a:solidFill>
                  </a:tcPr>
                </a:tc>
                <a:tc>
                  <a:txBody>
                    <a:bodyPr/>
                    <a:lstStyle/>
                    <a:p>
                      <a:pPr marL="0" marR="0" lvl="0" indent="0" algn="l" rtl="0">
                        <a:spcBef>
                          <a:spcPts val="0"/>
                        </a:spcBef>
                        <a:spcAft>
                          <a:spcPts val="0"/>
                        </a:spcAft>
                        <a:buNone/>
                      </a:pPr>
                      <a:r>
                        <a:rPr lang="en-US" sz="1800"/>
                        <a:t>4.242641</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1</a:t>
                      </a:r>
                      <a:endParaRPr/>
                    </a:p>
                  </a:txBody>
                  <a:tcPr marL="59600" marR="59600" marT="29800" marB="29800" anchor="ctr">
                    <a:solidFill>
                      <a:srgbClr val="FF0000"/>
                    </a:solidFill>
                  </a:tcPr>
                </a:tc>
                <a:extLst>
                  <a:ext uri="{0D108BD9-81ED-4DB2-BD59-A6C34878D82A}">
                    <a16:rowId xmlns:a16="http://schemas.microsoft.com/office/drawing/2014/main" val="10014"/>
                  </a:ext>
                </a:extLst>
              </a:tr>
              <a:tr h="278700">
                <a:tc>
                  <a:txBody>
                    <a:bodyPr/>
                    <a:lstStyle/>
                    <a:p>
                      <a:pPr marL="0" marR="0" lvl="0" indent="0" algn="l" rtl="0">
                        <a:spcBef>
                          <a:spcPts val="0"/>
                        </a:spcBef>
                        <a:spcAft>
                          <a:spcPts val="0"/>
                        </a:spcAft>
                        <a:buNone/>
                      </a:pPr>
                      <a:r>
                        <a:rPr lang="en-US" sz="1800"/>
                        <a:t>A15 (6,11)</a:t>
                      </a:r>
                      <a:endParaRPr/>
                    </a:p>
                  </a:txBody>
                  <a:tcPr marL="59600" marR="59600" marT="29800" marB="29800" anchor="ctr">
                    <a:solidFill>
                      <a:srgbClr val="FF0000"/>
                    </a:solidFill>
                  </a:tcPr>
                </a:tc>
                <a:tc>
                  <a:txBody>
                    <a:bodyPr/>
                    <a:lstStyle/>
                    <a:p>
                      <a:pPr marL="0" marR="0" lvl="0" indent="0" algn="l" rtl="0">
                        <a:spcBef>
                          <a:spcPts val="0"/>
                        </a:spcBef>
                        <a:spcAft>
                          <a:spcPts val="0"/>
                        </a:spcAft>
                        <a:buNone/>
                      </a:pPr>
                      <a:r>
                        <a:rPr lang="en-US" sz="1800"/>
                        <a:t>6.403124</a:t>
                      </a:r>
                      <a:endParaRPr/>
                    </a:p>
                  </a:txBody>
                  <a:tcPr marL="59600" marR="59600" marT="29800" marB="29800" anchor="ctr">
                    <a:solidFill>
                      <a:srgbClr val="FF0000"/>
                    </a:solidFill>
                  </a:tcPr>
                </a:tc>
                <a:tc>
                  <a:txBody>
                    <a:bodyPr/>
                    <a:lstStyle/>
                    <a:p>
                      <a:pPr marL="0" marR="0" lvl="0" indent="0" algn="l" rtl="0">
                        <a:spcBef>
                          <a:spcPts val="0"/>
                        </a:spcBef>
                        <a:spcAft>
                          <a:spcPts val="0"/>
                        </a:spcAft>
                        <a:buNone/>
                      </a:pPr>
                      <a:r>
                        <a:rPr lang="en-US" sz="1800"/>
                        <a:t>1.414214</a:t>
                      </a:r>
                      <a:endParaRPr/>
                    </a:p>
                  </a:txBody>
                  <a:tcPr marL="59600" marR="59600" marT="29800" marB="29800" anchor="ctr">
                    <a:solidFill>
                      <a:srgbClr val="FF0000"/>
                    </a:solidFill>
                  </a:tcPr>
                </a:tc>
                <a:tc>
                  <a:txBody>
                    <a:bodyPr/>
                    <a:lstStyle/>
                    <a:p>
                      <a:pPr marL="0" marR="0" lvl="0" indent="0" algn="l" rtl="0">
                        <a:spcBef>
                          <a:spcPts val="0"/>
                        </a:spcBef>
                        <a:spcAft>
                          <a:spcPts val="0"/>
                        </a:spcAft>
                        <a:buNone/>
                      </a:pPr>
                      <a:r>
                        <a:rPr lang="en-US" sz="1800"/>
                        <a:t>0</a:t>
                      </a:r>
                      <a:endParaRPr/>
                    </a:p>
                  </a:txBody>
                  <a:tcPr marL="59600" marR="59600" marT="29800" marB="29800" anchor="ctr">
                    <a:solidFill>
                      <a:srgbClr val="002060"/>
                    </a:solidFill>
                  </a:tcPr>
                </a:tc>
                <a:tc>
                  <a:txBody>
                    <a:bodyPr/>
                    <a:lstStyle/>
                    <a:p>
                      <a:pPr marL="0" marR="0" lvl="0" indent="0" algn="l" rtl="0">
                        <a:spcBef>
                          <a:spcPts val="0"/>
                        </a:spcBef>
                        <a:spcAft>
                          <a:spcPts val="0"/>
                        </a:spcAft>
                        <a:buNone/>
                      </a:pPr>
                      <a:r>
                        <a:rPr lang="en-US" sz="1800"/>
                        <a:t>Cluster 3</a:t>
                      </a:r>
                      <a:endParaRPr/>
                    </a:p>
                  </a:txBody>
                  <a:tcPr marL="59600" marR="59600" marT="29800" marB="29800" anchor="ctr">
                    <a:solidFill>
                      <a:srgbClr val="FF0000"/>
                    </a:solidFill>
                  </a:tcPr>
                </a:tc>
                <a:extLst>
                  <a:ext uri="{0D108BD9-81ED-4DB2-BD59-A6C34878D82A}">
                    <a16:rowId xmlns:a16="http://schemas.microsoft.com/office/drawing/2014/main" val="10015"/>
                  </a:ext>
                </a:extLst>
              </a:tr>
            </a:tbl>
          </a:graphicData>
        </a:graphic>
      </p:graphicFrame>
      <p:sp>
        <p:nvSpPr>
          <p:cNvPr id="284" name="Google Shape;284;p26"/>
          <p:cNvSpPr/>
          <p:nvPr/>
        </p:nvSpPr>
        <p:spPr>
          <a:xfrm>
            <a:off x="8367347" y="1087538"/>
            <a:ext cx="3597126"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Calibri"/>
                <a:ea typeface="Calibri"/>
                <a:cs typeface="Calibri"/>
                <a:sym typeface="Calibri"/>
              </a:rPr>
              <a:t>Euclidean Distance = </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√((x₂ - x₁)² + (y₂ - y₁)²)</a:t>
            </a:r>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(x₁, y₁) = (6, 11)</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(x₂, y₂) = (2, 10)</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rgbClr val="FFC000"/>
                </a:solidFill>
                <a:latin typeface="Calibri"/>
                <a:ea typeface="Calibri"/>
                <a:cs typeface="Calibri"/>
                <a:sym typeface="Calibri"/>
              </a:rPr>
              <a:t>Euclidean Distance C3</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√((6 - 2)² + (11 - 10)²)</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√(4² + 1²)</a:t>
            </a:r>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√(16 + 1)</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√17</a:t>
            </a:r>
            <a:endParaRPr sz="2000">
              <a:solidFill>
                <a:schemeClr val="lt1"/>
              </a:solidFill>
              <a:latin typeface="Calibri"/>
              <a:ea typeface="Calibri"/>
              <a:cs typeface="Calibri"/>
              <a:sym typeface="Calibri"/>
            </a:endParaRPr>
          </a:p>
          <a:p>
            <a:pPr marL="0" marR="0" lvl="0" indent="0" algn="l" rtl="0">
              <a:spcBef>
                <a:spcPts val="0"/>
              </a:spcBef>
              <a:spcAft>
                <a:spcPts val="0"/>
              </a:spcAft>
              <a:buNone/>
            </a:pPr>
            <a:r>
              <a:rPr lang="en-US" sz="2000">
                <a:solidFill>
                  <a:schemeClr val="lt1"/>
                </a:solidFill>
                <a:latin typeface="Calibri"/>
                <a:ea typeface="Calibri"/>
                <a:cs typeface="Calibri"/>
                <a:sym typeface="Calibri"/>
              </a:rPr>
              <a:t>                   = 4.12</a:t>
            </a:r>
            <a:endParaRPr sz="20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cxnSp>
        <p:nvCxnSpPr>
          <p:cNvPr id="289" name="Google Shape;289;p27"/>
          <p:cNvCxnSpPr/>
          <p:nvPr/>
        </p:nvCxnSpPr>
        <p:spPr>
          <a:xfrm>
            <a:off x="785611" y="883691"/>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90" name="Google Shape;290;p27"/>
          <p:cNvSpPr txBox="1"/>
          <p:nvPr/>
        </p:nvSpPr>
        <p:spPr>
          <a:xfrm>
            <a:off x="656823" y="168412"/>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291" name="Google Shape;291;p27"/>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292" name="Google Shape;292;p27"/>
          <p:cNvSpPr/>
          <p:nvPr/>
        </p:nvSpPr>
        <p:spPr>
          <a:xfrm>
            <a:off x="169332" y="937853"/>
            <a:ext cx="11954933" cy="45243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Now, we will calculate the new centroid for each cluster.</a:t>
            </a:r>
            <a:endParaRPr/>
          </a:p>
          <a:p>
            <a:pPr marL="0" marR="0" lvl="0" indent="0" algn="l" rtl="0">
              <a:lnSpc>
                <a:spcPct val="150000"/>
              </a:lnSpc>
              <a:spcBef>
                <a:spcPts val="0"/>
              </a:spcBef>
              <a:spcAft>
                <a:spcPts val="0"/>
              </a:spcAft>
              <a:buNone/>
            </a:pP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b="1">
                <a:solidFill>
                  <a:srgbClr val="FFC000"/>
                </a:solidFill>
                <a:latin typeface="Calibri"/>
                <a:ea typeface="Calibri"/>
                <a:cs typeface="Calibri"/>
                <a:sym typeface="Calibri"/>
              </a:rPr>
              <a:t>In cluster 1</a:t>
            </a:r>
            <a:r>
              <a:rPr lang="en-US" sz="2400">
                <a:solidFill>
                  <a:schemeClr val="lt1"/>
                </a:solidFill>
                <a:latin typeface="Calibri"/>
                <a:ea typeface="Calibri"/>
                <a:cs typeface="Calibri"/>
                <a:sym typeface="Calibri"/>
              </a:rPr>
              <a:t>, we have 6 points i.e. </a:t>
            </a:r>
            <a:r>
              <a:rPr lang="en-US" sz="2400" b="1" u="sng">
                <a:solidFill>
                  <a:schemeClr val="lt1"/>
                </a:solidFill>
                <a:latin typeface="Calibri"/>
                <a:ea typeface="Calibri"/>
                <a:cs typeface="Calibri"/>
                <a:sym typeface="Calibri"/>
              </a:rPr>
              <a:t>A2 (</a:t>
            </a:r>
            <a:r>
              <a:rPr lang="en-US" sz="2400" b="1" u="sng">
                <a:solidFill>
                  <a:srgbClr val="FFC000"/>
                </a:solidFill>
                <a:latin typeface="Calibri"/>
                <a:ea typeface="Calibri"/>
                <a:cs typeface="Calibri"/>
                <a:sym typeface="Calibri"/>
              </a:rPr>
              <a:t>2</a:t>
            </a:r>
            <a:r>
              <a:rPr lang="en-US" sz="2400" b="1" u="sng">
                <a:solidFill>
                  <a:schemeClr val="lt1"/>
                </a:solidFill>
                <a:latin typeface="Calibri"/>
                <a:ea typeface="Calibri"/>
                <a:cs typeface="Calibri"/>
                <a:sym typeface="Calibri"/>
              </a:rPr>
              <a:t>,</a:t>
            </a:r>
            <a:r>
              <a:rPr lang="en-US" sz="2400" b="1" u="sng">
                <a:solidFill>
                  <a:srgbClr val="FFFF00"/>
                </a:solidFill>
                <a:latin typeface="Calibri"/>
                <a:ea typeface="Calibri"/>
                <a:cs typeface="Calibri"/>
                <a:sym typeface="Calibri"/>
              </a:rPr>
              <a:t>6</a:t>
            </a:r>
            <a:r>
              <a:rPr lang="en-US" sz="2400" b="1" u="sng">
                <a:solidFill>
                  <a:schemeClr val="lt1"/>
                </a:solidFill>
                <a:latin typeface="Calibri"/>
                <a:ea typeface="Calibri"/>
                <a:cs typeface="Calibri"/>
                <a:sym typeface="Calibri"/>
              </a:rPr>
              <a:t>), A5 (</a:t>
            </a:r>
            <a:r>
              <a:rPr lang="en-US" sz="2400" b="1" u="sng">
                <a:solidFill>
                  <a:srgbClr val="FFC000"/>
                </a:solidFill>
                <a:latin typeface="Calibri"/>
                <a:ea typeface="Calibri"/>
                <a:cs typeface="Calibri"/>
                <a:sym typeface="Calibri"/>
              </a:rPr>
              <a:t>6</a:t>
            </a:r>
            <a:r>
              <a:rPr lang="en-US" sz="2400" b="1" u="sng">
                <a:solidFill>
                  <a:schemeClr val="lt1"/>
                </a:solidFill>
                <a:latin typeface="Calibri"/>
                <a:ea typeface="Calibri"/>
                <a:cs typeface="Calibri"/>
                <a:sym typeface="Calibri"/>
              </a:rPr>
              <a:t>,</a:t>
            </a:r>
            <a:r>
              <a:rPr lang="en-US" sz="2400" b="1" u="sng">
                <a:solidFill>
                  <a:srgbClr val="FFFF00"/>
                </a:solidFill>
                <a:latin typeface="Calibri"/>
                <a:ea typeface="Calibri"/>
                <a:cs typeface="Calibri"/>
                <a:sym typeface="Calibri"/>
              </a:rPr>
              <a:t>4</a:t>
            </a:r>
            <a:r>
              <a:rPr lang="en-US" sz="2400" b="1" u="sng">
                <a:solidFill>
                  <a:schemeClr val="lt1"/>
                </a:solidFill>
                <a:latin typeface="Calibri"/>
                <a:ea typeface="Calibri"/>
                <a:cs typeface="Calibri"/>
                <a:sym typeface="Calibri"/>
              </a:rPr>
              <a:t>), A6 (</a:t>
            </a:r>
            <a:r>
              <a:rPr lang="en-US" sz="2400" b="1" u="sng">
                <a:solidFill>
                  <a:srgbClr val="FFC000"/>
                </a:solidFill>
                <a:latin typeface="Calibri"/>
                <a:ea typeface="Calibri"/>
                <a:cs typeface="Calibri"/>
                <a:sym typeface="Calibri"/>
              </a:rPr>
              <a:t>1</a:t>
            </a:r>
            <a:r>
              <a:rPr lang="en-US" sz="2400" b="1" u="sng">
                <a:solidFill>
                  <a:schemeClr val="lt1"/>
                </a:solidFill>
                <a:latin typeface="Calibri"/>
                <a:ea typeface="Calibri"/>
                <a:cs typeface="Calibri"/>
                <a:sym typeface="Calibri"/>
              </a:rPr>
              <a:t>,</a:t>
            </a:r>
            <a:r>
              <a:rPr lang="en-US" sz="2400" b="1" u="sng">
                <a:solidFill>
                  <a:srgbClr val="FFFF00"/>
                </a:solidFill>
                <a:latin typeface="Calibri"/>
                <a:ea typeface="Calibri"/>
                <a:cs typeface="Calibri"/>
                <a:sym typeface="Calibri"/>
              </a:rPr>
              <a:t>2</a:t>
            </a:r>
            <a:r>
              <a:rPr lang="en-US" sz="2400" b="1" u="sng">
                <a:solidFill>
                  <a:schemeClr val="lt1"/>
                </a:solidFill>
                <a:latin typeface="Calibri"/>
                <a:ea typeface="Calibri"/>
                <a:cs typeface="Calibri"/>
                <a:sym typeface="Calibri"/>
              </a:rPr>
              <a:t>), A10 (</a:t>
            </a:r>
            <a:r>
              <a:rPr lang="en-US" sz="2400" b="1" u="sng">
                <a:solidFill>
                  <a:srgbClr val="FFC000"/>
                </a:solidFill>
                <a:latin typeface="Calibri"/>
                <a:ea typeface="Calibri"/>
                <a:cs typeface="Calibri"/>
                <a:sym typeface="Calibri"/>
              </a:rPr>
              <a:t>7</a:t>
            </a:r>
            <a:r>
              <a:rPr lang="en-US" sz="2400" b="1" u="sng">
                <a:solidFill>
                  <a:schemeClr val="lt1"/>
                </a:solidFill>
                <a:latin typeface="Calibri"/>
                <a:ea typeface="Calibri"/>
                <a:cs typeface="Calibri"/>
                <a:sym typeface="Calibri"/>
              </a:rPr>
              <a:t>,</a:t>
            </a:r>
            <a:r>
              <a:rPr lang="en-US" sz="2400" b="1" u="sng">
                <a:solidFill>
                  <a:srgbClr val="FFFF00"/>
                </a:solidFill>
                <a:latin typeface="Calibri"/>
                <a:ea typeface="Calibri"/>
                <a:cs typeface="Calibri"/>
                <a:sym typeface="Calibri"/>
              </a:rPr>
              <a:t>5</a:t>
            </a:r>
            <a:r>
              <a:rPr lang="en-US" sz="2400" b="1" u="sng">
                <a:solidFill>
                  <a:schemeClr val="lt1"/>
                </a:solidFill>
                <a:latin typeface="Calibri"/>
                <a:ea typeface="Calibri"/>
                <a:cs typeface="Calibri"/>
                <a:sym typeface="Calibri"/>
              </a:rPr>
              <a:t>), A12 (</a:t>
            </a:r>
            <a:r>
              <a:rPr lang="en-US" sz="2400" b="1" u="sng">
                <a:solidFill>
                  <a:srgbClr val="FFC000"/>
                </a:solidFill>
                <a:latin typeface="Calibri"/>
                <a:ea typeface="Calibri"/>
                <a:cs typeface="Calibri"/>
                <a:sym typeface="Calibri"/>
              </a:rPr>
              <a:t>4</a:t>
            </a:r>
            <a:r>
              <a:rPr lang="en-US" sz="2400" b="1" u="sng">
                <a:solidFill>
                  <a:schemeClr val="lt1"/>
                </a:solidFill>
                <a:latin typeface="Calibri"/>
                <a:ea typeface="Calibri"/>
                <a:cs typeface="Calibri"/>
                <a:sym typeface="Calibri"/>
              </a:rPr>
              <a:t>,</a:t>
            </a:r>
            <a:r>
              <a:rPr lang="en-US" sz="2400" b="1" u="sng">
                <a:solidFill>
                  <a:srgbClr val="FFFF00"/>
                </a:solidFill>
                <a:latin typeface="Calibri"/>
                <a:ea typeface="Calibri"/>
                <a:cs typeface="Calibri"/>
                <a:sym typeface="Calibri"/>
              </a:rPr>
              <a:t>6</a:t>
            </a:r>
            <a:r>
              <a:rPr lang="en-US" sz="2400" b="1" u="sng">
                <a:solidFill>
                  <a:schemeClr val="lt1"/>
                </a:solidFill>
                <a:latin typeface="Calibri"/>
                <a:ea typeface="Calibri"/>
                <a:cs typeface="Calibri"/>
                <a:sym typeface="Calibri"/>
              </a:rPr>
              <a:t>), A14 (</a:t>
            </a:r>
            <a:r>
              <a:rPr lang="en-US" sz="2400" b="1" u="sng">
                <a:solidFill>
                  <a:srgbClr val="FFC000"/>
                </a:solidFill>
                <a:latin typeface="Calibri"/>
                <a:ea typeface="Calibri"/>
                <a:cs typeface="Calibri"/>
                <a:sym typeface="Calibri"/>
              </a:rPr>
              <a:t>3</a:t>
            </a:r>
            <a:r>
              <a:rPr lang="en-US" sz="2400" b="1" u="sng">
                <a:solidFill>
                  <a:schemeClr val="lt1"/>
                </a:solidFill>
                <a:latin typeface="Calibri"/>
                <a:ea typeface="Calibri"/>
                <a:cs typeface="Calibri"/>
                <a:sym typeface="Calibri"/>
              </a:rPr>
              <a:t>,</a:t>
            </a:r>
            <a:r>
              <a:rPr lang="en-US" sz="2400" b="1" u="sng">
                <a:solidFill>
                  <a:srgbClr val="FFFF00"/>
                </a:solidFill>
                <a:latin typeface="Calibri"/>
                <a:ea typeface="Calibri"/>
                <a:cs typeface="Calibri"/>
                <a:sym typeface="Calibri"/>
              </a:rPr>
              <a:t>8</a:t>
            </a:r>
            <a:r>
              <a:rPr lang="en-US" sz="2400" b="1" u="sng">
                <a:solidFill>
                  <a:schemeClr val="lt1"/>
                </a:solidFill>
                <a:latin typeface="Calibri"/>
                <a:ea typeface="Calibri"/>
                <a:cs typeface="Calibri"/>
                <a:sym typeface="Calibri"/>
              </a:rPr>
              <a:t>)</a:t>
            </a:r>
            <a:r>
              <a:rPr lang="en-US" sz="2400">
                <a:solidFill>
                  <a:schemeClr val="lt1"/>
                </a:solidFill>
                <a:latin typeface="Calibri"/>
                <a:ea typeface="Calibri"/>
                <a:cs typeface="Calibri"/>
                <a:sym typeface="Calibri"/>
              </a:rPr>
              <a:t>. </a:t>
            </a: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To </a:t>
            </a:r>
            <a:r>
              <a:rPr lang="en-US" sz="2400" u="sng">
                <a:solidFill>
                  <a:schemeClr val="lt1"/>
                </a:solidFill>
                <a:latin typeface="Calibri"/>
                <a:ea typeface="Calibri"/>
                <a:cs typeface="Calibri"/>
                <a:sym typeface="Calibri"/>
              </a:rPr>
              <a:t>calculate the new centroid for cluster 1</a:t>
            </a:r>
            <a:r>
              <a:rPr lang="en-US" sz="2400">
                <a:solidFill>
                  <a:schemeClr val="lt1"/>
                </a:solidFill>
                <a:latin typeface="Calibri"/>
                <a:ea typeface="Calibri"/>
                <a:cs typeface="Calibri"/>
                <a:sym typeface="Calibri"/>
              </a:rPr>
              <a:t>, we will </a:t>
            </a:r>
            <a:r>
              <a:rPr lang="en-US" sz="2400" u="sng">
                <a:solidFill>
                  <a:schemeClr val="lt1"/>
                </a:solidFill>
                <a:latin typeface="Calibri"/>
                <a:ea typeface="Calibri"/>
                <a:cs typeface="Calibri"/>
                <a:sym typeface="Calibri"/>
              </a:rPr>
              <a:t>find the mean of the x and y coordinates </a:t>
            </a:r>
            <a:r>
              <a:rPr lang="en-US" sz="2400">
                <a:solidFill>
                  <a:schemeClr val="lt1"/>
                </a:solidFill>
                <a:latin typeface="Calibri"/>
                <a:ea typeface="Calibri"/>
                <a:cs typeface="Calibri"/>
                <a:sym typeface="Calibri"/>
              </a:rPr>
              <a:t>of each point in the cluster. </a:t>
            </a: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b="1">
                <a:solidFill>
                  <a:schemeClr val="lt1"/>
                </a:solidFill>
                <a:latin typeface="Calibri"/>
                <a:ea typeface="Calibri"/>
                <a:cs typeface="Calibri"/>
                <a:sym typeface="Calibri"/>
              </a:rPr>
              <a:t>Mean= </a:t>
            </a:r>
            <a:r>
              <a:rPr lang="en-US" sz="2400">
                <a:solidFill>
                  <a:srgbClr val="FFC000"/>
                </a:solidFill>
                <a:latin typeface="Calibri"/>
                <a:ea typeface="Calibri"/>
                <a:cs typeface="Calibri"/>
                <a:sym typeface="Calibri"/>
              </a:rPr>
              <a:t>[ </a:t>
            </a:r>
            <a:r>
              <a:rPr lang="en-US" sz="2400" b="1">
                <a:solidFill>
                  <a:srgbClr val="FFC000"/>
                </a:solidFill>
                <a:latin typeface="Calibri"/>
                <a:ea typeface="Calibri"/>
                <a:cs typeface="Calibri"/>
                <a:sym typeface="Calibri"/>
              </a:rPr>
              <a:t>(2+6+1+7+4+3) /6 </a:t>
            </a:r>
            <a:r>
              <a:rPr lang="en-US" sz="2400">
                <a:solidFill>
                  <a:srgbClr val="FFC000"/>
                </a:solidFill>
                <a:latin typeface="Calibri"/>
                <a:ea typeface="Calibri"/>
                <a:cs typeface="Calibri"/>
                <a:sym typeface="Calibri"/>
              </a:rPr>
              <a:t>, </a:t>
            </a:r>
            <a:r>
              <a:rPr lang="en-US" sz="2400" b="1">
                <a:solidFill>
                  <a:srgbClr val="FFFF00"/>
                </a:solidFill>
                <a:latin typeface="Calibri"/>
                <a:ea typeface="Calibri"/>
                <a:cs typeface="Calibri"/>
                <a:sym typeface="Calibri"/>
              </a:rPr>
              <a:t>(6+4+2+5+6+8)/6 </a:t>
            </a:r>
            <a:r>
              <a:rPr lang="en-US" sz="2400">
                <a:solidFill>
                  <a:srgbClr val="FFC000"/>
                </a:solidFill>
                <a:latin typeface="Calibri"/>
                <a:ea typeface="Calibri"/>
                <a:cs typeface="Calibri"/>
                <a:sym typeface="Calibri"/>
              </a:rPr>
              <a:t>]= </a:t>
            </a:r>
            <a:r>
              <a:rPr lang="en-US" sz="2400" b="1">
                <a:solidFill>
                  <a:srgbClr val="FFFF00"/>
                </a:solidFill>
                <a:latin typeface="Calibri"/>
                <a:ea typeface="Calibri"/>
                <a:cs typeface="Calibri"/>
                <a:sym typeface="Calibri"/>
              </a:rPr>
              <a:t>[</a:t>
            </a:r>
            <a:r>
              <a:rPr lang="en-US" sz="2400" b="1">
                <a:solidFill>
                  <a:srgbClr val="FFC000"/>
                </a:solidFill>
                <a:latin typeface="Calibri"/>
                <a:ea typeface="Calibri"/>
                <a:cs typeface="Calibri"/>
                <a:sym typeface="Calibri"/>
              </a:rPr>
              <a:t>(23/6) , </a:t>
            </a:r>
            <a:r>
              <a:rPr lang="en-US" sz="2400" b="1">
                <a:solidFill>
                  <a:srgbClr val="FFFF00"/>
                </a:solidFill>
                <a:latin typeface="Calibri"/>
                <a:ea typeface="Calibri"/>
                <a:cs typeface="Calibri"/>
                <a:sym typeface="Calibri"/>
              </a:rPr>
              <a:t>(31/6) ]</a:t>
            </a:r>
            <a:endParaRPr/>
          </a:p>
          <a:p>
            <a:pPr marL="0" marR="0" lvl="0" indent="0" algn="l" rtl="0">
              <a:lnSpc>
                <a:spcPct val="150000"/>
              </a:lnSpc>
              <a:spcBef>
                <a:spcPts val="0"/>
              </a:spcBef>
              <a:spcAft>
                <a:spcPts val="0"/>
              </a:spcAft>
              <a:buNone/>
            </a:pP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Hence, the new centroid for </a:t>
            </a:r>
            <a:r>
              <a:rPr lang="en-US" sz="2400" b="1">
                <a:solidFill>
                  <a:srgbClr val="FFC000"/>
                </a:solidFill>
                <a:latin typeface="Calibri"/>
                <a:ea typeface="Calibri"/>
                <a:cs typeface="Calibri"/>
                <a:sym typeface="Calibri"/>
              </a:rPr>
              <a:t>cluster 1 is (3.833, 5.167).</a:t>
            </a:r>
            <a:endParaRPr sz="2400" b="1">
              <a:solidFill>
                <a:srgbClr val="FFC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cxnSp>
        <p:nvCxnSpPr>
          <p:cNvPr id="297" name="Google Shape;297;p28"/>
          <p:cNvCxnSpPr/>
          <p:nvPr/>
        </p:nvCxnSpPr>
        <p:spPr>
          <a:xfrm>
            <a:off x="785611" y="883691"/>
            <a:ext cx="11178862" cy="0"/>
          </a:xfrm>
          <a:prstGeom prst="straightConnector1">
            <a:avLst/>
          </a:prstGeom>
          <a:noFill/>
          <a:ln w="9525" cap="flat" cmpd="sng">
            <a:solidFill>
              <a:schemeClr val="lt1"/>
            </a:solidFill>
            <a:prstDash val="solid"/>
            <a:miter lim="8000"/>
            <a:headEnd type="none" w="sm" len="sm"/>
            <a:tailEnd type="none" w="sm" len="sm"/>
          </a:ln>
        </p:spPr>
      </p:cxnSp>
      <p:sp>
        <p:nvSpPr>
          <p:cNvPr id="298" name="Google Shape;298;p28"/>
          <p:cNvSpPr txBox="1"/>
          <p:nvPr/>
        </p:nvSpPr>
        <p:spPr>
          <a:xfrm>
            <a:off x="656823" y="168412"/>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299" name="Google Shape;299;p28"/>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300" name="Google Shape;300;p28"/>
          <p:cNvSpPr/>
          <p:nvPr/>
        </p:nvSpPr>
        <p:spPr>
          <a:xfrm>
            <a:off x="152399" y="1582341"/>
            <a:ext cx="11954933" cy="286232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In cluster 2, we have 5 points i.e. A1 (2,10), A4 (6,9), A7 (5,10) , A8 (4,9), and A13 (3,10). </a:t>
            </a: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Hence, the new centroid for </a:t>
            </a:r>
            <a:r>
              <a:rPr lang="en-US" sz="2400" b="1">
                <a:solidFill>
                  <a:srgbClr val="FFC000"/>
                </a:solidFill>
                <a:latin typeface="Calibri"/>
                <a:ea typeface="Calibri"/>
                <a:cs typeface="Calibri"/>
                <a:sym typeface="Calibri"/>
              </a:rPr>
              <a:t>cluster 2 is (4, 9.6) </a:t>
            </a:r>
            <a:endParaRPr sz="2400" b="1">
              <a:solidFill>
                <a:srgbClr val="FFC000"/>
              </a:solidFill>
              <a:latin typeface="Calibri"/>
              <a:ea typeface="Calibri"/>
              <a:cs typeface="Calibri"/>
              <a:sym typeface="Calibri"/>
            </a:endParaRPr>
          </a:p>
          <a:p>
            <a:pPr marL="0" marR="0" lvl="0" indent="0" algn="l" rtl="0">
              <a:lnSpc>
                <a:spcPct val="150000"/>
              </a:lnSpc>
              <a:spcBef>
                <a:spcPts val="0"/>
              </a:spcBef>
              <a:spcAft>
                <a:spcPts val="0"/>
              </a:spcAft>
              <a:buNone/>
            </a:pP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In cluster 3, we have 4 points i.e. A3 (11,11), A9 (10,12), A11 (9,11), and A15 (6,11). </a:t>
            </a:r>
            <a:endParaRPr sz="2400">
              <a:solidFill>
                <a:schemeClr val="lt1"/>
              </a:solidFill>
              <a:latin typeface="Calibri"/>
              <a:ea typeface="Calibri"/>
              <a:cs typeface="Calibri"/>
              <a:sym typeface="Calibri"/>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Hence, the new centroid for </a:t>
            </a:r>
            <a:r>
              <a:rPr lang="en-US" sz="2400" b="1">
                <a:solidFill>
                  <a:srgbClr val="FFC000"/>
                </a:solidFill>
                <a:latin typeface="Calibri"/>
                <a:ea typeface="Calibri"/>
                <a:cs typeface="Calibri"/>
                <a:sym typeface="Calibri"/>
              </a:rPr>
              <a:t>cluster 3 is (9, 11.25).</a:t>
            </a:r>
            <a:endParaRPr sz="2400" b="1">
              <a:solidFill>
                <a:srgbClr val="FFC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cxnSp>
        <p:nvCxnSpPr>
          <p:cNvPr id="305" name="Google Shape;305;p29"/>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06" name="Google Shape;306;p29"/>
          <p:cNvSpPr txBox="1"/>
          <p:nvPr/>
        </p:nvSpPr>
        <p:spPr>
          <a:xfrm>
            <a:off x="546756" y="7545"/>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307" name="Google Shape;307;p29"/>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308" name="Google Shape;308;p29"/>
          <p:cNvGraphicFramePr/>
          <p:nvPr/>
        </p:nvGraphicFramePr>
        <p:xfrm>
          <a:off x="184882" y="767286"/>
          <a:ext cx="8485000" cy="5932160"/>
        </p:xfrm>
        <a:graphic>
          <a:graphicData uri="http://schemas.openxmlformats.org/drawingml/2006/table">
            <a:tbl>
              <a:tblPr>
                <a:noFill/>
                <a:tableStyleId>{08B953BB-13DD-4FB7-82F3-D155A25E974E}</a:tableStyleId>
              </a:tblPr>
              <a:tblGrid>
                <a:gridCol w="1697000">
                  <a:extLst>
                    <a:ext uri="{9D8B030D-6E8A-4147-A177-3AD203B41FA5}">
                      <a16:colId xmlns:a16="http://schemas.microsoft.com/office/drawing/2014/main" val="20000"/>
                    </a:ext>
                  </a:extLst>
                </a:gridCol>
                <a:gridCol w="1697000">
                  <a:extLst>
                    <a:ext uri="{9D8B030D-6E8A-4147-A177-3AD203B41FA5}">
                      <a16:colId xmlns:a16="http://schemas.microsoft.com/office/drawing/2014/main" val="20001"/>
                    </a:ext>
                  </a:extLst>
                </a:gridCol>
                <a:gridCol w="1697000">
                  <a:extLst>
                    <a:ext uri="{9D8B030D-6E8A-4147-A177-3AD203B41FA5}">
                      <a16:colId xmlns:a16="http://schemas.microsoft.com/office/drawing/2014/main" val="20002"/>
                    </a:ext>
                  </a:extLst>
                </a:gridCol>
                <a:gridCol w="1697000">
                  <a:extLst>
                    <a:ext uri="{9D8B030D-6E8A-4147-A177-3AD203B41FA5}">
                      <a16:colId xmlns:a16="http://schemas.microsoft.com/office/drawing/2014/main" val="20003"/>
                    </a:ext>
                  </a:extLst>
                </a:gridCol>
                <a:gridCol w="1697000">
                  <a:extLst>
                    <a:ext uri="{9D8B030D-6E8A-4147-A177-3AD203B41FA5}">
                      <a16:colId xmlns:a16="http://schemas.microsoft.com/office/drawing/2014/main" val="20004"/>
                    </a:ext>
                  </a:extLst>
                </a:gridCol>
              </a:tblGrid>
              <a:tr h="621625">
                <a:tc>
                  <a:txBody>
                    <a:bodyPr/>
                    <a:lstStyle/>
                    <a:p>
                      <a:pPr marL="0" marR="0" lvl="0" indent="0" algn="l" rtl="0">
                        <a:spcBef>
                          <a:spcPts val="0"/>
                        </a:spcBef>
                        <a:spcAft>
                          <a:spcPts val="0"/>
                        </a:spcAft>
                        <a:buNone/>
                      </a:pPr>
                      <a:r>
                        <a:rPr lang="en-US" sz="1800" b="1">
                          <a:solidFill>
                            <a:srgbClr val="FFC000"/>
                          </a:solidFill>
                        </a:rPr>
                        <a:t>Point</a:t>
                      </a:r>
                      <a:endParaRPr/>
                    </a:p>
                  </a:txBody>
                  <a:tcPr marL="62150" marR="62150" marT="31075" marB="31075" anchor="ctr"/>
                </a:tc>
                <a:tc>
                  <a:txBody>
                    <a:bodyPr/>
                    <a:lstStyle/>
                    <a:p>
                      <a:pPr marL="0" marR="0" lvl="0" indent="0" algn="l" rtl="0">
                        <a:spcBef>
                          <a:spcPts val="0"/>
                        </a:spcBef>
                        <a:spcAft>
                          <a:spcPts val="0"/>
                        </a:spcAft>
                        <a:buNone/>
                      </a:pPr>
                      <a:r>
                        <a:rPr lang="en-US" sz="1800" b="1">
                          <a:solidFill>
                            <a:srgbClr val="FFC000"/>
                          </a:solidFill>
                        </a:rPr>
                        <a:t>Distance from Centroid 1 (3.833, 5.167)</a:t>
                      </a:r>
                      <a:endParaRPr/>
                    </a:p>
                  </a:txBody>
                  <a:tcPr marL="62150" marR="62150" marT="31075" marB="31075" anchor="ctr"/>
                </a:tc>
                <a:tc>
                  <a:txBody>
                    <a:bodyPr/>
                    <a:lstStyle/>
                    <a:p>
                      <a:pPr marL="0" marR="0" lvl="0" indent="0" algn="l" rtl="0">
                        <a:spcBef>
                          <a:spcPts val="0"/>
                        </a:spcBef>
                        <a:spcAft>
                          <a:spcPts val="0"/>
                        </a:spcAft>
                        <a:buNone/>
                      </a:pPr>
                      <a:r>
                        <a:rPr lang="en-US" sz="1800" b="1">
                          <a:solidFill>
                            <a:srgbClr val="FFC000"/>
                          </a:solidFill>
                        </a:rPr>
                        <a:t>Distance from centroid 2 (4, 9.6) </a:t>
                      </a:r>
                      <a:endParaRPr/>
                    </a:p>
                  </a:txBody>
                  <a:tcPr marL="62150" marR="62150" marT="31075" marB="31075" anchor="ctr"/>
                </a:tc>
                <a:tc>
                  <a:txBody>
                    <a:bodyPr/>
                    <a:lstStyle/>
                    <a:p>
                      <a:pPr marL="0" marR="0" lvl="0" indent="0" algn="l" rtl="0">
                        <a:spcBef>
                          <a:spcPts val="0"/>
                        </a:spcBef>
                        <a:spcAft>
                          <a:spcPts val="0"/>
                        </a:spcAft>
                        <a:buNone/>
                      </a:pPr>
                      <a:r>
                        <a:rPr lang="en-US" sz="1800" b="1">
                          <a:solidFill>
                            <a:srgbClr val="FFC000"/>
                          </a:solidFill>
                        </a:rPr>
                        <a:t>Distance from centroid 3 (9, 11.25)</a:t>
                      </a:r>
                      <a:endParaRPr/>
                    </a:p>
                  </a:txBody>
                  <a:tcPr marL="62150" marR="62150" marT="31075" marB="31075" anchor="ctr"/>
                </a:tc>
                <a:tc>
                  <a:txBody>
                    <a:bodyPr/>
                    <a:lstStyle/>
                    <a:p>
                      <a:pPr marL="0" marR="0" lvl="0" indent="0" algn="l" rtl="0">
                        <a:spcBef>
                          <a:spcPts val="0"/>
                        </a:spcBef>
                        <a:spcAft>
                          <a:spcPts val="0"/>
                        </a:spcAft>
                        <a:buNone/>
                      </a:pPr>
                      <a:r>
                        <a:rPr lang="en-US" sz="1800" b="1">
                          <a:solidFill>
                            <a:srgbClr val="FFC000"/>
                          </a:solidFill>
                        </a:rPr>
                        <a:t>Assigned Cluster</a:t>
                      </a:r>
                      <a:endParaRPr/>
                    </a:p>
                  </a:txBody>
                  <a:tcPr marL="62150" marR="62150" marT="31075" marB="31075" anchor="ctr"/>
                </a:tc>
                <a:extLst>
                  <a:ext uri="{0D108BD9-81ED-4DB2-BD59-A6C34878D82A}">
                    <a16:rowId xmlns:a16="http://schemas.microsoft.com/office/drawing/2014/main" val="10000"/>
                  </a:ext>
                </a:extLst>
              </a:tr>
              <a:tr h="248650">
                <a:tc>
                  <a:txBody>
                    <a:bodyPr/>
                    <a:lstStyle/>
                    <a:p>
                      <a:pPr marL="0" marR="0" lvl="0" indent="0" algn="l" rtl="0">
                        <a:spcBef>
                          <a:spcPts val="0"/>
                        </a:spcBef>
                        <a:spcAft>
                          <a:spcPts val="0"/>
                        </a:spcAft>
                        <a:buNone/>
                      </a:pPr>
                      <a:r>
                        <a:rPr lang="en-US" sz="1800"/>
                        <a:t>A1 (2,10)</a:t>
                      </a:r>
                      <a:endParaRPr/>
                    </a:p>
                  </a:txBody>
                  <a:tcPr marL="62150" marR="62150" marT="31075" marB="31075" anchor="ctr"/>
                </a:tc>
                <a:tc>
                  <a:txBody>
                    <a:bodyPr/>
                    <a:lstStyle/>
                    <a:p>
                      <a:pPr marL="0" marR="0" lvl="0" indent="0" algn="l" rtl="0">
                        <a:spcBef>
                          <a:spcPts val="0"/>
                        </a:spcBef>
                        <a:spcAft>
                          <a:spcPts val="0"/>
                        </a:spcAft>
                        <a:buNone/>
                      </a:pPr>
                      <a:r>
                        <a:rPr lang="en-US" sz="1800"/>
                        <a:t>5.169</a:t>
                      </a:r>
                      <a:endParaRPr/>
                    </a:p>
                  </a:txBody>
                  <a:tcPr marL="62150" marR="62150" marT="31075" marB="31075" anchor="ctr"/>
                </a:tc>
                <a:tc>
                  <a:txBody>
                    <a:bodyPr/>
                    <a:lstStyle/>
                    <a:p>
                      <a:pPr marL="0" marR="0" lvl="0" indent="0" algn="l" rtl="0">
                        <a:spcBef>
                          <a:spcPts val="0"/>
                        </a:spcBef>
                        <a:spcAft>
                          <a:spcPts val="0"/>
                        </a:spcAft>
                        <a:buNone/>
                      </a:pPr>
                      <a:r>
                        <a:rPr lang="en-US" sz="1800"/>
                        <a:t>2.040</a:t>
                      </a:r>
                      <a:endParaRPr/>
                    </a:p>
                  </a:txBody>
                  <a:tcPr marL="62150" marR="62150" marT="31075" marB="31075" anchor="ctr"/>
                </a:tc>
                <a:tc>
                  <a:txBody>
                    <a:bodyPr/>
                    <a:lstStyle/>
                    <a:p>
                      <a:pPr marL="0" marR="0" lvl="0" indent="0" algn="l" rtl="0">
                        <a:spcBef>
                          <a:spcPts val="0"/>
                        </a:spcBef>
                        <a:spcAft>
                          <a:spcPts val="0"/>
                        </a:spcAft>
                        <a:buNone/>
                      </a:pPr>
                      <a:r>
                        <a:rPr lang="en-US" sz="1800"/>
                        <a:t>7.111</a:t>
                      </a:r>
                      <a:endParaRPr/>
                    </a:p>
                  </a:txBody>
                  <a:tcPr marL="62150" marR="62150" marT="31075" marB="31075" anchor="ctr"/>
                </a:tc>
                <a:tc>
                  <a:txBody>
                    <a:bodyPr/>
                    <a:lstStyle/>
                    <a:p>
                      <a:pPr marL="0" marR="0" lvl="0" indent="0" algn="l" rtl="0">
                        <a:spcBef>
                          <a:spcPts val="0"/>
                        </a:spcBef>
                        <a:spcAft>
                          <a:spcPts val="0"/>
                        </a:spcAft>
                        <a:buNone/>
                      </a:pPr>
                      <a:r>
                        <a:rPr lang="en-US" sz="1800"/>
                        <a:t>Cluster 2</a:t>
                      </a:r>
                      <a:endParaRPr/>
                    </a:p>
                  </a:txBody>
                  <a:tcPr marL="62150" marR="62150" marT="31075" marB="31075" anchor="ctr"/>
                </a:tc>
                <a:extLst>
                  <a:ext uri="{0D108BD9-81ED-4DB2-BD59-A6C34878D82A}">
                    <a16:rowId xmlns:a16="http://schemas.microsoft.com/office/drawing/2014/main" val="10001"/>
                  </a:ext>
                </a:extLst>
              </a:tr>
              <a:tr h="248650">
                <a:tc>
                  <a:txBody>
                    <a:bodyPr/>
                    <a:lstStyle/>
                    <a:p>
                      <a:pPr marL="0" marR="0" lvl="0" indent="0" algn="l" rtl="0">
                        <a:spcBef>
                          <a:spcPts val="0"/>
                        </a:spcBef>
                        <a:spcAft>
                          <a:spcPts val="0"/>
                        </a:spcAft>
                        <a:buNone/>
                      </a:pPr>
                      <a:r>
                        <a:rPr lang="en-US" sz="1800"/>
                        <a:t>A2 (2,6)</a:t>
                      </a:r>
                      <a:endParaRPr/>
                    </a:p>
                  </a:txBody>
                  <a:tcPr marL="62150" marR="62150" marT="31075" marB="31075" anchor="ctr"/>
                </a:tc>
                <a:tc>
                  <a:txBody>
                    <a:bodyPr/>
                    <a:lstStyle/>
                    <a:p>
                      <a:pPr marL="0" marR="0" lvl="0" indent="0" algn="l" rtl="0">
                        <a:spcBef>
                          <a:spcPts val="0"/>
                        </a:spcBef>
                        <a:spcAft>
                          <a:spcPts val="0"/>
                        </a:spcAft>
                        <a:buNone/>
                      </a:pPr>
                      <a:r>
                        <a:rPr lang="en-US" sz="1800"/>
                        <a:t>2.013</a:t>
                      </a:r>
                      <a:endParaRPr/>
                    </a:p>
                  </a:txBody>
                  <a:tcPr marL="62150" marR="62150" marT="31075" marB="31075" anchor="ctr"/>
                </a:tc>
                <a:tc>
                  <a:txBody>
                    <a:bodyPr/>
                    <a:lstStyle/>
                    <a:p>
                      <a:pPr marL="0" marR="0" lvl="0" indent="0" algn="l" rtl="0">
                        <a:spcBef>
                          <a:spcPts val="0"/>
                        </a:spcBef>
                        <a:spcAft>
                          <a:spcPts val="0"/>
                        </a:spcAft>
                        <a:buNone/>
                      </a:pPr>
                      <a:r>
                        <a:rPr lang="en-US" sz="1800"/>
                        <a:t>4.118</a:t>
                      </a:r>
                      <a:endParaRPr/>
                    </a:p>
                  </a:txBody>
                  <a:tcPr marL="62150" marR="62150" marT="31075" marB="31075" anchor="ctr"/>
                </a:tc>
                <a:tc>
                  <a:txBody>
                    <a:bodyPr/>
                    <a:lstStyle/>
                    <a:p>
                      <a:pPr marL="0" marR="0" lvl="0" indent="0" algn="l" rtl="0">
                        <a:spcBef>
                          <a:spcPts val="0"/>
                        </a:spcBef>
                        <a:spcAft>
                          <a:spcPts val="0"/>
                        </a:spcAft>
                        <a:buNone/>
                      </a:pPr>
                      <a:r>
                        <a:rPr lang="en-US" sz="1800"/>
                        <a:t>8.750</a:t>
                      </a:r>
                      <a:endParaRPr/>
                    </a:p>
                  </a:txBody>
                  <a:tcPr marL="62150" marR="62150" marT="31075" marB="31075" anchor="ctr"/>
                </a:tc>
                <a:tc>
                  <a:txBody>
                    <a:bodyPr/>
                    <a:lstStyle/>
                    <a:p>
                      <a:pPr marL="0" marR="0" lvl="0" indent="0" algn="l" rtl="0">
                        <a:spcBef>
                          <a:spcPts val="0"/>
                        </a:spcBef>
                        <a:spcAft>
                          <a:spcPts val="0"/>
                        </a:spcAft>
                        <a:buNone/>
                      </a:pPr>
                      <a:r>
                        <a:rPr lang="en-US" sz="1800"/>
                        <a:t>Cluster 1</a:t>
                      </a:r>
                      <a:endParaRPr/>
                    </a:p>
                  </a:txBody>
                  <a:tcPr marL="62150" marR="62150" marT="31075" marB="31075" anchor="ctr"/>
                </a:tc>
                <a:extLst>
                  <a:ext uri="{0D108BD9-81ED-4DB2-BD59-A6C34878D82A}">
                    <a16:rowId xmlns:a16="http://schemas.microsoft.com/office/drawing/2014/main" val="10002"/>
                  </a:ext>
                </a:extLst>
              </a:tr>
              <a:tr h="248650">
                <a:tc>
                  <a:txBody>
                    <a:bodyPr/>
                    <a:lstStyle/>
                    <a:p>
                      <a:pPr marL="0" marR="0" lvl="0" indent="0" algn="l" rtl="0">
                        <a:spcBef>
                          <a:spcPts val="0"/>
                        </a:spcBef>
                        <a:spcAft>
                          <a:spcPts val="0"/>
                        </a:spcAft>
                        <a:buNone/>
                      </a:pPr>
                      <a:r>
                        <a:rPr lang="en-US" sz="1800"/>
                        <a:t>A3 (11,11)</a:t>
                      </a:r>
                      <a:endParaRPr/>
                    </a:p>
                  </a:txBody>
                  <a:tcPr marL="62150" marR="62150" marT="31075" marB="31075" anchor="ctr"/>
                </a:tc>
                <a:tc>
                  <a:txBody>
                    <a:bodyPr/>
                    <a:lstStyle/>
                    <a:p>
                      <a:pPr marL="0" marR="0" lvl="0" indent="0" algn="l" rtl="0">
                        <a:spcBef>
                          <a:spcPts val="0"/>
                        </a:spcBef>
                        <a:spcAft>
                          <a:spcPts val="0"/>
                        </a:spcAft>
                        <a:buNone/>
                      </a:pPr>
                      <a:r>
                        <a:rPr lang="en-US" sz="1800"/>
                        <a:t>9.241</a:t>
                      </a:r>
                      <a:endParaRPr/>
                    </a:p>
                  </a:txBody>
                  <a:tcPr marL="62150" marR="62150" marT="31075" marB="31075" anchor="ctr"/>
                </a:tc>
                <a:tc>
                  <a:txBody>
                    <a:bodyPr/>
                    <a:lstStyle/>
                    <a:p>
                      <a:pPr marL="0" marR="0" lvl="0" indent="0" algn="l" rtl="0">
                        <a:spcBef>
                          <a:spcPts val="0"/>
                        </a:spcBef>
                        <a:spcAft>
                          <a:spcPts val="0"/>
                        </a:spcAft>
                        <a:buNone/>
                      </a:pPr>
                      <a:r>
                        <a:rPr lang="en-US" sz="1800"/>
                        <a:t>7.139</a:t>
                      </a:r>
                      <a:endParaRPr/>
                    </a:p>
                  </a:txBody>
                  <a:tcPr marL="62150" marR="62150" marT="31075" marB="31075" anchor="ctr"/>
                </a:tc>
                <a:tc>
                  <a:txBody>
                    <a:bodyPr/>
                    <a:lstStyle/>
                    <a:p>
                      <a:pPr marL="0" marR="0" lvl="0" indent="0" algn="l" rtl="0">
                        <a:spcBef>
                          <a:spcPts val="0"/>
                        </a:spcBef>
                        <a:spcAft>
                          <a:spcPts val="0"/>
                        </a:spcAft>
                        <a:buNone/>
                      </a:pPr>
                      <a:r>
                        <a:rPr lang="en-US" sz="1800"/>
                        <a:t>2.016</a:t>
                      </a:r>
                      <a:endParaRPr/>
                    </a:p>
                  </a:txBody>
                  <a:tcPr marL="62150" marR="62150" marT="31075" marB="31075" anchor="ctr"/>
                </a:tc>
                <a:tc>
                  <a:txBody>
                    <a:bodyPr/>
                    <a:lstStyle/>
                    <a:p>
                      <a:pPr marL="0" marR="0" lvl="0" indent="0" algn="l" rtl="0">
                        <a:spcBef>
                          <a:spcPts val="0"/>
                        </a:spcBef>
                        <a:spcAft>
                          <a:spcPts val="0"/>
                        </a:spcAft>
                        <a:buNone/>
                      </a:pPr>
                      <a:r>
                        <a:rPr lang="en-US" sz="1800"/>
                        <a:t>Cluster 3</a:t>
                      </a:r>
                      <a:endParaRPr/>
                    </a:p>
                  </a:txBody>
                  <a:tcPr marL="62150" marR="62150" marT="31075" marB="31075" anchor="ctr"/>
                </a:tc>
                <a:extLst>
                  <a:ext uri="{0D108BD9-81ED-4DB2-BD59-A6C34878D82A}">
                    <a16:rowId xmlns:a16="http://schemas.microsoft.com/office/drawing/2014/main" val="10003"/>
                  </a:ext>
                </a:extLst>
              </a:tr>
              <a:tr h="248650">
                <a:tc>
                  <a:txBody>
                    <a:bodyPr/>
                    <a:lstStyle/>
                    <a:p>
                      <a:pPr marL="0" marR="0" lvl="0" indent="0" algn="l" rtl="0">
                        <a:spcBef>
                          <a:spcPts val="0"/>
                        </a:spcBef>
                        <a:spcAft>
                          <a:spcPts val="0"/>
                        </a:spcAft>
                        <a:buNone/>
                      </a:pPr>
                      <a:r>
                        <a:rPr lang="en-US" sz="1800"/>
                        <a:t>A4 (6,9)</a:t>
                      </a:r>
                      <a:endParaRPr/>
                    </a:p>
                  </a:txBody>
                  <a:tcPr marL="62150" marR="62150" marT="31075" marB="31075" anchor="ctr"/>
                </a:tc>
                <a:tc>
                  <a:txBody>
                    <a:bodyPr/>
                    <a:lstStyle/>
                    <a:p>
                      <a:pPr marL="0" marR="0" lvl="0" indent="0" algn="l" rtl="0">
                        <a:spcBef>
                          <a:spcPts val="0"/>
                        </a:spcBef>
                        <a:spcAft>
                          <a:spcPts val="0"/>
                        </a:spcAft>
                        <a:buNone/>
                      </a:pPr>
                      <a:r>
                        <a:rPr lang="en-US" sz="1800"/>
                        <a:t>4.403</a:t>
                      </a:r>
                      <a:endParaRPr/>
                    </a:p>
                  </a:txBody>
                  <a:tcPr marL="62150" marR="62150" marT="31075" marB="31075" anchor="ctr"/>
                </a:tc>
                <a:tc>
                  <a:txBody>
                    <a:bodyPr/>
                    <a:lstStyle/>
                    <a:p>
                      <a:pPr marL="0" marR="0" lvl="0" indent="0" algn="l" rtl="0">
                        <a:spcBef>
                          <a:spcPts val="0"/>
                        </a:spcBef>
                        <a:spcAft>
                          <a:spcPts val="0"/>
                        </a:spcAft>
                        <a:buNone/>
                      </a:pPr>
                      <a:r>
                        <a:rPr lang="en-US" sz="1800"/>
                        <a:t>2.088</a:t>
                      </a:r>
                      <a:endParaRPr/>
                    </a:p>
                  </a:txBody>
                  <a:tcPr marL="62150" marR="62150" marT="31075" marB="31075" anchor="ctr"/>
                </a:tc>
                <a:tc>
                  <a:txBody>
                    <a:bodyPr/>
                    <a:lstStyle/>
                    <a:p>
                      <a:pPr marL="0" marR="0" lvl="0" indent="0" algn="l" rtl="0">
                        <a:spcBef>
                          <a:spcPts val="0"/>
                        </a:spcBef>
                        <a:spcAft>
                          <a:spcPts val="0"/>
                        </a:spcAft>
                        <a:buNone/>
                      </a:pPr>
                      <a:r>
                        <a:rPr lang="en-US" sz="1800"/>
                        <a:t>3.750</a:t>
                      </a:r>
                      <a:endParaRPr/>
                    </a:p>
                  </a:txBody>
                  <a:tcPr marL="62150" marR="62150" marT="31075" marB="31075" anchor="ctr"/>
                </a:tc>
                <a:tc>
                  <a:txBody>
                    <a:bodyPr/>
                    <a:lstStyle/>
                    <a:p>
                      <a:pPr marL="0" marR="0" lvl="0" indent="0" algn="l" rtl="0">
                        <a:spcBef>
                          <a:spcPts val="0"/>
                        </a:spcBef>
                        <a:spcAft>
                          <a:spcPts val="0"/>
                        </a:spcAft>
                        <a:buNone/>
                      </a:pPr>
                      <a:r>
                        <a:rPr lang="en-US" sz="1800"/>
                        <a:t>Cluster 2</a:t>
                      </a:r>
                      <a:endParaRPr/>
                    </a:p>
                  </a:txBody>
                  <a:tcPr marL="62150" marR="62150" marT="31075" marB="31075" anchor="ctr"/>
                </a:tc>
                <a:extLst>
                  <a:ext uri="{0D108BD9-81ED-4DB2-BD59-A6C34878D82A}">
                    <a16:rowId xmlns:a16="http://schemas.microsoft.com/office/drawing/2014/main" val="10004"/>
                  </a:ext>
                </a:extLst>
              </a:tr>
              <a:tr h="248650">
                <a:tc>
                  <a:txBody>
                    <a:bodyPr/>
                    <a:lstStyle/>
                    <a:p>
                      <a:pPr marL="0" marR="0" lvl="0" indent="0" algn="l" rtl="0">
                        <a:spcBef>
                          <a:spcPts val="0"/>
                        </a:spcBef>
                        <a:spcAft>
                          <a:spcPts val="0"/>
                        </a:spcAft>
                        <a:buNone/>
                      </a:pPr>
                      <a:r>
                        <a:rPr lang="en-US" sz="1800"/>
                        <a:t>A5 (6,4)</a:t>
                      </a:r>
                      <a:endParaRPr/>
                    </a:p>
                  </a:txBody>
                  <a:tcPr marL="62150" marR="62150" marT="31075" marB="31075" anchor="ctr"/>
                </a:tc>
                <a:tc>
                  <a:txBody>
                    <a:bodyPr/>
                    <a:lstStyle/>
                    <a:p>
                      <a:pPr marL="0" marR="0" lvl="0" indent="0" algn="l" rtl="0">
                        <a:spcBef>
                          <a:spcPts val="0"/>
                        </a:spcBef>
                        <a:spcAft>
                          <a:spcPts val="0"/>
                        </a:spcAft>
                        <a:buNone/>
                      </a:pPr>
                      <a:r>
                        <a:rPr lang="en-US" sz="1800"/>
                        <a:t>2.461</a:t>
                      </a:r>
                      <a:endParaRPr/>
                    </a:p>
                  </a:txBody>
                  <a:tcPr marL="62150" marR="62150" marT="31075" marB="31075" anchor="ctr"/>
                </a:tc>
                <a:tc>
                  <a:txBody>
                    <a:bodyPr/>
                    <a:lstStyle/>
                    <a:p>
                      <a:pPr marL="0" marR="0" lvl="0" indent="0" algn="l" rtl="0">
                        <a:spcBef>
                          <a:spcPts val="0"/>
                        </a:spcBef>
                        <a:spcAft>
                          <a:spcPts val="0"/>
                        </a:spcAft>
                        <a:buNone/>
                      </a:pPr>
                      <a:r>
                        <a:rPr lang="en-US" sz="1800"/>
                        <a:t>5.946</a:t>
                      </a:r>
                      <a:endParaRPr/>
                    </a:p>
                  </a:txBody>
                  <a:tcPr marL="62150" marR="62150" marT="31075" marB="31075" anchor="ctr"/>
                </a:tc>
                <a:tc>
                  <a:txBody>
                    <a:bodyPr/>
                    <a:lstStyle/>
                    <a:p>
                      <a:pPr marL="0" marR="0" lvl="0" indent="0" algn="l" rtl="0">
                        <a:spcBef>
                          <a:spcPts val="0"/>
                        </a:spcBef>
                        <a:spcAft>
                          <a:spcPts val="0"/>
                        </a:spcAft>
                        <a:buNone/>
                      </a:pPr>
                      <a:r>
                        <a:rPr lang="en-US" sz="1800"/>
                        <a:t>7.846</a:t>
                      </a:r>
                      <a:endParaRPr/>
                    </a:p>
                  </a:txBody>
                  <a:tcPr marL="62150" marR="62150" marT="31075" marB="31075" anchor="ctr"/>
                </a:tc>
                <a:tc>
                  <a:txBody>
                    <a:bodyPr/>
                    <a:lstStyle/>
                    <a:p>
                      <a:pPr marL="0" marR="0" lvl="0" indent="0" algn="l" rtl="0">
                        <a:spcBef>
                          <a:spcPts val="0"/>
                        </a:spcBef>
                        <a:spcAft>
                          <a:spcPts val="0"/>
                        </a:spcAft>
                        <a:buNone/>
                      </a:pPr>
                      <a:r>
                        <a:rPr lang="en-US" sz="1800"/>
                        <a:t>Cluster 1</a:t>
                      </a:r>
                      <a:endParaRPr/>
                    </a:p>
                  </a:txBody>
                  <a:tcPr marL="62150" marR="62150" marT="31075" marB="31075" anchor="ctr"/>
                </a:tc>
                <a:extLst>
                  <a:ext uri="{0D108BD9-81ED-4DB2-BD59-A6C34878D82A}">
                    <a16:rowId xmlns:a16="http://schemas.microsoft.com/office/drawing/2014/main" val="10005"/>
                  </a:ext>
                </a:extLst>
              </a:tr>
              <a:tr h="248650">
                <a:tc>
                  <a:txBody>
                    <a:bodyPr/>
                    <a:lstStyle/>
                    <a:p>
                      <a:pPr marL="0" marR="0" lvl="0" indent="0" algn="l" rtl="0">
                        <a:spcBef>
                          <a:spcPts val="0"/>
                        </a:spcBef>
                        <a:spcAft>
                          <a:spcPts val="0"/>
                        </a:spcAft>
                        <a:buNone/>
                      </a:pPr>
                      <a:r>
                        <a:rPr lang="en-US" sz="1800"/>
                        <a:t>A6 (1,2)</a:t>
                      </a:r>
                      <a:endParaRPr/>
                    </a:p>
                  </a:txBody>
                  <a:tcPr marL="62150" marR="62150" marT="31075" marB="31075" anchor="ctr"/>
                </a:tc>
                <a:tc>
                  <a:txBody>
                    <a:bodyPr/>
                    <a:lstStyle/>
                    <a:p>
                      <a:pPr marL="0" marR="0" lvl="0" indent="0" algn="l" rtl="0">
                        <a:spcBef>
                          <a:spcPts val="0"/>
                        </a:spcBef>
                        <a:spcAft>
                          <a:spcPts val="0"/>
                        </a:spcAft>
                        <a:buNone/>
                      </a:pPr>
                      <a:r>
                        <a:rPr lang="en-US" sz="1800"/>
                        <a:t>4.249</a:t>
                      </a:r>
                      <a:endParaRPr/>
                    </a:p>
                  </a:txBody>
                  <a:tcPr marL="62150" marR="62150" marT="31075" marB="31075" anchor="ctr"/>
                </a:tc>
                <a:tc>
                  <a:txBody>
                    <a:bodyPr/>
                    <a:lstStyle/>
                    <a:p>
                      <a:pPr marL="0" marR="0" lvl="0" indent="0" algn="l" rtl="0">
                        <a:spcBef>
                          <a:spcPts val="0"/>
                        </a:spcBef>
                        <a:spcAft>
                          <a:spcPts val="0"/>
                        </a:spcAft>
                        <a:buNone/>
                      </a:pPr>
                      <a:r>
                        <a:rPr lang="en-US" sz="1800"/>
                        <a:t>8.171</a:t>
                      </a:r>
                      <a:endParaRPr/>
                    </a:p>
                  </a:txBody>
                  <a:tcPr marL="62150" marR="62150" marT="31075" marB="31075" anchor="ctr"/>
                </a:tc>
                <a:tc>
                  <a:txBody>
                    <a:bodyPr/>
                    <a:lstStyle/>
                    <a:p>
                      <a:pPr marL="0" marR="0" lvl="0" indent="0" algn="l" rtl="0">
                        <a:spcBef>
                          <a:spcPts val="0"/>
                        </a:spcBef>
                        <a:spcAft>
                          <a:spcPts val="0"/>
                        </a:spcAft>
                        <a:buNone/>
                      </a:pPr>
                      <a:r>
                        <a:rPr lang="en-US" sz="1800"/>
                        <a:t>12.230</a:t>
                      </a:r>
                      <a:endParaRPr/>
                    </a:p>
                  </a:txBody>
                  <a:tcPr marL="62150" marR="62150" marT="31075" marB="31075" anchor="ctr"/>
                </a:tc>
                <a:tc>
                  <a:txBody>
                    <a:bodyPr/>
                    <a:lstStyle/>
                    <a:p>
                      <a:pPr marL="0" marR="0" lvl="0" indent="0" algn="l" rtl="0">
                        <a:spcBef>
                          <a:spcPts val="0"/>
                        </a:spcBef>
                        <a:spcAft>
                          <a:spcPts val="0"/>
                        </a:spcAft>
                        <a:buNone/>
                      </a:pPr>
                      <a:r>
                        <a:rPr lang="en-US" sz="1800"/>
                        <a:t>Cluster 1</a:t>
                      </a:r>
                      <a:endParaRPr/>
                    </a:p>
                  </a:txBody>
                  <a:tcPr marL="62150" marR="62150" marT="31075" marB="31075" anchor="ctr"/>
                </a:tc>
                <a:extLst>
                  <a:ext uri="{0D108BD9-81ED-4DB2-BD59-A6C34878D82A}">
                    <a16:rowId xmlns:a16="http://schemas.microsoft.com/office/drawing/2014/main" val="10006"/>
                  </a:ext>
                </a:extLst>
              </a:tr>
              <a:tr h="248650">
                <a:tc>
                  <a:txBody>
                    <a:bodyPr/>
                    <a:lstStyle/>
                    <a:p>
                      <a:pPr marL="0" marR="0" lvl="0" indent="0" algn="l" rtl="0">
                        <a:spcBef>
                          <a:spcPts val="0"/>
                        </a:spcBef>
                        <a:spcAft>
                          <a:spcPts val="0"/>
                        </a:spcAft>
                        <a:buNone/>
                      </a:pPr>
                      <a:r>
                        <a:rPr lang="en-US" sz="1800"/>
                        <a:t>A7 (5,10)</a:t>
                      </a:r>
                      <a:endParaRPr/>
                    </a:p>
                  </a:txBody>
                  <a:tcPr marL="62150" marR="62150" marT="31075" marB="31075" anchor="ctr"/>
                </a:tc>
                <a:tc>
                  <a:txBody>
                    <a:bodyPr/>
                    <a:lstStyle/>
                    <a:p>
                      <a:pPr marL="0" marR="0" lvl="0" indent="0" algn="l" rtl="0">
                        <a:spcBef>
                          <a:spcPts val="0"/>
                        </a:spcBef>
                        <a:spcAft>
                          <a:spcPts val="0"/>
                        </a:spcAft>
                        <a:buNone/>
                      </a:pPr>
                      <a:r>
                        <a:rPr lang="en-US" sz="1800"/>
                        <a:t>4.972</a:t>
                      </a:r>
                      <a:endParaRPr/>
                    </a:p>
                  </a:txBody>
                  <a:tcPr marL="62150" marR="62150" marT="31075" marB="31075" anchor="ctr"/>
                </a:tc>
                <a:tc>
                  <a:txBody>
                    <a:bodyPr/>
                    <a:lstStyle/>
                    <a:p>
                      <a:pPr marL="0" marR="0" lvl="0" indent="0" algn="l" rtl="0">
                        <a:spcBef>
                          <a:spcPts val="0"/>
                        </a:spcBef>
                        <a:spcAft>
                          <a:spcPts val="0"/>
                        </a:spcAft>
                        <a:buNone/>
                      </a:pPr>
                      <a:r>
                        <a:rPr lang="en-US" sz="1800"/>
                        <a:t>1.077</a:t>
                      </a:r>
                      <a:endParaRPr/>
                    </a:p>
                  </a:txBody>
                  <a:tcPr marL="62150" marR="62150" marT="31075" marB="31075" anchor="ctr"/>
                </a:tc>
                <a:tc>
                  <a:txBody>
                    <a:bodyPr/>
                    <a:lstStyle/>
                    <a:p>
                      <a:pPr marL="0" marR="0" lvl="0" indent="0" algn="l" rtl="0">
                        <a:spcBef>
                          <a:spcPts val="0"/>
                        </a:spcBef>
                        <a:spcAft>
                          <a:spcPts val="0"/>
                        </a:spcAft>
                        <a:buNone/>
                      </a:pPr>
                      <a:r>
                        <a:rPr lang="en-US" sz="1800"/>
                        <a:t>4.191</a:t>
                      </a:r>
                      <a:endParaRPr/>
                    </a:p>
                  </a:txBody>
                  <a:tcPr marL="62150" marR="62150" marT="31075" marB="31075" anchor="ctr"/>
                </a:tc>
                <a:tc>
                  <a:txBody>
                    <a:bodyPr/>
                    <a:lstStyle/>
                    <a:p>
                      <a:pPr marL="0" marR="0" lvl="0" indent="0" algn="l" rtl="0">
                        <a:spcBef>
                          <a:spcPts val="0"/>
                        </a:spcBef>
                        <a:spcAft>
                          <a:spcPts val="0"/>
                        </a:spcAft>
                        <a:buNone/>
                      </a:pPr>
                      <a:r>
                        <a:rPr lang="en-US" sz="1800"/>
                        <a:t>Cluster 2</a:t>
                      </a:r>
                      <a:endParaRPr/>
                    </a:p>
                  </a:txBody>
                  <a:tcPr marL="62150" marR="62150" marT="31075" marB="31075" anchor="ctr"/>
                </a:tc>
                <a:extLst>
                  <a:ext uri="{0D108BD9-81ED-4DB2-BD59-A6C34878D82A}">
                    <a16:rowId xmlns:a16="http://schemas.microsoft.com/office/drawing/2014/main" val="10007"/>
                  </a:ext>
                </a:extLst>
              </a:tr>
              <a:tr h="248650">
                <a:tc>
                  <a:txBody>
                    <a:bodyPr/>
                    <a:lstStyle/>
                    <a:p>
                      <a:pPr marL="0" marR="0" lvl="0" indent="0" algn="l" rtl="0">
                        <a:spcBef>
                          <a:spcPts val="0"/>
                        </a:spcBef>
                        <a:spcAft>
                          <a:spcPts val="0"/>
                        </a:spcAft>
                        <a:buNone/>
                      </a:pPr>
                      <a:r>
                        <a:rPr lang="en-US" sz="1800"/>
                        <a:t>A8 (4,9)</a:t>
                      </a:r>
                      <a:endParaRPr/>
                    </a:p>
                  </a:txBody>
                  <a:tcPr marL="62150" marR="62150" marT="31075" marB="31075" anchor="ctr"/>
                </a:tc>
                <a:tc>
                  <a:txBody>
                    <a:bodyPr/>
                    <a:lstStyle/>
                    <a:p>
                      <a:pPr marL="0" marR="0" lvl="0" indent="0" algn="l" rtl="0">
                        <a:spcBef>
                          <a:spcPts val="0"/>
                        </a:spcBef>
                        <a:spcAft>
                          <a:spcPts val="0"/>
                        </a:spcAft>
                        <a:buNone/>
                      </a:pPr>
                      <a:r>
                        <a:rPr lang="en-US" sz="1800"/>
                        <a:t>3.837</a:t>
                      </a:r>
                      <a:endParaRPr/>
                    </a:p>
                  </a:txBody>
                  <a:tcPr marL="62150" marR="62150" marT="31075" marB="31075" anchor="ctr"/>
                </a:tc>
                <a:tc>
                  <a:txBody>
                    <a:bodyPr/>
                    <a:lstStyle/>
                    <a:p>
                      <a:pPr marL="0" marR="0" lvl="0" indent="0" algn="l" rtl="0">
                        <a:spcBef>
                          <a:spcPts val="0"/>
                        </a:spcBef>
                        <a:spcAft>
                          <a:spcPts val="0"/>
                        </a:spcAft>
                        <a:buNone/>
                      </a:pPr>
                      <a:r>
                        <a:rPr lang="en-US" sz="1800"/>
                        <a:t>0.600</a:t>
                      </a:r>
                      <a:endParaRPr/>
                    </a:p>
                  </a:txBody>
                  <a:tcPr marL="62150" marR="62150" marT="31075" marB="31075" anchor="ctr"/>
                </a:tc>
                <a:tc>
                  <a:txBody>
                    <a:bodyPr/>
                    <a:lstStyle/>
                    <a:p>
                      <a:pPr marL="0" marR="0" lvl="0" indent="0" algn="l" rtl="0">
                        <a:spcBef>
                          <a:spcPts val="0"/>
                        </a:spcBef>
                        <a:spcAft>
                          <a:spcPts val="0"/>
                        </a:spcAft>
                        <a:buNone/>
                      </a:pPr>
                      <a:r>
                        <a:rPr lang="en-US" sz="1800"/>
                        <a:t>5.483</a:t>
                      </a:r>
                      <a:endParaRPr/>
                    </a:p>
                  </a:txBody>
                  <a:tcPr marL="62150" marR="62150" marT="31075" marB="31075" anchor="ctr"/>
                </a:tc>
                <a:tc>
                  <a:txBody>
                    <a:bodyPr/>
                    <a:lstStyle/>
                    <a:p>
                      <a:pPr marL="0" marR="0" lvl="0" indent="0" algn="l" rtl="0">
                        <a:spcBef>
                          <a:spcPts val="0"/>
                        </a:spcBef>
                        <a:spcAft>
                          <a:spcPts val="0"/>
                        </a:spcAft>
                        <a:buNone/>
                      </a:pPr>
                      <a:r>
                        <a:rPr lang="en-US" sz="1800"/>
                        <a:t>Cluster 2</a:t>
                      </a:r>
                      <a:endParaRPr/>
                    </a:p>
                  </a:txBody>
                  <a:tcPr marL="62150" marR="62150" marT="31075" marB="31075" anchor="ctr"/>
                </a:tc>
                <a:extLst>
                  <a:ext uri="{0D108BD9-81ED-4DB2-BD59-A6C34878D82A}">
                    <a16:rowId xmlns:a16="http://schemas.microsoft.com/office/drawing/2014/main" val="10008"/>
                  </a:ext>
                </a:extLst>
              </a:tr>
              <a:tr h="248650">
                <a:tc>
                  <a:txBody>
                    <a:bodyPr/>
                    <a:lstStyle/>
                    <a:p>
                      <a:pPr marL="0" marR="0" lvl="0" indent="0" algn="l" rtl="0">
                        <a:spcBef>
                          <a:spcPts val="0"/>
                        </a:spcBef>
                        <a:spcAft>
                          <a:spcPts val="0"/>
                        </a:spcAft>
                        <a:buNone/>
                      </a:pPr>
                      <a:r>
                        <a:rPr lang="en-US" sz="1800"/>
                        <a:t>A9 (10,12)</a:t>
                      </a:r>
                      <a:endParaRPr/>
                    </a:p>
                  </a:txBody>
                  <a:tcPr marL="62150" marR="62150" marT="31075" marB="31075" anchor="ctr"/>
                </a:tc>
                <a:tc>
                  <a:txBody>
                    <a:bodyPr/>
                    <a:lstStyle/>
                    <a:p>
                      <a:pPr marL="0" marR="0" lvl="0" indent="0" algn="l" rtl="0">
                        <a:spcBef>
                          <a:spcPts val="0"/>
                        </a:spcBef>
                        <a:spcAft>
                          <a:spcPts val="0"/>
                        </a:spcAft>
                        <a:buNone/>
                      </a:pPr>
                      <a:r>
                        <a:rPr lang="en-US" sz="1800"/>
                        <a:t>9.204</a:t>
                      </a:r>
                      <a:endParaRPr/>
                    </a:p>
                  </a:txBody>
                  <a:tcPr marL="62150" marR="62150" marT="31075" marB="31075" anchor="ctr"/>
                </a:tc>
                <a:tc>
                  <a:txBody>
                    <a:bodyPr/>
                    <a:lstStyle/>
                    <a:p>
                      <a:pPr marL="0" marR="0" lvl="0" indent="0" algn="l" rtl="0">
                        <a:spcBef>
                          <a:spcPts val="0"/>
                        </a:spcBef>
                        <a:spcAft>
                          <a:spcPts val="0"/>
                        </a:spcAft>
                        <a:buNone/>
                      </a:pPr>
                      <a:r>
                        <a:rPr lang="en-US" sz="1800"/>
                        <a:t>6.462</a:t>
                      </a:r>
                      <a:endParaRPr/>
                    </a:p>
                  </a:txBody>
                  <a:tcPr marL="62150" marR="62150" marT="31075" marB="31075" anchor="ctr"/>
                </a:tc>
                <a:tc>
                  <a:txBody>
                    <a:bodyPr/>
                    <a:lstStyle/>
                    <a:p>
                      <a:pPr marL="0" marR="0" lvl="0" indent="0" algn="l" rtl="0">
                        <a:spcBef>
                          <a:spcPts val="0"/>
                        </a:spcBef>
                        <a:spcAft>
                          <a:spcPts val="0"/>
                        </a:spcAft>
                        <a:buNone/>
                      </a:pPr>
                      <a:r>
                        <a:rPr lang="en-US" sz="1800"/>
                        <a:t>1.250</a:t>
                      </a:r>
                      <a:endParaRPr/>
                    </a:p>
                  </a:txBody>
                  <a:tcPr marL="62150" marR="62150" marT="31075" marB="31075" anchor="ctr"/>
                </a:tc>
                <a:tc>
                  <a:txBody>
                    <a:bodyPr/>
                    <a:lstStyle/>
                    <a:p>
                      <a:pPr marL="0" marR="0" lvl="0" indent="0" algn="l" rtl="0">
                        <a:spcBef>
                          <a:spcPts val="0"/>
                        </a:spcBef>
                        <a:spcAft>
                          <a:spcPts val="0"/>
                        </a:spcAft>
                        <a:buNone/>
                      </a:pPr>
                      <a:r>
                        <a:rPr lang="en-US" sz="1800"/>
                        <a:t>Cluster 3</a:t>
                      </a:r>
                      <a:endParaRPr/>
                    </a:p>
                  </a:txBody>
                  <a:tcPr marL="62150" marR="62150" marT="31075" marB="31075" anchor="ctr"/>
                </a:tc>
                <a:extLst>
                  <a:ext uri="{0D108BD9-81ED-4DB2-BD59-A6C34878D82A}">
                    <a16:rowId xmlns:a16="http://schemas.microsoft.com/office/drawing/2014/main" val="10009"/>
                  </a:ext>
                </a:extLst>
              </a:tr>
              <a:tr h="248650">
                <a:tc>
                  <a:txBody>
                    <a:bodyPr/>
                    <a:lstStyle/>
                    <a:p>
                      <a:pPr marL="0" marR="0" lvl="0" indent="0" algn="l" rtl="0">
                        <a:spcBef>
                          <a:spcPts val="0"/>
                        </a:spcBef>
                        <a:spcAft>
                          <a:spcPts val="0"/>
                        </a:spcAft>
                        <a:buNone/>
                      </a:pPr>
                      <a:r>
                        <a:rPr lang="en-US" sz="1800"/>
                        <a:t>A10 (7,5)</a:t>
                      </a:r>
                      <a:endParaRPr/>
                    </a:p>
                  </a:txBody>
                  <a:tcPr marL="62150" marR="62150" marT="31075" marB="31075" anchor="ctr"/>
                </a:tc>
                <a:tc>
                  <a:txBody>
                    <a:bodyPr/>
                    <a:lstStyle/>
                    <a:p>
                      <a:pPr marL="0" marR="0" lvl="0" indent="0" algn="l" rtl="0">
                        <a:spcBef>
                          <a:spcPts val="0"/>
                        </a:spcBef>
                        <a:spcAft>
                          <a:spcPts val="0"/>
                        </a:spcAft>
                        <a:buNone/>
                      </a:pPr>
                      <a:r>
                        <a:rPr lang="en-US" sz="1800"/>
                        <a:t>3.171</a:t>
                      </a:r>
                      <a:endParaRPr/>
                    </a:p>
                  </a:txBody>
                  <a:tcPr marL="62150" marR="62150" marT="31075" marB="31075" anchor="ctr"/>
                </a:tc>
                <a:tc>
                  <a:txBody>
                    <a:bodyPr/>
                    <a:lstStyle/>
                    <a:p>
                      <a:pPr marL="0" marR="0" lvl="0" indent="0" algn="l" rtl="0">
                        <a:spcBef>
                          <a:spcPts val="0"/>
                        </a:spcBef>
                        <a:spcAft>
                          <a:spcPts val="0"/>
                        </a:spcAft>
                        <a:buNone/>
                      </a:pPr>
                      <a:r>
                        <a:rPr lang="en-US" sz="1800"/>
                        <a:t>5.492</a:t>
                      </a:r>
                      <a:endParaRPr/>
                    </a:p>
                  </a:txBody>
                  <a:tcPr marL="62150" marR="62150" marT="31075" marB="31075" anchor="ctr"/>
                </a:tc>
                <a:tc>
                  <a:txBody>
                    <a:bodyPr/>
                    <a:lstStyle/>
                    <a:p>
                      <a:pPr marL="0" marR="0" lvl="0" indent="0" algn="l" rtl="0">
                        <a:spcBef>
                          <a:spcPts val="0"/>
                        </a:spcBef>
                        <a:spcAft>
                          <a:spcPts val="0"/>
                        </a:spcAft>
                        <a:buNone/>
                      </a:pPr>
                      <a:r>
                        <a:rPr lang="en-US" sz="1800"/>
                        <a:t>6.562</a:t>
                      </a:r>
                      <a:endParaRPr/>
                    </a:p>
                  </a:txBody>
                  <a:tcPr marL="62150" marR="62150" marT="31075" marB="31075" anchor="ctr"/>
                </a:tc>
                <a:tc>
                  <a:txBody>
                    <a:bodyPr/>
                    <a:lstStyle/>
                    <a:p>
                      <a:pPr marL="0" marR="0" lvl="0" indent="0" algn="l" rtl="0">
                        <a:spcBef>
                          <a:spcPts val="0"/>
                        </a:spcBef>
                        <a:spcAft>
                          <a:spcPts val="0"/>
                        </a:spcAft>
                        <a:buNone/>
                      </a:pPr>
                      <a:r>
                        <a:rPr lang="en-US" sz="1800"/>
                        <a:t>Cluster 1</a:t>
                      </a:r>
                      <a:endParaRPr/>
                    </a:p>
                  </a:txBody>
                  <a:tcPr marL="62150" marR="62150" marT="31075" marB="31075" anchor="ctr"/>
                </a:tc>
                <a:extLst>
                  <a:ext uri="{0D108BD9-81ED-4DB2-BD59-A6C34878D82A}">
                    <a16:rowId xmlns:a16="http://schemas.microsoft.com/office/drawing/2014/main" val="10010"/>
                  </a:ext>
                </a:extLst>
              </a:tr>
              <a:tr h="248650">
                <a:tc>
                  <a:txBody>
                    <a:bodyPr/>
                    <a:lstStyle/>
                    <a:p>
                      <a:pPr marL="0" marR="0" lvl="0" indent="0" algn="l" rtl="0">
                        <a:spcBef>
                          <a:spcPts val="0"/>
                        </a:spcBef>
                        <a:spcAft>
                          <a:spcPts val="0"/>
                        </a:spcAft>
                        <a:buNone/>
                      </a:pPr>
                      <a:r>
                        <a:rPr lang="en-US" sz="1800"/>
                        <a:t>A11 (9,11)</a:t>
                      </a:r>
                      <a:endParaRPr/>
                    </a:p>
                  </a:txBody>
                  <a:tcPr marL="62150" marR="62150" marT="31075" marB="31075" anchor="ctr"/>
                </a:tc>
                <a:tc>
                  <a:txBody>
                    <a:bodyPr/>
                    <a:lstStyle/>
                    <a:p>
                      <a:pPr marL="0" marR="0" lvl="0" indent="0" algn="l" rtl="0">
                        <a:spcBef>
                          <a:spcPts val="0"/>
                        </a:spcBef>
                        <a:spcAft>
                          <a:spcPts val="0"/>
                        </a:spcAft>
                        <a:buNone/>
                      </a:pPr>
                      <a:r>
                        <a:rPr lang="en-US" sz="1800"/>
                        <a:t>7.792</a:t>
                      </a:r>
                      <a:endParaRPr/>
                    </a:p>
                  </a:txBody>
                  <a:tcPr marL="62150" marR="62150" marT="31075" marB="31075" anchor="ctr"/>
                </a:tc>
                <a:tc>
                  <a:txBody>
                    <a:bodyPr/>
                    <a:lstStyle/>
                    <a:p>
                      <a:pPr marL="0" marR="0" lvl="0" indent="0" algn="l" rtl="0">
                        <a:spcBef>
                          <a:spcPts val="0"/>
                        </a:spcBef>
                        <a:spcAft>
                          <a:spcPts val="0"/>
                        </a:spcAft>
                        <a:buNone/>
                      </a:pPr>
                      <a:r>
                        <a:rPr lang="en-US" sz="1800"/>
                        <a:t>5.192</a:t>
                      </a:r>
                      <a:endParaRPr/>
                    </a:p>
                  </a:txBody>
                  <a:tcPr marL="62150" marR="62150" marT="31075" marB="31075" anchor="ctr"/>
                </a:tc>
                <a:tc>
                  <a:txBody>
                    <a:bodyPr/>
                    <a:lstStyle/>
                    <a:p>
                      <a:pPr marL="0" marR="0" lvl="0" indent="0" algn="l" rtl="0">
                        <a:spcBef>
                          <a:spcPts val="0"/>
                        </a:spcBef>
                        <a:spcAft>
                          <a:spcPts val="0"/>
                        </a:spcAft>
                        <a:buNone/>
                      </a:pPr>
                      <a:r>
                        <a:rPr lang="en-US" sz="1800"/>
                        <a:t>0.250</a:t>
                      </a:r>
                      <a:endParaRPr/>
                    </a:p>
                  </a:txBody>
                  <a:tcPr marL="62150" marR="62150" marT="31075" marB="31075" anchor="ctr"/>
                </a:tc>
                <a:tc>
                  <a:txBody>
                    <a:bodyPr/>
                    <a:lstStyle/>
                    <a:p>
                      <a:pPr marL="0" marR="0" lvl="0" indent="0" algn="l" rtl="0">
                        <a:spcBef>
                          <a:spcPts val="0"/>
                        </a:spcBef>
                        <a:spcAft>
                          <a:spcPts val="0"/>
                        </a:spcAft>
                        <a:buNone/>
                      </a:pPr>
                      <a:r>
                        <a:rPr lang="en-US" sz="1800"/>
                        <a:t>Cluster 3</a:t>
                      </a:r>
                      <a:endParaRPr/>
                    </a:p>
                  </a:txBody>
                  <a:tcPr marL="62150" marR="62150" marT="31075" marB="31075" anchor="ctr"/>
                </a:tc>
                <a:extLst>
                  <a:ext uri="{0D108BD9-81ED-4DB2-BD59-A6C34878D82A}">
                    <a16:rowId xmlns:a16="http://schemas.microsoft.com/office/drawing/2014/main" val="10011"/>
                  </a:ext>
                </a:extLst>
              </a:tr>
              <a:tr h="248650">
                <a:tc>
                  <a:txBody>
                    <a:bodyPr/>
                    <a:lstStyle/>
                    <a:p>
                      <a:pPr marL="0" marR="0" lvl="0" indent="0" algn="l" rtl="0">
                        <a:spcBef>
                          <a:spcPts val="0"/>
                        </a:spcBef>
                        <a:spcAft>
                          <a:spcPts val="0"/>
                        </a:spcAft>
                        <a:buNone/>
                      </a:pPr>
                      <a:r>
                        <a:rPr lang="en-US" sz="1800"/>
                        <a:t>A12 (4,6)</a:t>
                      </a:r>
                      <a:endParaRPr/>
                    </a:p>
                  </a:txBody>
                  <a:tcPr marL="62150" marR="62150" marT="31075" marB="31075" anchor="ctr"/>
                </a:tc>
                <a:tc>
                  <a:txBody>
                    <a:bodyPr/>
                    <a:lstStyle/>
                    <a:p>
                      <a:pPr marL="0" marR="0" lvl="0" indent="0" algn="l" rtl="0">
                        <a:spcBef>
                          <a:spcPts val="0"/>
                        </a:spcBef>
                        <a:spcAft>
                          <a:spcPts val="0"/>
                        </a:spcAft>
                        <a:buNone/>
                      </a:pPr>
                      <a:r>
                        <a:rPr lang="en-US" sz="1800"/>
                        <a:t>0.850</a:t>
                      </a:r>
                      <a:endParaRPr/>
                    </a:p>
                  </a:txBody>
                  <a:tcPr marL="62150" marR="62150" marT="31075" marB="31075" anchor="ctr"/>
                </a:tc>
                <a:tc>
                  <a:txBody>
                    <a:bodyPr/>
                    <a:lstStyle/>
                    <a:p>
                      <a:pPr marL="0" marR="0" lvl="0" indent="0" algn="l" rtl="0">
                        <a:spcBef>
                          <a:spcPts val="0"/>
                        </a:spcBef>
                        <a:spcAft>
                          <a:spcPts val="0"/>
                        </a:spcAft>
                        <a:buNone/>
                      </a:pPr>
                      <a:r>
                        <a:rPr lang="en-US" sz="1800"/>
                        <a:t>3.600</a:t>
                      </a:r>
                      <a:endParaRPr/>
                    </a:p>
                  </a:txBody>
                  <a:tcPr marL="62150" marR="62150" marT="31075" marB="31075" anchor="ctr"/>
                </a:tc>
                <a:tc>
                  <a:txBody>
                    <a:bodyPr/>
                    <a:lstStyle/>
                    <a:p>
                      <a:pPr marL="0" marR="0" lvl="0" indent="0" algn="l" rtl="0">
                        <a:spcBef>
                          <a:spcPts val="0"/>
                        </a:spcBef>
                        <a:spcAft>
                          <a:spcPts val="0"/>
                        </a:spcAft>
                        <a:buNone/>
                      </a:pPr>
                      <a:r>
                        <a:rPr lang="en-US" sz="1800"/>
                        <a:t>7.250</a:t>
                      </a:r>
                      <a:endParaRPr/>
                    </a:p>
                  </a:txBody>
                  <a:tcPr marL="62150" marR="62150" marT="31075" marB="31075" anchor="ctr"/>
                </a:tc>
                <a:tc>
                  <a:txBody>
                    <a:bodyPr/>
                    <a:lstStyle/>
                    <a:p>
                      <a:pPr marL="0" marR="0" lvl="0" indent="0" algn="l" rtl="0">
                        <a:spcBef>
                          <a:spcPts val="0"/>
                        </a:spcBef>
                        <a:spcAft>
                          <a:spcPts val="0"/>
                        </a:spcAft>
                        <a:buNone/>
                      </a:pPr>
                      <a:r>
                        <a:rPr lang="en-US" sz="1800"/>
                        <a:t>Cluster 1</a:t>
                      </a:r>
                      <a:endParaRPr/>
                    </a:p>
                  </a:txBody>
                  <a:tcPr marL="62150" marR="62150" marT="31075" marB="31075" anchor="ctr"/>
                </a:tc>
                <a:extLst>
                  <a:ext uri="{0D108BD9-81ED-4DB2-BD59-A6C34878D82A}">
                    <a16:rowId xmlns:a16="http://schemas.microsoft.com/office/drawing/2014/main" val="10012"/>
                  </a:ext>
                </a:extLst>
              </a:tr>
              <a:tr h="248650">
                <a:tc>
                  <a:txBody>
                    <a:bodyPr/>
                    <a:lstStyle/>
                    <a:p>
                      <a:pPr marL="0" marR="0" lvl="0" indent="0" algn="l" rtl="0">
                        <a:spcBef>
                          <a:spcPts val="0"/>
                        </a:spcBef>
                        <a:spcAft>
                          <a:spcPts val="0"/>
                        </a:spcAft>
                        <a:buNone/>
                      </a:pPr>
                      <a:r>
                        <a:rPr lang="en-US" sz="1800"/>
                        <a:t>A13 (3,10)</a:t>
                      </a:r>
                      <a:endParaRPr/>
                    </a:p>
                  </a:txBody>
                  <a:tcPr marL="62150" marR="62150" marT="31075" marB="31075" anchor="ctr"/>
                </a:tc>
                <a:tc>
                  <a:txBody>
                    <a:bodyPr/>
                    <a:lstStyle/>
                    <a:p>
                      <a:pPr marL="0" marR="0" lvl="0" indent="0" algn="l" rtl="0">
                        <a:spcBef>
                          <a:spcPts val="0"/>
                        </a:spcBef>
                        <a:spcAft>
                          <a:spcPts val="0"/>
                        </a:spcAft>
                        <a:buNone/>
                      </a:pPr>
                      <a:r>
                        <a:rPr lang="en-US" sz="1800"/>
                        <a:t>4.904</a:t>
                      </a:r>
                      <a:endParaRPr/>
                    </a:p>
                  </a:txBody>
                  <a:tcPr marL="62150" marR="62150" marT="31075" marB="31075" anchor="ctr"/>
                </a:tc>
                <a:tc>
                  <a:txBody>
                    <a:bodyPr/>
                    <a:lstStyle/>
                    <a:p>
                      <a:pPr marL="0" marR="0" lvl="0" indent="0" algn="l" rtl="0">
                        <a:spcBef>
                          <a:spcPts val="0"/>
                        </a:spcBef>
                        <a:spcAft>
                          <a:spcPts val="0"/>
                        </a:spcAft>
                        <a:buNone/>
                      </a:pPr>
                      <a:r>
                        <a:rPr lang="en-US" sz="1800"/>
                        <a:t>1.077</a:t>
                      </a:r>
                      <a:endParaRPr/>
                    </a:p>
                  </a:txBody>
                  <a:tcPr marL="62150" marR="62150" marT="31075" marB="31075" anchor="ctr"/>
                </a:tc>
                <a:tc>
                  <a:txBody>
                    <a:bodyPr/>
                    <a:lstStyle/>
                    <a:p>
                      <a:pPr marL="0" marR="0" lvl="0" indent="0" algn="l" rtl="0">
                        <a:spcBef>
                          <a:spcPts val="0"/>
                        </a:spcBef>
                        <a:spcAft>
                          <a:spcPts val="0"/>
                        </a:spcAft>
                        <a:buNone/>
                      </a:pPr>
                      <a:r>
                        <a:rPr lang="en-US" sz="1800"/>
                        <a:t>6.129</a:t>
                      </a:r>
                      <a:endParaRPr/>
                    </a:p>
                  </a:txBody>
                  <a:tcPr marL="62150" marR="62150" marT="31075" marB="31075" anchor="ctr"/>
                </a:tc>
                <a:tc>
                  <a:txBody>
                    <a:bodyPr/>
                    <a:lstStyle/>
                    <a:p>
                      <a:pPr marL="0" marR="0" lvl="0" indent="0" algn="l" rtl="0">
                        <a:spcBef>
                          <a:spcPts val="0"/>
                        </a:spcBef>
                        <a:spcAft>
                          <a:spcPts val="0"/>
                        </a:spcAft>
                        <a:buNone/>
                      </a:pPr>
                      <a:r>
                        <a:rPr lang="en-US" sz="1800"/>
                        <a:t>Cluster 2</a:t>
                      </a:r>
                      <a:endParaRPr/>
                    </a:p>
                  </a:txBody>
                  <a:tcPr marL="62150" marR="62150" marT="31075" marB="31075" anchor="ctr"/>
                </a:tc>
                <a:extLst>
                  <a:ext uri="{0D108BD9-81ED-4DB2-BD59-A6C34878D82A}">
                    <a16:rowId xmlns:a16="http://schemas.microsoft.com/office/drawing/2014/main" val="10013"/>
                  </a:ext>
                </a:extLst>
              </a:tr>
              <a:tr h="248650">
                <a:tc>
                  <a:txBody>
                    <a:bodyPr/>
                    <a:lstStyle/>
                    <a:p>
                      <a:pPr marL="0" marR="0" lvl="0" indent="0" algn="l" rtl="0">
                        <a:spcBef>
                          <a:spcPts val="0"/>
                        </a:spcBef>
                        <a:spcAft>
                          <a:spcPts val="0"/>
                        </a:spcAft>
                        <a:buNone/>
                      </a:pPr>
                      <a:r>
                        <a:rPr lang="en-US" sz="1800"/>
                        <a:t>A14 (3,8)</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2.953</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1.887</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6.824</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Cluster 2</a:t>
                      </a:r>
                      <a:endParaRPr/>
                    </a:p>
                  </a:txBody>
                  <a:tcPr marL="62150" marR="62150" marT="31075" marB="31075" anchor="ctr">
                    <a:solidFill>
                      <a:srgbClr val="FF0000"/>
                    </a:solidFill>
                  </a:tcPr>
                </a:tc>
                <a:extLst>
                  <a:ext uri="{0D108BD9-81ED-4DB2-BD59-A6C34878D82A}">
                    <a16:rowId xmlns:a16="http://schemas.microsoft.com/office/drawing/2014/main" val="10014"/>
                  </a:ext>
                </a:extLst>
              </a:tr>
              <a:tr h="248650">
                <a:tc>
                  <a:txBody>
                    <a:bodyPr/>
                    <a:lstStyle/>
                    <a:p>
                      <a:pPr marL="0" marR="0" lvl="0" indent="0" algn="l" rtl="0">
                        <a:spcBef>
                          <a:spcPts val="0"/>
                        </a:spcBef>
                        <a:spcAft>
                          <a:spcPts val="0"/>
                        </a:spcAft>
                        <a:buNone/>
                      </a:pPr>
                      <a:r>
                        <a:rPr lang="en-US" sz="1800"/>
                        <a:t>A15 (6,11)</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6.223</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2.441</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3.010</a:t>
                      </a:r>
                      <a:endParaRPr/>
                    </a:p>
                  </a:txBody>
                  <a:tcPr marL="62150" marR="62150" marT="31075" marB="31075" anchor="ctr">
                    <a:solidFill>
                      <a:srgbClr val="FF0000"/>
                    </a:solidFill>
                  </a:tcPr>
                </a:tc>
                <a:tc>
                  <a:txBody>
                    <a:bodyPr/>
                    <a:lstStyle/>
                    <a:p>
                      <a:pPr marL="0" marR="0" lvl="0" indent="0" algn="l" rtl="0">
                        <a:spcBef>
                          <a:spcPts val="0"/>
                        </a:spcBef>
                        <a:spcAft>
                          <a:spcPts val="0"/>
                        </a:spcAft>
                        <a:buNone/>
                      </a:pPr>
                      <a:r>
                        <a:rPr lang="en-US" sz="1800"/>
                        <a:t>Cluster 2</a:t>
                      </a:r>
                      <a:endParaRPr/>
                    </a:p>
                  </a:txBody>
                  <a:tcPr marL="62150" marR="62150" marT="31075" marB="31075" anchor="ctr">
                    <a:solidFill>
                      <a:srgbClr val="FF0000"/>
                    </a:solidFill>
                  </a:tcPr>
                </a:tc>
                <a:extLst>
                  <a:ext uri="{0D108BD9-81ED-4DB2-BD59-A6C34878D82A}">
                    <a16:rowId xmlns:a16="http://schemas.microsoft.com/office/drawing/2014/main" val="10015"/>
                  </a:ext>
                </a:extLst>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cxnSp>
        <p:nvCxnSpPr>
          <p:cNvPr id="313" name="Google Shape;313;p30"/>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14" name="Google Shape;314;p30"/>
          <p:cNvSpPr txBox="1"/>
          <p:nvPr/>
        </p:nvSpPr>
        <p:spPr>
          <a:xfrm>
            <a:off x="546756" y="7545"/>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315" name="Google Shape;315;p30"/>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316" name="Google Shape;316;p30"/>
          <p:cNvSpPr/>
          <p:nvPr/>
        </p:nvSpPr>
        <p:spPr>
          <a:xfrm>
            <a:off x="220133" y="776986"/>
            <a:ext cx="11744340" cy="45243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Now, we will calculate the new centroid for each cluster for the third iteration.</a:t>
            </a:r>
            <a:endParaRPr/>
          </a:p>
          <a:p>
            <a:pPr marL="457200" marR="0" lvl="0" indent="-4572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In cluster 1, we have 5 points i.e. A2 (2,6), A5 (6,4), A6 (1,2), A10 (7,5), and A12 (4,6). To calculate the new centroid for cluster 1, we will find the mean of the x and y coordinates of each point in the cluster. Hence, the new centroid for </a:t>
            </a:r>
            <a:r>
              <a:rPr lang="en-US" sz="2400">
                <a:solidFill>
                  <a:srgbClr val="FFC000"/>
                </a:solidFill>
                <a:latin typeface="Calibri"/>
                <a:ea typeface="Calibri"/>
                <a:cs typeface="Calibri"/>
                <a:sym typeface="Calibri"/>
              </a:rPr>
              <a:t>cluster 1 is (4, 4.6).</a:t>
            </a:r>
            <a:endParaRPr/>
          </a:p>
          <a:p>
            <a:pPr marL="457200" marR="0" lvl="0" indent="-4572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In cluster 2, we have 7 points i.e. A1 (2,10), A4 (6,9), A7 (5,10) , A8 (4,9), A13 (3,10), A14 (3,8), and A15 (6,11). Hence, the new centroid for </a:t>
            </a:r>
            <a:r>
              <a:rPr lang="en-US" sz="2400">
                <a:solidFill>
                  <a:srgbClr val="FFC000"/>
                </a:solidFill>
                <a:latin typeface="Calibri"/>
                <a:ea typeface="Calibri"/>
                <a:cs typeface="Calibri"/>
                <a:sym typeface="Calibri"/>
              </a:rPr>
              <a:t>cluster 2 is (4.143, 9.571) </a:t>
            </a:r>
            <a:endParaRPr/>
          </a:p>
          <a:p>
            <a:pPr marL="457200" marR="0" lvl="0" indent="-4572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In cluster 3, we have 3 points i.e. A3 (11,11), A9 (10,12), and A11 (9,11). Hence, the new centroid for </a:t>
            </a:r>
            <a:r>
              <a:rPr lang="en-US" sz="2400">
                <a:solidFill>
                  <a:srgbClr val="FFC000"/>
                </a:solidFill>
                <a:latin typeface="Calibri"/>
                <a:ea typeface="Calibri"/>
                <a:cs typeface="Calibri"/>
                <a:sym typeface="Calibri"/>
              </a:rPr>
              <a:t>cluster 3 is (10, 11.333).</a:t>
            </a:r>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cxnSp>
        <p:nvCxnSpPr>
          <p:cNvPr id="321" name="Google Shape;321;p31"/>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22" name="Google Shape;322;p31"/>
          <p:cNvSpPr txBox="1"/>
          <p:nvPr/>
        </p:nvSpPr>
        <p:spPr>
          <a:xfrm>
            <a:off x="546756" y="7545"/>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323" name="Google Shape;323;p3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324" name="Google Shape;324;p31"/>
          <p:cNvGraphicFramePr/>
          <p:nvPr/>
        </p:nvGraphicFramePr>
        <p:xfrm>
          <a:off x="785611" y="868891"/>
          <a:ext cx="8519250" cy="5511625"/>
        </p:xfrm>
        <a:graphic>
          <a:graphicData uri="http://schemas.openxmlformats.org/drawingml/2006/table">
            <a:tbl>
              <a:tblPr>
                <a:noFill/>
                <a:tableStyleId>{08B953BB-13DD-4FB7-82F3-D155A25E974E}</a:tableStyleId>
              </a:tblPr>
              <a:tblGrid>
                <a:gridCol w="1703850">
                  <a:extLst>
                    <a:ext uri="{9D8B030D-6E8A-4147-A177-3AD203B41FA5}">
                      <a16:colId xmlns:a16="http://schemas.microsoft.com/office/drawing/2014/main" val="20000"/>
                    </a:ext>
                  </a:extLst>
                </a:gridCol>
                <a:gridCol w="1703850">
                  <a:extLst>
                    <a:ext uri="{9D8B030D-6E8A-4147-A177-3AD203B41FA5}">
                      <a16:colId xmlns:a16="http://schemas.microsoft.com/office/drawing/2014/main" val="20001"/>
                    </a:ext>
                  </a:extLst>
                </a:gridCol>
                <a:gridCol w="1703850">
                  <a:extLst>
                    <a:ext uri="{9D8B030D-6E8A-4147-A177-3AD203B41FA5}">
                      <a16:colId xmlns:a16="http://schemas.microsoft.com/office/drawing/2014/main" val="20002"/>
                    </a:ext>
                  </a:extLst>
                </a:gridCol>
                <a:gridCol w="1703850">
                  <a:extLst>
                    <a:ext uri="{9D8B030D-6E8A-4147-A177-3AD203B41FA5}">
                      <a16:colId xmlns:a16="http://schemas.microsoft.com/office/drawing/2014/main" val="20003"/>
                    </a:ext>
                  </a:extLst>
                </a:gridCol>
                <a:gridCol w="1703850">
                  <a:extLst>
                    <a:ext uri="{9D8B030D-6E8A-4147-A177-3AD203B41FA5}">
                      <a16:colId xmlns:a16="http://schemas.microsoft.com/office/drawing/2014/main" val="20004"/>
                    </a:ext>
                  </a:extLst>
                </a:gridCol>
              </a:tblGrid>
              <a:tr h="995275">
                <a:tc>
                  <a:txBody>
                    <a:bodyPr/>
                    <a:lstStyle/>
                    <a:p>
                      <a:pPr marL="0" marR="0" lvl="0" indent="0" algn="l" rtl="0">
                        <a:spcBef>
                          <a:spcPts val="0"/>
                        </a:spcBef>
                        <a:spcAft>
                          <a:spcPts val="0"/>
                        </a:spcAft>
                        <a:buNone/>
                      </a:pPr>
                      <a:r>
                        <a:rPr lang="en-US" sz="1600" b="1">
                          <a:solidFill>
                            <a:srgbClr val="FFC000"/>
                          </a:solidFill>
                        </a:rPr>
                        <a:t>Point</a:t>
                      </a:r>
                      <a:endParaRPr/>
                    </a:p>
                  </a:txBody>
                  <a:tcPr marL="57250" marR="57250" marT="28625" marB="28625" anchor="ctr"/>
                </a:tc>
                <a:tc>
                  <a:txBody>
                    <a:bodyPr/>
                    <a:lstStyle/>
                    <a:p>
                      <a:pPr marL="0" marR="0" lvl="0" indent="0" algn="l" rtl="0">
                        <a:spcBef>
                          <a:spcPts val="0"/>
                        </a:spcBef>
                        <a:spcAft>
                          <a:spcPts val="0"/>
                        </a:spcAft>
                        <a:buNone/>
                      </a:pPr>
                      <a:r>
                        <a:rPr lang="en-US" sz="1600" b="1">
                          <a:solidFill>
                            <a:srgbClr val="FFC000"/>
                          </a:solidFill>
                        </a:rPr>
                        <a:t>Distance from Centroid 1  (4, 4.6)</a:t>
                      </a:r>
                      <a:endParaRPr/>
                    </a:p>
                  </a:txBody>
                  <a:tcPr marL="57250" marR="57250" marT="28625" marB="28625" anchor="ctr"/>
                </a:tc>
                <a:tc>
                  <a:txBody>
                    <a:bodyPr/>
                    <a:lstStyle/>
                    <a:p>
                      <a:pPr marL="0" marR="0" lvl="0" indent="0" algn="l" rtl="0">
                        <a:spcBef>
                          <a:spcPts val="0"/>
                        </a:spcBef>
                        <a:spcAft>
                          <a:spcPts val="0"/>
                        </a:spcAft>
                        <a:buNone/>
                      </a:pPr>
                      <a:r>
                        <a:rPr lang="en-US" sz="1600" b="1">
                          <a:solidFill>
                            <a:srgbClr val="FFC000"/>
                          </a:solidFill>
                        </a:rPr>
                        <a:t>Distance from centroid 2  (4.143, 9.571)</a:t>
                      </a:r>
                      <a:endParaRPr/>
                    </a:p>
                  </a:txBody>
                  <a:tcPr marL="57250" marR="57250" marT="28625" marB="28625" anchor="ctr"/>
                </a:tc>
                <a:tc>
                  <a:txBody>
                    <a:bodyPr/>
                    <a:lstStyle/>
                    <a:p>
                      <a:pPr marL="0" marR="0" lvl="0" indent="0" algn="l" rtl="0">
                        <a:spcBef>
                          <a:spcPts val="0"/>
                        </a:spcBef>
                        <a:spcAft>
                          <a:spcPts val="0"/>
                        </a:spcAft>
                        <a:buNone/>
                      </a:pPr>
                      <a:r>
                        <a:rPr lang="en-US" sz="1600" b="1">
                          <a:solidFill>
                            <a:srgbClr val="FFC000"/>
                          </a:solidFill>
                        </a:rPr>
                        <a:t>Distance from centroid 3 (10, 11.333)</a:t>
                      </a:r>
                      <a:endParaRPr/>
                    </a:p>
                  </a:txBody>
                  <a:tcPr marL="57250" marR="57250" marT="28625" marB="28625" anchor="ctr"/>
                </a:tc>
                <a:tc>
                  <a:txBody>
                    <a:bodyPr/>
                    <a:lstStyle/>
                    <a:p>
                      <a:pPr marL="0" marR="0" lvl="0" indent="0" algn="l" rtl="0">
                        <a:spcBef>
                          <a:spcPts val="0"/>
                        </a:spcBef>
                        <a:spcAft>
                          <a:spcPts val="0"/>
                        </a:spcAft>
                        <a:buNone/>
                      </a:pPr>
                      <a:r>
                        <a:rPr lang="en-US" sz="1600" b="1">
                          <a:solidFill>
                            <a:srgbClr val="FFC000"/>
                          </a:solidFill>
                        </a:rPr>
                        <a:t>Assigned Cluster</a:t>
                      </a:r>
                      <a:endParaRPr/>
                    </a:p>
                  </a:txBody>
                  <a:tcPr marL="57250" marR="57250" marT="28625" marB="28625" anchor="ctr"/>
                </a:tc>
                <a:extLst>
                  <a:ext uri="{0D108BD9-81ED-4DB2-BD59-A6C34878D82A}">
                    <a16:rowId xmlns:a16="http://schemas.microsoft.com/office/drawing/2014/main" val="10000"/>
                  </a:ext>
                </a:extLst>
              </a:tr>
              <a:tr h="248825">
                <a:tc>
                  <a:txBody>
                    <a:bodyPr/>
                    <a:lstStyle/>
                    <a:p>
                      <a:pPr marL="0" marR="0" lvl="0" indent="0" algn="l" rtl="0">
                        <a:spcBef>
                          <a:spcPts val="0"/>
                        </a:spcBef>
                        <a:spcAft>
                          <a:spcPts val="0"/>
                        </a:spcAft>
                        <a:buNone/>
                      </a:pPr>
                      <a:r>
                        <a:rPr lang="en-US" sz="1600"/>
                        <a:t>A1 (2,10)</a:t>
                      </a:r>
                      <a:endParaRPr/>
                    </a:p>
                  </a:txBody>
                  <a:tcPr marL="57250" marR="57250" marT="28625" marB="28625" anchor="ctr"/>
                </a:tc>
                <a:tc>
                  <a:txBody>
                    <a:bodyPr/>
                    <a:lstStyle/>
                    <a:p>
                      <a:pPr marL="0" marR="0" lvl="0" indent="0" algn="l" rtl="0">
                        <a:spcBef>
                          <a:spcPts val="0"/>
                        </a:spcBef>
                        <a:spcAft>
                          <a:spcPts val="0"/>
                        </a:spcAft>
                        <a:buNone/>
                      </a:pPr>
                      <a:r>
                        <a:rPr lang="en-US" sz="1600"/>
                        <a:t>5.758</a:t>
                      </a:r>
                      <a:endParaRPr/>
                    </a:p>
                  </a:txBody>
                  <a:tcPr marL="57250" marR="57250" marT="28625" marB="28625" anchor="ctr"/>
                </a:tc>
                <a:tc>
                  <a:txBody>
                    <a:bodyPr/>
                    <a:lstStyle/>
                    <a:p>
                      <a:pPr marL="0" marR="0" lvl="0" indent="0" algn="l" rtl="0">
                        <a:spcBef>
                          <a:spcPts val="0"/>
                        </a:spcBef>
                        <a:spcAft>
                          <a:spcPts val="0"/>
                        </a:spcAft>
                        <a:buNone/>
                      </a:pPr>
                      <a:r>
                        <a:rPr lang="en-US" sz="1600"/>
                        <a:t>2.186</a:t>
                      </a:r>
                      <a:endParaRPr/>
                    </a:p>
                  </a:txBody>
                  <a:tcPr marL="57250" marR="57250" marT="28625" marB="28625" anchor="ctr"/>
                </a:tc>
                <a:tc>
                  <a:txBody>
                    <a:bodyPr/>
                    <a:lstStyle/>
                    <a:p>
                      <a:pPr marL="0" marR="0" lvl="0" indent="0" algn="l" rtl="0">
                        <a:spcBef>
                          <a:spcPts val="0"/>
                        </a:spcBef>
                        <a:spcAft>
                          <a:spcPts val="0"/>
                        </a:spcAft>
                        <a:buNone/>
                      </a:pPr>
                      <a:r>
                        <a:rPr lang="en-US" sz="1600"/>
                        <a:t>8.110</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01"/>
                  </a:ext>
                </a:extLst>
              </a:tr>
              <a:tr h="248825">
                <a:tc>
                  <a:txBody>
                    <a:bodyPr/>
                    <a:lstStyle/>
                    <a:p>
                      <a:pPr marL="0" marR="0" lvl="0" indent="0" algn="l" rtl="0">
                        <a:spcBef>
                          <a:spcPts val="0"/>
                        </a:spcBef>
                        <a:spcAft>
                          <a:spcPts val="0"/>
                        </a:spcAft>
                        <a:buNone/>
                      </a:pPr>
                      <a:r>
                        <a:rPr lang="en-US" sz="1600"/>
                        <a:t>A2 (2,6)</a:t>
                      </a:r>
                      <a:endParaRPr/>
                    </a:p>
                  </a:txBody>
                  <a:tcPr marL="57250" marR="57250" marT="28625" marB="28625" anchor="ctr"/>
                </a:tc>
                <a:tc>
                  <a:txBody>
                    <a:bodyPr/>
                    <a:lstStyle/>
                    <a:p>
                      <a:pPr marL="0" marR="0" lvl="0" indent="0" algn="l" rtl="0">
                        <a:spcBef>
                          <a:spcPts val="0"/>
                        </a:spcBef>
                        <a:spcAft>
                          <a:spcPts val="0"/>
                        </a:spcAft>
                        <a:buNone/>
                      </a:pPr>
                      <a:r>
                        <a:rPr lang="en-US" sz="1600"/>
                        <a:t>2.441</a:t>
                      </a:r>
                      <a:endParaRPr/>
                    </a:p>
                  </a:txBody>
                  <a:tcPr marL="57250" marR="57250" marT="28625" marB="28625" anchor="ctr"/>
                </a:tc>
                <a:tc>
                  <a:txBody>
                    <a:bodyPr/>
                    <a:lstStyle/>
                    <a:p>
                      <a:pPr marL="0" marR="0" lvl="0" indent="0" algn="l" rtl="0">
                        <a:spcBef>
                          <a:spcPts val="0"/>
                        </a:spcBef>
                        <a:spcAft>
                          <a:spcPts val="0"/>
                        </a:spcAft>
                        <a:buNone/>
                      </a:pPr>
                      <a:r>
                        <a:rPr lang="en-US" sz="1600"/>
                        <a:t>4.165</a:t>
                      </a:r>
                      <a:endParaRPr/>
                    </a:p>
                  </a:txBody>
                  <a:tcPr marL="57250" marR="57250" marT="28625" marB="28625" anchor="ctr"/>
                </a:tc>
                <a:tc>
                  <a:txBody>
                    <a:bodyPr/>
                    <a:lstStyle/>
                    <a:p>
                      <a:pPr marL="0" marR="0" lvl="0" indent="0" algn="l" rtl="0">
                        <a:spcBef>
                          <a:spcPts val="0"/>
                        </a:spcBef>
                        <a:spcAft>
                          <a:spcPts val="0"/>
                        </a:spcAft>
                        <a:buNone/>
                      </a:pPr>
                      <a:r>
                        <a:rPr lang="en-US" sz="1600"/>
                        <a:t>9.615</a:t>
                      </a:r>
                      <a:endParaRPr/>
                    </a:p>
                  </a:txBody>
                  <a:tcPr marL="57250" marR="57250" marT="28625" marB="28625" anchor="ctr"/>
                </a:tc>
                <a:tc>
                  <a:txBody>
                    <a:bodyPr/>
                    <a:lstStyle/>
                    <a:p>
                      <a:pPr marL="0" marR="0" lvl="0" indent="0" algn="l" rtl="0">
                        <a:spcBef>
                          <a:spcPts val="0"/>
                        </a:spcBef>
                        <a:spcAft>
                          <a:spcPts val="0"/>
                        </a:spcAft>
                        <a:buNone/>
                      </a:pPr>
                      <a:r>
                        <a:rPr lang="en-US" sz="1600"/>
                        <a:t>Cluster 1</a:t>
                      </a:r>
                      <a:endParaRPr/>
                    </a:p>
                  </a:txBody>
                  <a:tcPr marL="57250" marR="57250" marT="28625" marB="28625" anchor="ctr"/>
                </a:tc>
                <a:extLst>
                  <a:ext uri="{0D108BD9-81ED-4DB2-BD59-A6C34878D82A}">
                    <a16:rowId xmlns:a16="http://schemas.microsoft.com/office/drawing/2014/main" val="10002"/>
                  </a:ext>
                </a:extLst>
              </a:tr>
              <a:tr h="248825">
                <a:tc>
                  <a:txBody>
                    <a:bodyPr/>
                    <a:lstStyle/>
                    <a:p>
                      <a:pPr marL="0" marR="0" lvl="0" indent="0" algn="l" rtl="0">
                        <a:spcBef>
                          <a:spcPts val="0"/>
                        </a:spcBef>
                        <a:spcAft>
                          <a:spcPts val="0"/>
                        </a:spcAft>
                        <a:buNone/>
                      </a:pPr>
                      <a:r>
                        <a:rPr lang="en-US" sz="1600"/>
                        <a:t>A3 (11,11)</a:t>
                      </a:r>
                      <a:endParaRPr/>
                    </a:p>
                  </a:txBody>
                  <a:tcPr marL="57250" marR="57250" marT="28625" marB="28625" anchor="ctr"/>
                </a:tc>
                <a:tc>
                  <a:txBody>
                    <a:bodyPr/>
                    <a:lstStyle/>
                    <a:p>
                      <a:pPr marL="0" marR="0" lvl="0" indent="0" algn="l" rtl="0">
                        <a:spcBef>
                          <a:spcPts val="0"/>
                        </a:spcBef>
                        <a:spcAft>
                          <a:spcPts val="0"/>
                        </a:spcAft>
                        <a:buNone/>
                      </a:pPr>
                      <a:r>
                        <a:rPr lang="en-US" sz="1600"/>
                        <a:t>9.485</a:t>
                      </a:r>
                      <a:endParaRPr/>
                    </a:p>
                  </a:txBody>
                  <a:tcPr marL="57250" marR="57250" marT="28625" marB="28625" anchor="ctr"/>
                </a:tc>
                <a:tc>
                  <a:txBody>
                    <a:bodyPr/>
                    <a:lstStyle/>
                    <a:p>
                      <a:pPr marL="0" marR="0" lvl="0" indent="0" algn="l" rtl="0">
                        <a:spcBef>
                          <a:spcPts val="0"/>
                        </a:spcBef>
                        <a:spcAft>
                          <a:spcPts val="0"/>
                        </a:spcAft>
                        <a:buNone/>
                      </a:pPr>
                      <a:r>
                        <a:rPr lang="en-US" sz="1600"/>
                        <a:t>7.004</a:t>
                      </a:r>
                      <a:endParaRPr/>
                    </a:p>
                  </a:txBody>
                  <a:tcPr marL="57250" marR="57250" marT="28625" marB="28625" anchor="ctr"/>
                </a:tc>
                <a:tc>
                  <a:txBody>
                    <a:bodyPr/>
                    <a:lstStyle/>
                    <a:p>
                      <a:pPr marL="0" marR="0" lvl="0" indent="0" algn="l" rtl="0">
                        <a:spcBef>
                          <a:spcPts val="0"/>
                        </a:spcBef>
                        <a:spcAft>
                          <a:spcPts val="0"/>
                        </a:spcAft>
                        <a:buNone/>
                      </a:pPr>
                      <a:r>
                        <a:rPr lang="en-US" sz="1600"/>
                        <a:t>1.054</a:t>
                      </a:r>
                      <a:endParaRPr/>
                    </a:p>
                  </a:txBody>
                  <a:tcPr marL="57250" marR="57250" marT="28625" marB="28625" anchor="ctr"/>
                </a:tc>
                <a:tc>
                  <a:txBody>
                    <a:bodyPr/>
                    <a:lstStyle/>
                    <a:p>
                      <a:pPr marL="0" marR="0" lvl="0" indent="0" algn="l" rtl="0">
                        <a:spcBef>
                          <a:spcPts val="0"/>
                        </a:spcBef>
                        <a:spcAft>
                          <a:spcPts val="0"/>
                        </a:spcAft>
                        <a:buNone/>
                      </a:pPr>
                      <a:r>
                        <a:rPr lang="en-US" sz="1600"/>
                        <a:t>Cluster 3</a:t>
                      </a:r>
                      <a:endParaRPr/>
                    </a:p>
                  </a:txBody>
                  <a:tcPr marL="57250" marR="57250" marT="28625" marB="28625" anchor="ctr"/>
                </a:tc>
                <a:extLst>
                  <a:ext uri="{0D108BD9-81ED-4DB2-BD59-A6C34878D82A}">
                    <a16:rowId xmlns:a16="http://schemas.microsoft.com/office/drawing/2014/main" val="10003"/>
                  </a:ext>
                </a:extLst>
              </a:tr>
              <a:tr h="248825">
                <a:tc>
                  <a:txBody>
                    <a:bodyPr/>
                    <a:lstStyle/>
                    <a:p>
                      <a:pPr marL="0" marR="0" lvl="0" indent="0" algn="l" rtl="0">
                        <a:spcBef>
                          <a:spcPts val="0"/>
                        </a:spcBef>
                        <a:spcAft>
                          <a:spcPts val="0"/>
                        </a:spcAft>
                        <a:buNone/>
                      </a:pPr>
                      <a:r>
                        <a:rPr lang="en-US" sz="1600"/>
                        <a:t>A4 (6,9)</a:t>
                      </a:r>
                      <a:endParaRPr/>
                    </a:p>
                  </a:txBody>
                  <a:tcPr marL="57250" marR="57250" marT="28625" marB="28625" anchor="ctr"/>
                </a:tc>
                <a:tc>
                  <a:txBody>
                    <a:bodyPr/>
                    <a:lstStyle/>
                    <a:p>
                      <a:pPr marL="0" marR="0" lvl="0" indent="0" algn="l" rtl="0">
                        <a:spcBef>
                          <a:spcPts val="0"/>
                        </a:spcBef>
                        <a:spcAft>
                          <a:spcPts val="0"/>
                        </a:spcAft>
                        <a:buNone/>
                      </a:pPr>
                      <a:r>
                        <a:rPr lang="en-US" sz="1600"/>
                        <a:t>4.833</a:t>
                      </a:r>
                      <a:endParaRPr/>
                    </a:p>
                  </a:txBody>
                  <a:tcPr marL="57250" marR="57250" marT="28625" marB="28625" anchor="ctr"/>
                </a:tc>
                <a:tc>
                  <a:txBody>
                    <a:bodyPr/>
                    <a:lstStyle/>
                    <a:p>
                      <a:pPr marL="0" marR="0" lvl="0" indent="0" algn="l" rtl="0">
                        <a:spcBef>
                          <a:spcPts val="0"/>
                        </a:spcBef>
                        <a:spcAft>
                          <a:spcPts val="0"/>
                        </a:spcAft>
                        <a:buNone/>
                      </a:pPr>
                      <a:r>
                        <a:rPr lang="en-US" sz="1600"/>
                        <a:t>1.943</a:t>
                      </a:r>
                      <a:endParaRPr/>
                    </a:p>
                  </a:txBody>
                  <a:tcPr marL="57250" marR="57250" marT="28625" marB="28625" anchor="ctr"/>
                </a:tc>
                <a:tc>
                  <a:txBody>
                    <a:bodyPr/>
                    <a:lstStyle/>
                    <a:p>
                      <a:pPr marL="0" marR="0" lvl="0" indent="0" algn="l" rtl="0">
                        <a:spcBef>
                          <a:spcPts val="0"/>
                        </a:spcBef>
                        <a:spcAft>
                          <a:spcPts val="0"/>
                        </a:spcAft>
                        <a:buNone/>
                      </a:pPr>
                      <a:r>
                        <a:rPr lang="en-US" sz="1600"/>
                        <a:t>4.631</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04"/>
                  </a:ext>
                </a:extLst>
              </a:tr>
              <a:tr h="248825">
                <a:tc>
                  <a:txBody>
                    <a:bodyPr/>
                    <a:lstStyle/>
                    <a:p>
                      <a:pPr marL="0" marR="0" lvl="0" indent="0" algn="l" rtl="0">
                        <a:spcBef>
                          <a:spcPts val="0"/>
                        </a:spcBef>
                        <a:spcAft>
                          <a:spcPts val="0"/>
                        </a:spcAft>
                        <a:buNone/>
                      </a:pPr>
                      <a:r>
                        <a:rPr lang="en-US" sz="1600"/>
                        <a:t>A5 (6,4)</a:t>
                      </a:r>
                      <a:endParaRPr/>
                    </a:p>
                  </a:txBody>
                  <a:tcPr marL="57250" marR="57250" marT="28625" marB="28625" anchor="ctr"/>
                </a:tc>
                <a:tc>
                  <a:txBody>
                    <a:bodyPr/>
                    <a:lstStyle/>
                    <a:p>
                      <a:pPr marL="0" marR="0" lvl="0" indent="0" algn="l" rtl="0">
                        <a:spcBef>
                          <a:spcPts val="0"/>
                        </a:spcBef>
                        <a:spcAft>
                          <a:spcPts val="0"/>
                        </a:spcAft>
                        <a:buNone/>
                      </a:pPr>
                      <a:r>
                        <a:rPr lang="en-US" sz="1600"/>
                        <a:t>2.088</a:t>
                      </a:r>
                      <a:endParaRPr/>
                    </a:p>
                  </a:txBody>
                  <a:tcPr marL="57250" marR="57250" marT="28625" marB="28625" anchor="ctr"/>
                </a:tc>
                <a:tc>
                  <a:txBody>
                    <a:bodyPr/>
                    <a:lstStyle/>
                    <a:p>
                      <a:pPr marL="0" marR="0" lvl="0" indent="0" algn="l" rtl="0">
                        <a:spcBef>
                          <a:spcPts val="0"/>
                        </a:spcBef>
                        <a:spcAft>
                          <a:spcPts val="0"/>
                        </a:spcAft>
                        <a:buNone/>
                      </a:pPr>
                      <a:r>
                        <a:rPr lang="en-US" sz="1600"/>
                        <a:t>5.872</a:t>
                      </a:r>
                      <a:endParaRPr/>
                    </a:p>
                  </a:txBody>
                  <a:tcPr marL="57250" marR="57250" marT="28625" marB="28625" anchor="ctr"/>
                </a:tc>
                <a:tc>
                  <a:txBody>
                    <a:bodyPr/>
                    <a:lstStyle/>
                    <a:p>
                      <a:pPr marL="0" marR="0" lvl="0" indent="0" algn="l" rtl="0">
                        <a:spcBef>
                          <a:spcPts val="0"/>
                        </a:spcBef>
                        <a:spcAft>
                          <a:spcPts val="0"/>
                        </a:spcAft>
                        <a:buNone/>
                      </a:pPr>
                      <a:r>
                        <a:rPr lang="en-US" sz="1600"/>
                        <a:t>8.353</a:t>
                      </a:r>
                      <a:endParaRPr/>
                    </a:p>
                  </a:txBody>
                  <a:tcPr marL="57250" marR="57250" marT="28625" marB="28625" anchor="ctr"/>
                </a:tc>
                <a:tc>
                  <a:txBody>
                    <a:bodyPr/>
                    <a:lstStyle/>
                    <a:p>
                      <a:pPr marL="0" marR="0" lvl="0" indent="0" algn="l" rtl="0">
                        <a:spcBef>
                          <a:spcPts val="0"/>
                        </a:spcBef>
                        <a:spcAft>
                          <a:spcPts val="0"/>
                        </a:spcAft>
                        <a:buNone/>
                      </a:pPr>
                      <a:r>
                        <a:rPr lang="en-US" sz="1600"/>
                        <a:t>Cluster 1</a:t>
                      </a:r>
                      <a:endParaRPr/>
                    </a:p>
                  </a:txBody>
                  <a:tcPr marL="57250" marR="57250" marT="28625" marB="28625" anchor="ctr"/>
                </a:tc>
                <a:extLst>
                  <a:ext uri="{0D108BD9-81ED-4DB2-BD59-A6C34878D82A}">
                    <a16:rowId xmlns:a16="http://schemas.microsoft.com/office/drawing/2014/main" val="10005"/>
                  </a:ext>
                </a:extLst>
              </a:tr>
              <a:tr h="248825">
                <a:tc>
                  <a:txBody>
                    <a:bodyPr/>
                    <a:lstStyle/>
                    <a:p>
                      <a:pPr marL="0" marR="0" lvl="0" indent="0" algn="l" rtl="0">
                        <a:spcBef>
                          <a:spcPts val="0"/>
                        </a:spcBef>
                        <a:spcAft>
                          <a:spcPts val="0"/>
                        </a:spcAft>
                        <a:buNone/>
                      </a:pPr>
                      <a:r>
                        <a:rPr lang="en-US" sz="1600"/>
                        <a:t>A6 (1,2)</a:t>
                      </a:r>
                      <a:endParaRPr/>
                    </a:p>
                  </a:txBody>
                  <a:tcPr marL="57250" marR="57250" marT="28625" marB="28625" anchor="ctr"/>
                </a:tc>
                <a:tc>
                  <a:txBody>
                    <a:bodyPr/>
                    <a:lstStyle/>
                    <a:p>
                      <a:pPr marL="0" marR="0" lvl="0" indent="0" algn="l" rtl="0">
                        <a:spcBef>
                          <a:spcPts val="0"/>
                        </a:spcBef>
                        <a:spcAft>
                          <a:spcPts val="0"/>
                        </a:spcAft>
                        <a:buNone/>
                      </a:pPr>
                      <a:r>
                        <a:rPr lang="en-US" sz="1600"/>
                        <a:t>3.970</a:t>
                      </a:r>
                      <a:endParaRPr/>
                    </a:p>
                  </a:txBody>
                  <a:tcPr marL="57250" marR="57250" marT="28625" marB="28625" anchor="ctr"/>
                </a:tc>
                <a:tc>
                  <a:txBody>
                    <a:bodyPr/>
                    <a:lstStyle/>
                    <a:p>
                      <a:pPr marL="0" marR="0" lvl="0" indent="0" algn="l" rtl="0">
                        <a:spcBef>
                          <a:spcPts val="0"/>
                        </a:spcBef>
                        <a:spcAft>
                          <a:spcPts val="0"/>
                        </a:spcAft>
                        <a:buNone/>
                      </a:pPr>
                      <a:r>
                        <a:rPr lang="en-US" sz="1600"/>
                        <a:t>8.197</a:t>
                      </a:r>
                      <a:endParaRPr/>
                    </a:p>
                  </a:txBody>
                  <a:tcPr marL="57250" marR="57250" marT="28625" marB="28625" anchor="ctr"/>
                </a:tc>
                <a:tc>
                  <a:txBody>
                    <a:bodyPr/>
                    <a:lstStyle/>
                    <a:p>
                      <a:pPr marL="0" marR="0" lvl="0" indent="0" algn="l" rtl="0">
                        <a:spcBef>
                          <a:spcPts val="0"/>
                        </a:spcBef>
                        <a:spcAft>
                          <a:spcPts val="0"/>
                        </a:spcAft>
                        <a:buNone/>
                      </a:pPr>
                      <a:r>
                        <a:rPr lang="en-US" sz="1600"/>
                        <a:t>12.966</a:t>
                      </a:r>
                      <a:endParaRPr/>
                    </a:p>
                  </a:txBody>
                  <a:tcPr marL="57250" marR="57250" marT="28625" marB="28625" anchor="ctr"/>
                </a:tc>
                <a:tc>
                  <a:txBody>
                    <a:bodyPr/>
                    <a:lstStyle/>
                    <a:p>
                      <a:pPr marL="0" marR="0" lvl="0" indent="0" algn="l" rtl="0">
                        <a:spcBef>
                          <a:spcPts val="0"/>
                        </a:spcBef>
                        <a:spcAft>
                          <a:spcPts val="0"/>
                        </a:spcAft>
                        <a:buNone/>
                      </a:pPr>
                      <a:r>
                        <a:rPr lang="en-US" sz="1600"/>
                        <a:t>Cluster 1</a:t>
                      </a:r>
                      <a:endParaRPr/>
                    </a:p>
                  </a:txBody>
                  <a:tcPr marL="57250" marR="57250" marT="28625" marB="28625" anchor="ctr"/>
                </a:tc>
                <a:extLst>
                  <a:ext uri="{0D108BD9-81ED-4DB2-BD59-A6C34878D82A}">
                    <a16:rowId xmlns:a16="http://schemas.microsoft.com/office/drawing/2014/main" val="10006"/>
                  </a:ext>
                </a:extLst>
              </a:tr>
              <a:tr h="248825">
                <a:tc>
                  <a:txBody>
                    <a:bodyPr/>
                    <a:lstStyle/>
                    <a:p>
                      <a:pPr marL="0" marR="0" lvl="0" indent="0" algn="l" rtl="0">
                        <a:spcBef>
                          <a:spcPts val="0"/>
                        </a:spcBef>
                        <a:spcAft>
                          <a:spcPts val="0"/>
                        </a:spcAft>
                        <a:buNone/>
                      </a:pPr>
                      <a:r>
                        <a:rPr lang="en-US" sz="1600"/>
                        <a:t>A7 (5,10)</a:t>
                      </a:r>
                      <a:endParaRPr/>
                    </a:p>
                  </a:txBody>
                  <a:tcPr marL="57250" marR="57250" marT="28625" marB="28625" anchor="ctr"/>
                </a:tc>
                <a:tc>
                  <a:txBody>
                    <a:bodyPr/>
                    <a:lstStyle/>
                    <a:p>
                      <a:pPr marL="0" marR="0" lvl="0" indent="0" algn="l" rtl="0">
                        <a:spcBef>
                          <a:spcPts val="0"/>
                        </a:spcBef>
                        <a:spcAft>
                          <a:spcPts val="0"/>
                        </a:spcAft>
                        <a:buNone/>
                      </a:pPr>
                      <a:r>
                        <a:rPr lang="en-US" sz="1600"/>
                        <a:t>5.492</a:t>
                      </a:r>
                      <a:endParaRPr/>
                    </a:p>
                  </a:txBody>
                  <a:tcPr marL="57250" marR="57250" marT="28625" marB="28625" anchor="ctr"/>
                </a:tc>
                <a:tc>
                  <a:txBody>
                    <a:bodyPr/>
                    <a:lstStyle/>
                    <a:p>
                      <a:pPr marL="0" marR="0" lvl="0" indent="0" algn="l" rtl="0">
                        <a:spcBef>
                          <a:spcPts val="0"/>
                        </a:spcBef>
                        <a:spcAft>
                          <a:spcPts val="0"/>
                        </a:spcAft>
                        <a:buNone/>
                      </a:pPr>
                      <a:r>
                        <a:rPr lang="en-US" sz="1600"/>
                        <a:t>0.958</a:t>
                      </a:r>
                      <a:endParaRPr/>
                    </a:p>
                  </a:txBody>
                  <a:tcPr marL="57250" marR="57250" marT="28625" marB="28625" anchor="ctr"/>
                </a:tc>
                <a:tc>
                  <a:txBody>
                    <a:bodyPr/>
                    <a:lstStyle/>
                    <a:p>
                      <a:pPr marL="0" marR="0" lvl="0" indent="0" algn="l" rtl="0">
                        <a:spcBef>
                          <a:spcPts val="0"/>
                        </a:spcBef>
                        <a:spcAft>
                          <a:spcPts val="0"/>
                        </a:spcAft>
                        <a:buNone/>
                      </a:pPr>
                      <a:r>
                        <a:rPr lang="en-US" sz="1600"/>
                        <a:t>5.175</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07"/>
                  </a:ext>
                </a:extLst>
              </a:tr>
              <a:tr h="248825">
                <a:tc>
                  <a:txBody>
                    <a:bodyPr/>
                    <a:lstStyle/>
                    <a:p>
                      <a:pPr marL="0" marR="0" lvl="0" indent="0" algn="l" rtl="0">
                        <a:spcBef>
                          <a:spcPts val="0"/>
                        </a:spcBef>
                        <a:spcAft>
                          <a:spcPts val="0"/>
                        </a:spcAft>
                        <a:buNone/>
                      </a:pPr>
                      <a:r>
                        <a:rPr lang="en-US" sz="1600"/>
                        <a:t>A8 (4,9)</a:t>
                      </a:r>
                      <a:endParaRPr/>
                    </a:p>
                  </a:txBody>
                  <a:tcPr marL="57250" marR="57250" marT="28625" marB="28625" anchor="ctr"/>
                </a:tc>
                <a:tc>
                  <a:txBody>
                    <a:bodyPr/>
                    <a:lstStyle/>
                    <a:p>
                      <a:pPr marL="0" marR="0" lvl="0" indent="0" algn="l" rtl="0">
                        <a:spcBef>
                          <a:spcPts val="0"/>
                        </a:spcBef>
                        <a:spcAft>
                          <a:spcPts val="0"/>
                        </a:spcAft>
                        <a:buNone/>
                      </a:pPr>
                      <a:r>
                        <a:rPr lang="en-US" sz="1600"/>
                        <a:t>4.400</a:t>
                      </a:r>
                      <a:endParaRPr/>
                    </a:p>
                  </a:txBody>
                  <a:tcPr marL="57250" marR="57250" marT="28625" marB="28625" anchor="ctr"/>
                </a:tc>
                <a:tc>
                  <a:txBody>
                    <a:bodyPr/>
                    <a:lstStyle/>
                    <a:p>
                      <a:pPr marL="0" marR="0" lvl="0" indent="0" algn="l" rtl="0">
                        <a:spcBef>
                          <a:spcPts val="0"/>
                        </a:spcBef>
                        <a:spcAft>
                          <a:spcPts val="0"/>
                        </a:spcAft>
                        <a:buNone/>
                      </a:pPr>
                      <a:r>
                        <a:rPr lang="en-US" sz="1600"/>
                        <a:t>0.589</a:t>
                      </a:r>
                      <a:endParaRPr/>
                    </a:p>
                  </a:txBody>
                  <a:tcPr marL="57250" marR="57250" marT="28625" marB="28625" anchor="ctr"/>
                </a:tc>
                <a:tc>
                  <a:txBody>
                    <a:bodyPr/>
                    <a:lstStyle/>
                    <a:p>
                      <a:pPr marL="0" marR="0" lvl="0" indent="0" algn="l" rtl="0">
                        <a:spcBef>
                          <a:spcPts val="0"/>
                        </a:spcBef>
                        <a:spcAft>
                          <a:spcPts val="0"/>
                        </a:spcAft>
                        <a:buNone/>
                      </a:pPr>
                      <a:r>
                        <a:rPr lang="en-US" sz="1600"/>
                        <a:t>6.438</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08"/>
                  </a:ext>
                </a:extLst>
              </a:tr>
              <a:tr h="248825">
                <a:tc>
                  <a:txBody>
                    <a:bodyPr/>
                    <a:lstStyle/>
                    <a:p>
                      <a:pPr marL="0" marR="0" lvl="0" indent="0" algn="l" rtl="0">
                        <a:spcBef>
                          <a:spcPts val="0"/>
                        </a:spcBef>
                        <a:spcAft>
                          <a:spcPts val="0"/>
                        </a:spcAft>
                        <a:buNone/>
                      </a:pPr>
                      <a:r>
                        <a:rPr lang="en-US" sz="1600"/>
                        <a:t>A9 (10,12)</a:t>
                      </a:r>
                      <a:endParaRPr/>
                    </a:p>
                  </a:txBody>
                  <a:tcPr marL="57250" marR="57250" marT="28625" marB="28625" anchor="ctr"/>
                </a:tc>
                <a:tc>
                  <a:txBody>
                    <a:bodyPr/>
                    <a:lstStyle/>
                    <a:p>
                      <a:pPr marL="0" marR="0" lvl="0" indent="0" algn="l" rtl="0">
                        <a:spcBef>
                          <a:spcPts val="0"/>
                        </a:spcBef>
                        <a:spcAft>
                          <a:spcPts val="0"/>
                        </a:spcAft>
                        <a:buNone/>
                      </a:pPr>
                      <a:r>
                        <a:rPr lang="en-US" sz="1600"/>
                        <a:t>9.527</a:t>
                      </a:r>
                      <a:endParaRPr/>
                    </a:p>
                  </a:txBody>
                  <a:tcPr marL="57250" marR="57250" marT="28625" marB="28625" anchor="ctr"/>
                </a:tc>
                <a:tc>
                  <a:txBody>
                    <a:bodyPr/>
                    <a:lstStyle/>
                    <a:p>
                      <a:pPr marL="0" marR="0" lvl="0" indent="0" algn="l" rtl="0">
                        <a:spcBef>
                          <a:spcPts val="0"/>
                        </a:spcBef>
                        <a:spcAft>
                          <a:spcPts val="0"/>
                        </a:spcAft>
                        <a:buNone/>
                      </a:pPr>
                      <a:r>
                        <a:rPr lang="en-US" sz="1600"/>
                        <a:t>6.341</a:t>
                      </a:r>
                      <a:endParaRPr/>
                    </a:p>
                  </a:txBody>
                  <a:tcPr marL="57250" marR="57250" marT="28625" marB="28625" anchor="ctr"/>
                </a:tc>
                <a:tc>
                  <a:txBody>
                    <a:bodyPr/>
                    <a:lstStyle/>
                    <a:p>
                      <a:pPr marL="0" marR="0" lvl="0" indent="0" algn="l" rtl="0">
                        <a:spcBef>
                          <a:spcPts val="0"/>
                        </a:spcBef>
                        <a:spcAft>
                          <a:spcPts val="0"/>
                        </a:spcAft>
                        <a:buNone/>
                      </a:pPr>
                      <a:r>
                        <a:rPr lang="en-US" sz="1600"/>
                        <a:t>0.667</a:t>
                      </a:r>
                      <a:endParaRPr/>
                    </a:p>
                  </a:txBody>
                  <a:tcPr marL="57250" marR="57250" marT="28625" marB="28625" anchor="ctr"/>
                </a:tc>
                <a:tc>
                  <a:txBody>
                    <a:bodyPr/>
                    <a:lstStyle/>
                    <a:p>
                      <a:pPr marL="0" marR="0" lvl="0" indent="0" algn="l" rtl="0">
                        <a:spcBef>
                          <a:spcPts val="0"/>
                        </a:spcBef>
                        <a:spcAft>
                          <a:spcPts val="0"/>
                        </a:spcAft>
                        <a:buNone/>
                      </a:pPr>
                      <a:r>
                        <a:rPr lang="en-US" sz="1600"/>
                        <a:t>Cluster 3</a:t>
                      </a:r>
                      <a:endParaRPr/>
                    </a:p>
                  </a:txBody>
                  <a:tcPr marL="57250" marR="57250" marT="28625" marB="28625" anchor="ctr"/>
                </a:tc>
                <a:extLst>
                  <a:ext uri="{0D108BD9-81ED-4DB2-BD59-A6C34878D82A}">
                    <a16:rowId xmlns:a16="http://schemas.microsoft.com/office/drawing/2014/main" val="10009"/>
                  </a:ext>
                </a:extLst>
              </a:tr>
              <a:tr h="248825">
                <a:tc>
                  <a:txBody>
                    <a:bodyPr/>
                    <a:lstStyle/>
                    <a:p>
                      <a:pPr marL="0" marR="0" lvl="0" indent="0" algn="l" rtl="0">
                        <a:spcBef>
                          <a:spcPts val="0"/>
                        </a:spcBef>
                        <a:spcAft>
                          <a:spcPts val="0"/>
                        </a:spcAft>
                        <a:buNone/>
                      </a:pPr>
                      <a:r>
                        <a:rPr lang="en-US" sz="1600"/>
                        <a:t>A10 (7,5)</a:t>
                      </a:r>
                      <a:endParaRPr/>
                    </a:p>
                  </a:txBody>
                  <a:tcPr marL="57250" marR="57250" marT="28625" marB="28625" anchor="ctr"/>
                </a:tc>
                <a:tc>
                  <a:txBody>
                    <a:bodyPr/>
                    <a:lstStyle/>
                    <a:p>
                      <a:pPr marL="0" marR="0" lvl="0" indent="0" algn="l" rtl="0">
                        <a:spcBef>
                          <a:spcPts val="0"/>
                        </a:spcBef>
                        <a:spcAft>
                          <a:spcPts val="0"/>
                        </a:spcAft>
                        <a:buNone/>
                      </a:pPr>
                      <a:r>
                        <a:rPr lang="en-US" sz="1600"/>
                        <a:t>3.027</a:t>
                      </a:r>
                      <a:endParaRPr/>
                    </a:p>
                  </a:txBody>
                  <a:tcPr marL="57250" marR="57250" marT="28625" marB="28625" anchor="ctr"/>
                </a:tc>
                <a:tc>
                  <a:txBody>
                    <a:bodyPr/>
                    <a:lstStyle/>
                    <a:p>
                      <a:pPr marL="0" marR="0" lvl="0" indent="0" algn="l" rtl="0">
                        <a:spcBef>
                          <a:spcPts val="0"/>
                        </a:spcBef>
                        <a:spcAft>
                          <a:spcPts val="0"/>
                        </a:spcAft>
                        <a:buNone/>
                      </a:pPr>
                      <a:r>
                        <a:rPr lang="en-US" sz="1600"/>
                        <a:t>5.390</a:t>
                      </a:r>
                      <a:endParaRPr/>
                    </a:p>
                  </a:txBody>
                  <a:tcPr marL="57250" marR="57250" marT="28625" marB="28625" anchor="ctr"/>
                </a:tc>
                <a:tc>
                  <a:txBody>
                    <a:bodyPr/>
                    <a:lstStyle/>
                    <a:p>
                      <a:pPr marL="0" marR="0" lvl="0" indent="0" algn="l" rtl="0">
                        <a:spcBef>
                          <a:spcPts val="0"/>
                        </a:spcBef>
                        <a:spcAft>
                          <a:spcPts val="0"/>
                        </a:spcAft>
                        <a:buNone/>
                      </a:pPr>
                      <a:r>
                        <a:rPr lang="en-US" sz="1600"/>
                        <a:t>7.008</a:t>
                      </a:r>
                      <a:endParaRPr/>
                    </a:p>
                  </a:txBody>
                  <a:tcPr marL="57250" marR="57250" marT="28625" marB="28625" anchor="ctr"/>
                </a:tc>
                <a:tc>
                  <a:txBody>
                    <a:bodyPr/>
                    <a:lstStyle/>
                    <a:p>
                      <a:pPr marL="0" marR="0" lvl="0" indent="0" algn="l" rtl="0">
                        <a:spcBef>
                          <a:spcPts val="0"/>
                        </a:spcBef>
                        <a:spcAft>
                          <a:spcPts val="0"/>
                        </a:spcAft>
                        <a:buNone/>
                      </a:pPr>
                      <a:r>
                        <a:rPr lang="en-US" sz="1600"/>
                        <a:t>Cluster 1</a:t>
                      </a:r>
                      <a:endParaRPr/>
                    </a:p>
                  </a:txBody>
                  <a:tcPr marL="57250" marR="57250" marT="28625" marB="28625" anchor="ctr"/>
                </a:tc>
                <a:extLst>
                  <a:ext uri="{0D108BD9-81ED-4DB2-BD59-A6C34878D82A}">
                    <a16:rowId xmlns:a16="http://schemas.microsoft.com/office/drawing/2014/main" val="10010"/>
                  </a:ext>
                </a:extLst>
              </a:tr>
              <a:tr h="248825">
                <a:tc>
                  <a:txBody>
                    <a:bodyPr/>
                    <a:lstStyle/>
                    <a:p>
                      <a:pPr marL="0" marR="0" lvl="0" indent="0" algn="l" rtl="0">
                        <a:spcBef>
                          <a:spcPts val="0"/>
                        </a:spcBef>
                        <a:spcAft>
                          <a:spcPts val="0"/>
                        </a:spcAft>
                        <a:buNone/>
                      </a:pPr>
                      <a:r>
                        <a:rPr lang="en-US" sz="1600"/>
                        <a:t>A11 (9,11)</a:t>
                      </a:r>
                      <a:endParaRPr/>
                    </a:p>
                  </a:txBody>
                  <a:tcPr marL="57250" marR="57250" marT="28625" marB="28625" anchor="ctr"/>
                </a:tc>
                <a:tc>
                  <a:txBody>
                    <a:bodyPr/>
                    <a:lstStyle/>
                    <a:p>
                      <a:pPr marL="0" marR="0" lvl="0" indent="0" algn="l" rtl="0">
                        <a:spcBef>
                          <a:spcPts val="0"/>
                        </a:spcBef>
                        <a:spcAft>
                          <a:spcPts val="0"/>
                        </a:spcAft>
                        <a:buNone/>
                      </a:pPr>
                      <a:r>
                        <a:rPr lang="en-US" sz="1600"/>
                        <a:t>8.122</a:t>
                      </a:r>
                      <a:endParaRPr/>
                    </a:p>
                  </a:txBody>
                  <a:tcPr marL="57250" marR="57250" marT="28625" marB="28625" anchor="ctr"/>
                </a:tc>
                <a:tc>
                  <a:txBody>
                    <a:bodyPr/>
                    <a:lstStyle/>
                    <a:p>
                      <a:pPr marL="0" marR="0" lvl="0" indent="0" algn="l" rtl="0">
                        <a:spcBef>
                          <a:spcPts val="0"/>
                        </a:spcBef>
                        <a:spcAft>
                          <a:spcPts val="0"/>
                        </a:spcAft>
                        <a:buNone/>
                      </a:pPr>
                      <a:r>
                        <a:rPr lang="en-US" sz="1600"/>
                        <a:t>5.063</a:t>
                      </a:r>
                      <a:endParaRPr/>
                    </a:p>
                  </a:txBody>
                  <a:tcPr marL="57250" marR="57250" marT="28625" marB="28625" anchor="ctr"/>
                </a:tc>
                <a:tc>
                  <a:txBody>
                    <a:bodyPr/>
                    <a:lstStyle/>
                    <a:p>
                      <a:pPr marL="0" marR="0" lvl="0" indent="0" algn="l" rtl="0">
                        <a:spcBef>
                          <a:spcPts val="0"/>
                        </a:spcBef>
                        <a:spcAft>
                          <a:spcPts val="0"/>
                        </a:spcAft>
                        <a:buNone/>
                      </a:pPr>
                      <a:r>
                        <a:rPr lang="en-US" sz="1600"/>
                        <a:t>1.054</a:t>
                      </a:r>
                      <a:endParaRPr/>
                    </a:p>
                  </a:txBody>
                  <a:tcPr marL="57250" marR="57250" marT="28625" marB="28625" anchor="ctr"/>
                </a:tc>
                <a:tc>
                  <a:txBody>
                    <a:bodyPr/>
                    <a:lstStyle/>
                    <a:p>
                      <a:pPr marL="0" marR="0" lvl="0" indent="0" algn="l" rtl="0">
                        <a:spcBef>
                          <a:spcPts val="0"/>
                        </a:spcBef>
                        <a:spcAft>
                          <a:spcPts val="0"/>
                        </a:spcAft>
                        <a:buNone/>
                      </a:pPr>
                      <a:r>
                        <a:rPr lang="en-US" sz="1600"/>
                        <a:t>Cluster 3</a:t>
                      </a:r>
                      <a:endParaRPr/>
                    </a:p>
                  </a:txBody>
                  <a:tcPr marL="57250" marR="57250" marT="28625" marB="28625" anchor="ctr"/>
                </a:tc>
                <a:extLst>
                  <a:ext uri="{0D108BD9-81ED-4DB2-BD59-A6C34878D82A}">
                    <a16:rowId xmlns:a16="http://schemas.microsoft.com/office/drawing/2014/main" val="10011"/>
                  </a:ext>
                </a:extLst>
              </a:tr>
              <a:tr h="248825">
                <a:tc>
                  <a:txBody>
                    <a:bodyPr/>
                    <a:lstStyle/>
                    <a:p>
                      <a:pPr marL="0" marR="0" lvl="0" indent="0" algn="l" rtl="0">
                        <a:spcBef>
                          <a:spcPts val="0"/>
                        </a:spcBef>
                        <a:spcAft>
                          <a:spcPts val="0"/>
                        </a:spcAft>
                        <a:buNone/>
                      </a:pPr>
                      <a:r>
                        <a:rPr lang="en-US" sz="1600"/>
                        <a:t>A12 (4,6)</a:t>
                      </a:r>
                      <a:endParaRPr/>
                    </a:p>
                  </a:txBody>
                  <a:tcPr marL="57250" marR="57250" marT="28625" marB="28625" anchor="ctr"/>
                </a:tc>
                <a:tc>
                  <a:txBody>
                    <a:bodyPr/>
                    <a:lstStyle/>
                    <a:p>
                      <a:pPr marL="0" marR="0" lvl="0" indent="0" algn="l" rtl="0">
                        <a:spcBef>
                          <a:spcPts val="0"/>
                        </a:spcBef>
                        <a:spcAft>
                          <a:spcPts val="0"/>
                        </a:spcAft>
                        <a:buNone/>
                      </a:pPr>
                      <a:r>
                        <a:rPr lang="en-US" sz="1600"/>
                        <a:t>1.400</a:t>
                      </a:r>
                      <a:endParaRPr/>
                    </a:p>
                  </a:txBody>
                  <a:tcPr marL="57250" marR="57250" marT="28625" marB="28625" anchor="ctr"/>
                </a:tc>
                <a:tc>
                  <a:txBody>
                    <a:bodyPr/>
                    <a:lstStyle/>
                    <a:p>
                      <a:pPr marL="0" marR="0" lvl="0" indent="0" algn="l" rtl="0">
                        <a:spcBef>
                          <a:spcPts val="0"/>
                        </a:spcBef>
                        <a:spcAft>
                          <a:spcPts val="0"/>
                        </a:spcAft>
                        <a:buNone/>
                      </a:pPr>
                      <a:r>
                        <a:rPr lang="en-US" sz="1600"/>
                        <a:t>3.574</a:t>
                      </a:r>
                      <a:endParaRPr/>
                    </a:p>
                  </a:txBody>
                  <a:tcPr marL="57250" marR="57250" marT="28625" marB="28625" anchor="ctr"/>
                </a:tc>
                <a:tc>
                  <a:txBody>
                    <a:bodyPr/>
                    <a:lstStyle/>
                    <a:p>
                      <a:pPr marL="0" marR="0" lvl="0" indent="0" algn="l" rtl="0">
                        <a:spcBef>
                          <a:spcPts val="0"/>
                        </a:spcBef>
                        <a:spcAft>
                          <a:spcPts val="0"/>
                        </a:spcAft>
                        <a:buNone/>
                      </a:pPr>
                      <a:r>
                        <a:rPr lang="en-US" sz="1600"/>
                        <a:t>8.028</a:t>
                      </a:r>
                      <a:endParaRPr/>
                    </a:p>
                  </a:txBody>
                  <a:tcPr marL="57250" marR="57250" marT="28625" marB="28625" anchor="ctr"/>
                </a:tc>
                <a:tc>
                  <a:txBody>
                    <a:bodyPr/>
                    <a:lstStyle/>
                    <a:p>
                      <a:pPr marL="0" marR="0" lvl="0" indent="0" algn="l" rtl="0">
                        <a:spcBef>
                          <a:spcPts val="0"/>
                        </a:spcBef>
                        <a:spcAft>
                          <a:spcPts val="0"/>
                        </a:spcAft>
                        <a:buNone/>
                      </a:pPr>
                      <a:r>
                        <a:rPr lang="en-US" sz="1600"/>
                        <a:t>Cluster 1</a:t>
                      </a:r>
                      <a:endParaRPr/>
                    </a:p>
                  </a:txBody>
                  <a:tcPr marL="57250" marR="57250" marT="28625" marB="28625" anchor="ctr"/>
                </a:tc>
                <a:extLst>
                  <a:ext uri="{0D108BD9-81ED-4DB2-BD59-A6C34878D82A}">
                    <a16:rowId xmlns:a16="http://schemas.microsoft.com/office/drawing/2014/main" val="10012"/>
                  </a:ext>
                </a:extLst>
              </a:tr>
              <a:tr h="248825">
                <a:tc>
                  <a:txBody>
                    <a:bodyPr/>
                    <a:lstStyle/>
                    <a:p>
                      <a:pPr marL="0" marR="0" lvl="0" indent="0" algn="l" rtl="0">
                        <a:spcBef>
                          <a:spcPts val="0"/>
                        </a:spcBef>
                        <a:spcAft>
                          <a:spcPts val="0"/>
                        </a:spcAft>
                        <a:buNone/>
                      </a:pPr>
                      <a:r>
                        <a:rPr lang="en-US" sz="1600"/>
                        <a:t>A13 (3,10)</a:t>
                      </a:r>
                      <a:endParaRPr/>
                    </a:p>
                  </a:txBody>
                  <a:tcPr marL="57250" marR="57250" marT="28625" marB="28625" anchor="ctr"/>
                </a:tc>
                <a:tc>
                  <a:txBody>
                    <a:bodyPr/>
                    <a:lstStyle/>
                    <a:p>
                      <a:pPr marL="0" marR="0" lvl="0" indent="0" algn="l" rtl="0">
                        <a:spcBef>
                          <a:spcPts val="0"/>
                        </a:spcBef>
                        <a:spcAft>
                          <a:spcPts val="0"/>
                        </a:spcAft>
                        <a:buNone/>
                      </a:pPr>
                      <a:r>
                        <a:rPr lang="en-US" sz="1600"/>
                        <a:t>5.492</a:t>
                      </a:r>
                      <a:endParaRPr/>
                    </a:p>
                  </a:txBody>
                  <a:tcPr marL="57250" marR="57250" marT="28625" marB="28625" anchor="ctr"/>
                </a:tc>
                <a:tc>
                  <a:txBody>
                    <a:bodyPr/>
                    <a:lstStyle/>
                    <a:p>
                      <a:pPr marL="0" marR="0" lvl="0" indent="0" algn="l" rtl="0">
                        <a:spcBef>
                          <a:spcPts val="0"/>
                        </a:spcBef>
                        <a:spcAft>
                          <a:spcPts val="0"/>
                        </a:spcAft>
                        <a:buNone/>
                      </a:pPr>
                      <a:r>
                        <a:rPr lang="en-US" sz="1600"/>
                        <a:t>1.221</a:t>
                      </a:r>
                      <a:endParaRPr/>
                    </a:p>
                  </a:txBody>
                  <a:tcPr marL="57250" marR="57250" marT="28625" marB="28625" anchor="ctr"/>
                </a:tc>
                <a:tc>
                  <a:txBody>
                    <a:bodyPr/>
                    <a:lstStyle/>
                    <a:p>
                      <a:pPr marL="0" marR="0" lvl="0" indent="0" algn="l" rtl="0">
                        <a:spcBef>
                          <a:spcPts val="0"/>
                        </a:spcBef>
                        <a:spcAft>
                          <a:spcPts val="0"/>
                        </a:spcAft>
                        <a:buNone/>
                      </a:pPr>
                      <a:r>
                        <a:rPr lang="en-US" sz="1600"/>
                        <a:t>7.126</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13"/>
                  </a:ext>
                </a:extLst>
              </a:tr>
              <a:tr h="248825">
                <a:tc>
                  <a:txBody>
                    <a:bodyPr/>
                    <a:lstStyle/>
                    <a:p>
                      <a:pPr marL="0" marR="0" lvl="0" indent="0" algn="l" rtl="0">
                        <a:spcBef>
                          <a:spcPts val="0"/>
                        </a:spcBef>
                        <a:spcAft>
                          <a:spcPts val="0"/>
                        </a:spcAft>
                        <a:buNone/>
                      </a:pPr>
                      <a:r>
                        <a:rPr lang="en-US" sz="1600"/>
                        <a:t>A14 (3,8)</a:t>
                      </a:r>
                      <a:endParaRPr/>
                    </a:p>
                  </a:txBody>
                  <a:tcPr marL="57250" marR="57250" marT="28625" marB="28625" anchor="ctr"/>
                </a:tc>
                <a:tc>
                  <a:txBody>
                    <a:bodyPr/>
                    <a:lstStyle/>
                    <a:p>
                      <a:pPr marL="0" marR="0" lvl="0" indent="0" algn="l" rtl="0">
                        <a:spcBef>
                          <a:spcPts val="0"/>
                        </a:spcBef>
                        <a:spcAft>
                          <a:spcPts val="0"/>
                        </a:spcAft>
                        <a:buNone/>
                      </a:pPr>
                      <a:r>
                        <a:rPr lang="en-US" sz="1600"/>
                        <a:t>3.544</a:t>
                      </a:r>
                      <a:endParaRPr/>
                    </a:p>
                  </a:txBody>
                  <a:tcPr marL="57250" marR="57250" marT="28625" marB="28625" anchor="ctr"/>
                </a:tc>
                <a:tc>
                  <a:txBody>
                    <a:bodyPr/>
                    <a:lstStyle/>
                    <a:p>
                      <a:pPr marL="0" marR="0" lvl="0" indent="0" algn="l" rtl="0">
                        <a:spcBef>
                          <a:spcPts val="0"/>
                        </a:spcBef>
                        <a:spcAft>
                          <a:spcPts val="0"/>
                        </a:spcAft>
                        <a:buNone/>
                      </a:pPr>
                      <a:r>
                        <a:rPr lang="en-US" sz="1600"/>
                        <a:t>1.943</a:t>
                      </a:r>
                      <a:endParaRPr/>
                    </a:p>
                  </a:txBody>
                  <a:tcPr marL="57250" marR="57250" marT="28625" marB="28625" anchor="ctr"/>
                </a:tc>
                <a:tc>
                  <a:txBody>
                    <a:bodyPr/>
                    <a:lstStyle/>
                    <a:p>
                      <a:pPr marL="0" marR="0" lvl="0" indent="0" algn="l" rtl="0">
                        <a:spcBef>
                          <a:spcPts val="0"/>
                        </a:spcBef>
                        <a:spcAft>
                          <a:spcPts val="0"/>
                        </a:spcAft>
                        <a:buNone/>
                      </a:pPr>
                      <a:r>
                        <a:rPr lang="en-US" sz="1600"/>
                        <a:t>7.753</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14"/>
                  </a:ext>
                </a:extLst>
              </a:tr>
              <a:tr h="248825">
                <a:tc>
                  <a:txBody>
                    <a:bodyPr/>
                    <a:lstStyle/>
                    <a:p>
                      <a:pPr marL="0" marR="0" lvl="0" indent="0" algn="l" rtl="0">
                        <a:spcBef>
                          <a:spcPts val="0"/>
                        </a:spcBef>
                        <a:spcAft>
                          <a:spcPts val="0"/>
                        </a:spcAft>
                        <a:buNone/>
                      </a:pPr>
                      <a:r>
                        <a:rPr lang="en-US" sz="1600"/>
                        <a:t>A15 (6,11)</a:t>
                      </a:r>
                      <a:endParaRPr/>
                    </a:p>
                  </a:txBody>
                  <a:tcPr marL="57250" marR="57250" marT="28625" marB="28625" anchor="ctr"/>
                </a:tc>
                <a:tc>
                  <a:txBody>
                    <a:bodyPr/>
                    <a:lstStyle/>
                    <a:p>
                      <a:pPr marL="0" marR="0" lvl="0" indent="0" algn="l" rtl="0">
                        <a:spcBef>
                          <a:spcPts val="0"/>
                        </a:spcBef>
                        <a:spcAft>
                          <a:spcPts val="0"/>
                        </a:spcAft>
                        <a:buNone/>
                      </a:pPr>
                      <a:r>
                        <a:rPr lang="en-US" sz="1600"/>
                        <a:t>6.705</a:t>
                      </a:r>
                      <a:endParaRPr/>
                    </a:p>
                  </a:txBody>
                  <a:tcPr marL="57250" marR="57250" marT="28625" marB="28625" anchor="ctr"/>
                </a:tc>
                <a:tc>
                  <a:txBody>
                    <a:bodyPr/>
                    <a:lstStyle/>
                    <a:p>
                      <a:pPr marL="0" marR="0" lvl="0" indent="0" algn="l" rtl="0">
                        <a:spcBef>
                          <a:spcPts val="0"/>
                        </a:spcBef>
                        <a:spcAft>
                          <a:spcPts val="0"/>
                        </a:spcAft>
                        <a:buNone/>
                      </a:pPr>
                      <a:r>
                        <a:rPr lang="en-US" sz="1600"/>
                        <a:t>2.343</a:t>
                      </a:r>
                      <a:endParaRPr/>
                    </a:p>
                  </a:txBody>
                  <a:tcPr marL="57250" marR="57250" marT="28625" marB="28625" anchor="ctr"/>
                </a:tc>
                <a:tc>
                  <a:txBody>
                    <a:bodyPr/>
                    <a:lstStyle/>
                    <a:p>
                      <a:pPr marL="0" marR="0" lvl="0" indent="0" algn="l" rtl="0">
                        <a:spcBef>
                          <a:spcPts val="0"/>
                        </a:spcBef>
                        <a:spcAft>
                          <a:spcPts val="0"/>
                        </a:spcAft>
                        <a:buNone/>
                      </a:pPr>
                      <a:r>
                        <a:rPr lang="en-US" sz="1600"/>
                        <a:t>4.014</a:t>
                      </a:r>
                      <a:endParaRPr/>
                    </a:p>
                  </a:txBody>
                  <a:tcPr marL="57250" marR="57250" marT="28625" marB="28625" anchor="ctr"/>
                </a:tc>
                <a:tc>
                  <a:txBody>
                    <a:bodyPr/>
                    <a:lstStyle/>
                    <a:p>
                      <a:pPr marL="0" marR="0" lvl="0" indent="0" algn="l" rtl="0">
                        <a:spcBef>
                          <a:spcPts val="0"/>
                        </a:spcBef>
                        <a:spcAft>
                          <a:spcPts val="0"/>
                        </a:spcAft>
                        <a:buNone/>
                      </a:pPr>
                      <a:r>
                        <a:rPr lang="en-US" sz="1600"/>
                        <a:t>Cluster 2</a:t>
                      </a:r>
                      <a:endParaRPr/>
                    </a:p>
                  </a:txBody>
                  <a:tcPr marL="57250" marR="57250" marT="28625" marB="28625" anchor="ctr"/>
                </a:tc>
                <a:extLst>
                  <a:ext uri="{0D108BD9-81ED-4DB2-BD59-A6C34878D82A}">
                    <a16:rowId xmlns:a16="http://schemas.microsoft.com/office/drawing/2014/main" val="10015"/>
                  </a:ext>
                </a:extLst>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cxnSp>
        <p:nvCxnSpPr>
          <p:cNvPr id="329" name="Google Shape;329;p32"/>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30" name="Google Shape;330;p32"/>
          <p:cNvSpPr txBox="1"/>
          <p:nvPr/>
        </p:nvSpPr>
        <p:spPr>
          <a:xfrm>
            <a:off x="546756" y="7545"/>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331" name="Google Shape;331;p3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332" name="Google Shape;332;p32"/>
          <p:cNvSpPr/>
          <p:nvPr/>
        </p:nvSpPr>
        <p:spPr>
          <a:xfrm>
            <a:off x="220133" y="776986"/>
            <a:ext cx="11744340" cy="45243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Now, we will calculate the new centroid for each cluster for the third iteration.</a:t>
            </a:r>
            <a:endParaRPr/>
          </a:p>
          <a:p>
            <a:pPr marL="457200" marR="0" lvl="0" indent="-4572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In cluster 1, we have 5 points i.e. A2 (2,6), A5 (6,4), A6 (1,2), A10 (7,5), and A12 (4,6). To calculate the new centroid for cluster 1, we will find the mean of the x and y coordinates of each point in the cluster. Hence, the new centroid for </a:t>
            </a:r>
            <a:r>
              <a:rPr lang="en-US" sz="2400">
                <a:solidFill>
                  <a:srgbClr val="FFC000"/>
                </a:solidFill>
                <a:latin typeface="Calibri"/>
                <a:ea typeface="Calibri"/>
                <a:cs typeface="Calibri"/>
                <a:sym typeface="Calibri"/>
              </a:rPr>
              <a:t>cluster 1 is (4, 4.6).</a:t>
            </a:r>
            <a:endParaRPr/>
          </a:p>
          <a:p>
            <a:pPr marL="457200" marR="0" lvl="0" indent="-4572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In cluster 2, we have 7 points i.e. A1 (2,10), A4 (6,9), A7 (5,10) , A8 (4,9), A13 (3,10), A14 (3,8), and A15 (6,11). Hence, the new centroid for </a:t>
            </a:r>
            <a:r>
              <a:rPr lang="en-US" sz="2400">
                <a:solidFill>
                  <a:srgbClr val="FFC000"/>
                </a:solidFill>
                <a:latin typeface="Calibri"/>
                <a:ea typeface="Calibri"/>
                <a:cs typeface="Calibri"/>
                <a:sym typeface="Calibri"/>
              </a:rPr>
              <a:t>cluster 2 is (4.143, 9.571) </a:t>
            </a:r>
            <a:endParaRPr/>
          </a:p>
          <a:p>
            <a:pPr marL="457200" marR="0" lvl="0" indent="-4572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In cluster 3, we have 3 points i.e. A3 (11,11), A9 (10,12), and A11 (9,11). Hence, the new centroid for </a:t>
            </a:r>
            <a:r>
              <a:rPr lang="en-US" sz="2400">
                <a:solidFill>
                  <a:srgbClr val="FFC000"/>
                </a:solidFill>
                <a:latin typeface="Calibri"/>
                <a:ea typeface="Calibri"/>
                <a:cs typeface="Calibri"/>
                <a:sym typeface="Calibri"/>
              </a:rPr>
              <a:t>cluster 3 is (10, 11.333).</a:t>
            </a:r>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cxnSp>
        <p:nvCxnSpPr>
          <p:cNvPr id="337" name="Google Shape;337;p33"/>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38" name="Google Shape;338;p33"/>
          <p:cNvSpPr txBox="1"/>
          <p:nvPr/>
        </p:nvSpPr>
        <p:spPr>
          <a:xfrm>
            <a:off x="546756" y="7545"/>
            <a:ext cx="93882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Working of K-means algorithm: Example</a:t>
            </a:r>
            <a:endParaRPr sz="4400">
              <a:solidFill>
                <a:schemeClr val="lt1"/>
              </a:solidFill>
              <a:latin typeface="Calibri"/>
              <a:ea typeface="Calibri"/>
              <a:cs typeface="Calibri"/>
              <a:sym typeface="Calibri"/>
            </a:endParaRPr>
          </a:p>
        </p:txBody>
      </p:sp>
      <p:sp>
        <p:nvSpPr>
          <p:cNvPr id="339" name="Google Shape;339;p3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340" name="Google Shape;340;p33"/>
          <p:cNvSpPr/>
          <p:nvPr/>
        </p:nvSpPr>
        <p:spPr>
          <a:xfrm>
            <a:off x="546756" y="941088"/>
            <a:ext cx="11295606" cy="23083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Here, you can observe that no point has changed its cluster compared to the previous iteration. Due to this, the centroid also remains constant. Therefore, we will say that the clusters have been stabilized. Hence, the clusters obtained after the third iteration are the final clusters made from the given dataset. </a:t>
            </a:r>
            <a:endParaRPr sz="24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cxnSp>
        <p:nvCxnSpPr>
          <p:cNvPr id="345" name="Google Shape;345;p34"/>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46" name="Google Shape;346;p34"/>
          <p:cNvSpPr txBox="1"/>
          <p:nvPr/>
        </p:nvSpPr>
        <p:spPr>
          <a:xfrm>
            <a:off x="546756" y="7545"/>
            <a:ext cx="682295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Sample datasets for K-means</a:t>
            </a:r>
            <a:endParaRPr sz="4400">
              <a:solidFill>
                <a:schemeClr val="lt1"/>
              </a:solidFill>
              <a:latin typeface="Calibri"/>
              <a:ea typeface="Calibri"/>
              <a:cs typeface="Calibri"/>
              <a:sym typeface="Calibri"/>
            </a:endParaRPr>
          </a:p>
        </p:txBody>
      </p:sp>
      <p:sp>
        <p:nvSpPr>
          <p:cNvPr id="347" name="Google Shape;347;p3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348" name="Google Shape;348;p34"/>
          <p:cNvGraphicFramePr/>
          <p:nvPr/>
        </p:nvGraphicFramePr>
        <p:xfrm>
          <a:off x="267855" y="2280429"/>
          <a:ext cx="11794850" cy="2895660"/>
        </p:xfrm>
        <a:graphic>
          <a:graphicData uri="http://schemas.openxmlformats.org/drawingml/2006/table">
            <a:tbl>
              <a:tblPr>
                <a:noFill/>
                <a:tableStyleId>{E9C6C79A-6882-41AA-894F-E257A51AF7DE}</a:tableStyleId>
              </a:tblPr>
              <a:tblGrid>
                <a:gridCol w="1708725">
                  <a:extLst>
                    <a:ext uri="{9D8B030D-6E8A-4147-A177-3AD203B41FA5}">
                      <a16:colId xmlns:a16="http://schemas.microsoft.com/office/drawing/2014/main" val="20000"/>
                    </a:ext>
                  </a:extLst>
                </a:gridCol>
                <a:gridCol w="692725">
                  <a:extLst>
                    <a:ext uri="{9D8B030D-6E8A-4147-A177-3AD203B41FA5}">
                      <a16:colId xmlns:a16="http://schemas.microsoft.com/office/drawing/2014/main" val="20001"/>
                    </a:ext>
                  </a:extLst>
                </a:gridCol>
                <a:gridCol w="2105900">
                  <a:extLst>
                    <a:ext uri="{9D8B030D-6E8A-4147-A177-3AD203B41FA5}">
                      <a16:colId xmlns:a16="http://schemas.microsoft.com/office/drawing/2014/main" val="20002"/>
                    </a:ext>
                  </a:extLst>
                </a:gridCol>
                <a:gridCol w="2272150">
                  <a:extLst>
                    <a:ext uri="{9D8B030D-6E8A-4147-A177-3AD203B41FA5}">
                      <a16:colId xmlns:a16="http://schemas.microsoft.com/office/drawing/2014/main" val="20003"/>
                    </a:ext>
                  </a:extLst>
                </a:gridCol>
                <a:gridCol w="2613900">
                  <a:extLst>
                    <a:ext uri="{9D8B030D-6E8A-4147-A177-3AD203B41FA5}">
                      <a16:colId xmlns:a16="http://schemas.microsoft.com/office/drawing/2014/main" val="20004"/>
                    </a:ext>
                  </a:extLst>
                </a:gridCol>
                <a:gridCol w="2401450">
                  <a:extLst>
                    <a:ext uri="{9D8B030D-6E8A-4147-A177-3AD203B41FA5}">
                      <a16:colId xmlns:a16="http://schemas.microsoft.com/office/drawing/2014/main" val="20005"/>
                    </a:ext>
                  </a:extLst>
                </a:gridCol>
              </a:tblGrid>
              <a:tr h="279400">
                <a:tc>
                  <a:txBody>
                    <a:bodyPr/>
                    <a:lstStyle/>
                    <a:p>
                      <a:pPr marL="0" marR="0" lvl="0" indent="0" algn="l" rtl="0">
                        <a:spcBef>
                          <a:spcPts val="0"/>
                        </a:spcBef>
                        <a:spcAft>
                          <a:spcPts val="0"/>
                        </a:spcAft>
                        <a:buNone/>
                      </a:pPr>
                      <a:r>
                        <a:rPr lang="en-US" sz="2200"/>
                        <a:t>Customer_ID</a:t>
                      </a:r>
                      <a:endParaRPr/>
                    </a:p>
                  </a:txBody>
                  <a:tcPr marL="91450" marR="91450" marT="45725" marB="45725" anchor="ctr"/>
                </a:tc>
                <a:tc>
                  <a:txBody>
                    <a:bodyPr/>
                    <a:lstStyle/>
                    <a:p>
                      <a:pPr marL="0" marR="0" lvl="0" indent="0" algn="l" rtl="0">
                        <a:spcBef>
                          <a:spcPts val="0"/>
                        </a:spcBef>
                        <a:spcAft>
                          <a:spcPts val="0"/>
                        </a:spcAft>
                        <a:buNone/>
                      </a:pPr>
                      <a:r>
                        <a:rPr lang="en-US" sz="2200"/>
                        <a:t>Age</a:t>
                      </a:r>
                      <a:endParaRPr/>
                    </a:p>
                  </a:txBody>
                  <a:tcPr marL="91450" marR="91450" marT="45725" marB="45725" anchor="ctr"/>
                </a:tc>
                <a:tc>
                  <a:txBody>
                    <a:bodyPr/>
                    <a:lstStyle/>
                    <a:p>
                      <a:pPr marL="0" marR="0" lvl="0" indent="0" algn="l" rtl="0">
                        <a:spcBef>
                          <a:spcPts val="0"/>
                        </a:spcBef>
                        <a:spcAft>
                          <a:spcPts val="0"/>
                        </a:spcAft>
                        <a:buNone/>
                      </a:pPr>
                      <a:r>
                        <a:rPr lang="en-US" sz="2200"/>
                        <a:t>Annual_Income (INR)</a:t>
                      </a:r>
                      <a:endParaRPr sz="2200"/>
                    </a:p>
                  </a:txBody>
                  <a:tcPr marL="91450" marR="91450" marT="45725" marB="45725" anchor="ctr"/>
                </a:tc>
                <a:tc>
                  <a:txBody>
                    <a:bodyPr/>
                    <a:lstStyle/>
                    <a:p>
                      <a:pPr marL="0" marR="0" lvl="0" indent="0" algn="l" rtl="0">
                        <a:spcBef>
                          <a:spcPts val="0"/>
                        </a:spcBef>
                        <a:spcAft>
                          <a:spcPts val="0"/>
                        </a:spcAft>
                        <a:buNone/>
                      </a:pPr>
                      <a:r>
                        <a:rPr lang="en-US" sz="2200"/>
                        <a:t>Spending_Score (1-100)</a:t>
                      </a:r>
                      <a:endParaRPr/>
                    </a:p>
                  </a:txBody>
                  <a:tcPr marL="91450" marR="91450" marT="45725" marB="45725" anchor="ctr"/>
                </a:tc>
                <a:tc>
                  <a:txBody>
                    <a:bodyPr/>
                    <a:lstStyle/>
                    <a:p>
                      <a:pPr marL="0" marR="0" lvl="0" indent="0" algn="l" rtl="0">
                        <a:spcBef>
                          <a:spcPts val="0"/>
                        </a:spcBef>
                        <a:spcAft>
                          <a:spcPts val="0"/>
                        </a:spcAft>
                        <a:buNone/>
                      </a:pPr>
                      <a:r>
                        <a:rPr lang="en-US" sz="2200"/>
                        <a:t>Number_of_Visits</a:t>
                      </a:r>
                      <a:endParaRPr sz="2200"/>
                    </a:p>
                  </a:txBody>
                  <a:tcPr marL="91450" marR="91450" marT="45725" marB="45725" anchor="ctr"/>
                </a:tc>
                <a:tc>
                  <a:txBody>
                    <a:bodyPr/>
                    <a:lstStyle/>
                    <a:p>
                      <a:pPr marL="0" marR="0" lvl="0" indent="0" algn="l" rtl="0">
                        <a:spcBef>
                          <a:spcPts val="0"/>
                        </a:spcBef>
                        <a:spcAft>
                          <a:spcPts val="0"/>
                        </a:spcAft>
                        <a:buNone/>
                      </a:pPr>
                      <a:r>
                        <a:rPr lang="en-US" sz="2200"/>
                        <a:t>Online_Purchase Frequency</a:t>
                      </a:r>
                      <a:endParaRPr sz="2200"/>
                    </a:p>
                  </a:txBody>
                  <a:tcPr marL="91450" marR="91450" marT="45725" marB="45725" anchor="ctr"/>
                </a:tc>
                <a:extLst>
                  <a:ext uri="{0D108BD9-81ED-4DB2-BD59-A6C34878D82A}">
                    <a16:rowId xmlns:a16="http://schemas.microsoft.com/office/drawing/2014/main" val="10000"/>
                  </a:ext>
                </a:extLst>
              </a:tr>
              <a:tr h="279400">
                <a:tc>
                  <a:txBody>
                    <a:bodyPr/>
                    <a:lstStyle/>
                    <a:p>
                      <a:pPr marL="0" marR="0" lvl="0" indent="0" algn="l" rtl="0">
                        <a:spcBef>
                          <a:spcPts val="0"/>
                        </a:spcBef>
                        <a:spcAft>
                          <a:spcPts val="0"/>
                        </a:spcAft>
                        <a:buNone/>
                      </a:pPr>
                      <a:r>
                        <a:rPr lang="en-US" sz="2200"/>
                        <a:t>C001</a:t>
                      </a:r>
                      <a:endParaRPr/>
                    </a:p>
                  </a:txBody>
                  <a:tcPr marL="91450" marR="91450" marT="45725" marB="45725" anchor="ctr"/>
                </a:tc>
                <a:tc>
                  <a:txBody>
                    <a:bodyPr/>
                    <a:lstStyle/>
                    <a:p>
                      <a:pPr marL="0" marR="0" lvl="0" indent="0" algn="l" rtl="0">
                        <a:spcBef>
                          <a:spcPts val="0"/>
                        </a:spcBef>
                        <a:spcAft>
                          <a:spcPts val="0"/>
                        </a:spcAft>
                        <a:buNone/>
                      </a:pPr>
                      <a:r>
                        <a:rPr lang="en-US" sz="2200"/>
                        <a:t>25</a:t>
                      </a:r>
                      <a:endParaRPr/>
                    </a:p>
                  </a:txBody>
                  <a:tcPr marL="91450" marR="91450" marT="45725" marB="45725" anchor="ctr"/>
                </a:tc>
                <a:tc>
                  <a:txBody>
                    <a:bodyPr/>
                    <a:lstStyle/>
                    <a:p>
                      <a:pPr marL="0" marR="0" lvl="0" indent="0" algn="l" rtl="0">
                        <a:spcBef>
                          <a:spcPts val="0"/>
                        </a:spcBef>
                        <a:spcAft>
                          <a:spcPts val="0"/>
                        </a:spcAft>
                        <a:buNone/>
                      </a:pPr>
                      <a:r>
                        <a:rPr lang="en-US" sz="2200"/>
                        <a:t>35,000</a:t>
                      </a:r>
                      <a:endParaRPr/>
                    </a:p>
                  </a:txBody>
                  <a:tcPr marL="91450" marR="91450" marT="45725" marB="45725" anchor="ctr"/>
                </a:tc>
                <a:tc>
                  <a:txBody>
                    <a:bodyPr/>
                    <a:lstStyle/>
                    <a:p>
                      <a:pPr marL="0" marR="0" lvl="0" indent="0" algn="l" rtl="0">
                        <a:spcBef>
                          <a:spcPts val="0"/>
                        </a:spcBef>
                        <a:spcAft>
                          <a:spcPts val="0"/>
                        </a:spcAft>
                        <a:buNone/>
                      </a:pPr>
                      <a:r>
                        <a:rPr lang="en-US" sz="2200"/>
                        <a:t>70</a:t>
                      </a:r>
                      <a:endParaRPr/>
                    </a:p>
                  </a:txBody>
                  <a:tcPr marL="91450" marR="91450" marT="45725" marB="45725" anchor="ctr"/>
                </a:tc>
                <a:tc>
                  <a:txBody>
                    <a:bodyPr/>
                    <a:lstStyle/>
                    <a:p>
                      <a:pPr marL="0" marR="0" lvl="0" indent="0" algn="l" rtl="0">
                        <a:spcBef>
                          <a:spcPts val="0"/>
                        </a:spcBef>
                        <a:spcAft>
                          <a:spcPts val="0"/>
                        </a:spcAft>
                        <a:buNone/>
                      </a:pPr>
                      <a:r>
                        <a:rPr lang="en-US" sz="2200"/>
                        <a:t>12</a:t>
                      </a:r>
                      <a:endParaRPr/>
                    </a:p>
                  </a:txBody>
                  <a:tcPr marL="91450" marR="91450" marT="45725" marB="45725" anchor="ctr"/>
                </a:tc>
                <a:tc>
                  <a:txBody>
                    <a:bodyPr/>
                    <a:lstStyle/>
                    <a:p>
                      <a:pPr marL="0" marR="0" lvl="0" indent="0" algn="l" rtl="0">
                        <a:spcBef>
                          <a:spcPts val="0"/>
                        </a:spcBef>
                        <a:spcAft>
                          <a:spcPts val="0"/>
                        </a:spcAft>
                        <a:buNone/>
                      </a:pPr>
                      <a:r>
                        <a:rPr lang="en-US" sz="2200"/>
                        <a:t>10</a:t>
                      </a:r>
                      <a:endParaRPr/>
                    </a:p>
                  </a:txBody>
                  <a:tcPr marL="91450" marR="91450" marT="45725" marB="45725" anchor="ctr"/>
                </a:tc>
                <a:extLst>
                  <a:ext uri="{0D108BD9-81ED-4DB2-BD59-A6C34878D82A}">
                    <a16:rowId xmlns:a16="http://schemas.microsoft.com/office/drawing/2014/main" val="10001"/>
                  </a:ext>
                </a:extLst>
              </a:tr>
              <a:tr h="279400">
                <a:tc>
                  <a:txBody>
                    <a:bodyPr/>
                    <a:lstStyle/>
                    <a:p>
                      <a:pPr marL="0" marR="0" lvl="0" indent="0" algn="l" rtl="0">
                        <a:spcBef>
                          <a:spcPts val="0"/>
                        </a:spcBef>
                        <a:spcAft>
                          <a:spcPts val="0"/>
                        </a:spcAft>
                        <a:buNone/>
                      </a:pPr>
                      <a:r>
                        <a:rPr lang="en-US" sz="2200"/>
                        <a:t>C002</a:t>
                      </a:r>
                      <a:endParaRPr/>
                    </a:p>
                  </a:txBody>
                  <a:tcPr marL="91450" marR="91450" marT="45725" marB="45725" anchor="ctr"/>
                </a:tc>
                <a:tc>
                  <a:txBody>
                    <a:bodyPr/>
                    <a:lstStyle/>
                    <a:p>
                      <a:pPr marL="0" marR="0" lvl="0" indent="0" algn="l" rtl="0">
                        <a:spcBef>
                          <a:spcPts val="0"/>
                        </a:spcBef>
                        <a:spcAft>
                          <a:spcPts val="0"/>
                        </a:spcAft>
                        <a:buNone/>
                      </a:pPr>
                      <a:r>
                        <a:rPr lang="en-US" sz="2200"/>
                        <a:t>45</a:t>
                      </a:r>
                      <a:endParaRPr/>
                    </a:p>
                  </a:txBody>
                  <a:tcPr marL="91450" marR="91450" marT="45725" marB="45725" anchor="ctr"/>
                </a:tc>
                <a:tc>
                  <a:txBody>
                    <a:bodyPr/>
                    <a:lstStyle/>
                    <a:p>
                      <a:pPr marL="0" marR="0" lvl="0" indent="0" algn="l" rtl="0">
                        <a:spcBef>
                          <a:spcPts val="0"/>
                        </a:spcBef>
                        <a:spcAft>
                          <a:spcPts val="0"/>
                        </a:spcAft>
                        <a:buNone/>
                      </a:pPr>
                      <a:r>
                        <a:rPr lang="en-US" sz="2200"/>
                        <a:t>75,000</a:t>
                      </a:r>
                      <a:endParaRPr/>
                    </a:p>
                  </a:txBody>
                  <a:tcPr marL="91450" marR="91450" marT="45725" marB="45725" anchor="ctr"/>
                </a:tc>
                <a:tc>
                  <a:txBody>
                    <a:bodyPr/>
                    <a:lstStyle/>
                    <a:p>
                      <a:pPr marL="0" marR="0" lvl="0" indent="0" algn="l" rtl="0">
                        <a:spcBef>
                          <a:spcPts val="0"/>
                        </a:spcBef>
                        <a:spcAft>
                          <a:spcPts val="0"/>
                        </a:spcAft>
                        <a:buNone/>
                      </a:pPr>
                      <a:r>
                        <a:rPr lang="en-US" sz="2200"/>
                        <a:t>35</a:t>
                      </a:r>
                      <a:endParaRPr/>
                    </a:p>
                  </a:txBody>
                  <a:tcPr marL="91450" marR="91450" marT="45725" marB="45725" anchor="ctr"/>
                </a:tc>
                <a:tc>
                  <a:txBody>
                    <a:bodyPr/>
                    <a:lstStyle/>
                    <a:p>
                      <a:pPr marL="0" marR="0" lvl="0" indent="0" algn="l" rtl="0">
                        <a:spcBef>
                          <a:spcPts val="0"/>
                        </a:spcBef>
                        <a:spcAft>
                          <a:spcPts val="0"/>
                        </a:spcAft>
                        <a:buNone/>
                      </a:pPr>
                      <a:r>
                        <a:rPr lang="en-US" sz="2200"/>
                        <a:t>6</a:t>
                      </a:r>
                      <a:endParaRPr/>
                    </a:p>
                  </a:txBody>
                  <a:tcPr marL="91450" marR="91450" marT="45725" marB="45725" anchor="ctr"/>
                </a:tc>
                <a:tc>
                  <a:txBody>
                    <a:bodyPr/>
                    <a:lstStyle/>
                    <a:p>
                      <a:pPr marL="0" marR="0" lvl="0" indent="0" algn="l" rtl="0">
                        <a:spcBef>
                          <a:spcPts val="0"/>
                        </a:spcBef>
                        <a:spcAft>
                          <a:spcPts val="0"/>
                        </a:spcAft>
                        <a:buNone/>
                      </a:pPr>
                      <a:r>
                        <a:rPr lang="en-US" sz="2200"/>
                        <a:t>5</a:t>
                      </a:r>
                      <a:endParaRPr/>
                    </a:p>
                  </a:txBody>
                  <a:tcPr marL="91450" marR="91450" marT="45725" marB="45725" anchor="ctr"/>
                </a:tc>
                <a:extLst>
                  <a:ext uri="{0D108BD9-81ED-4DB2-BD59-A6C34878D82A}">
                    <a16:rowId xmlns:a16="http://schemas.microsoft.com/office/drawing/2014/main" val="10002"/>
                  </a:ext>
                </a:extLst>
              </a:tr>
              <a:tr h="279400">
                <a:tc>
                  <a:txBody>
                    <a:bodyPr/>
                    <a:lstStyle/>
                    <a:p>
                      <a:pPr marL="0" marR="0" lvl="0" indent="0" algn="l" rtl="0">
                        <a:spcBef>
                          <a:spcPts val="0"/>
                        </a:spcBef>
                        <a:spcAft>
                          <a:spcPts val="0"/>
                        </a:spcAft>
                        <a:buNone/>
                      </a:pPr>
                      <a:r>
                        <a:rPr lang="en-US" sz="2200"/>
                        <a:t>C003</a:t>
                      </a:r>
                      <a:endParaRPr/>
                    </a:p>
                  </a:txBody>
                  <a:tcPr marL="91450" marR="91450" marT="45725" marB="45725" anchor="ctr"/>
                </a:tc>
                <a:tc>
                  <a:txBody>
                    <a:bodyPr/>
                    <a:lstStyle/>
                    <a:p>
                      <a:pPr marL="0" marR="0" lvl="0" indent="0" algn="l" rtl="0">
                        <a:spcBef>
                          <a:spcPts val="0"/>
                        </a:spcBef>
                        <a:spcAft>
                          <a:spcPts val="0"/>
                        </a:spcAft>
                        <a:buNone/>
                      </a:pPr>
                      <a:r>
                        <a:rPr lang="en-US" sz="2200"/>
                        <a:t>34</a:t>
                      </a:r>
                      <a:endParaRPr/>
                    </a:p>
                  </a:txBody>
                  <a:tcPr marL="91450" marR="91450" marT="45725" marB="45725" anchor="ctr"/>
                </a:tc>
                <a:tc>
                  <a:txBody>
                    <a:bodyPr/>
                    <a:lstStyle/>
                    <a:p>
                      <a:pPr marL="0" marR="0" lvl="0" indent="0" algn="l" rtl="0">
                        <a:spcBef>
                          <a:spcPts val="0"/>
                        </a:spcBef>
                        <a:spcAft>
                          <a:spcPts val="0"/>
                        </a:spcAft>
                        <a:buNone/>
                      </a:pPr>
                      <a:r>
                        <a:rPr lang="en-US" sz="2200"/>
                        <a:t>60,000</a:t>
                      </a:r>
                      <a:endParaRPr/>
                    </a:p>
                  </a:txBody>
                  <a:tcPr marL="91450" marR="91450" marT="45725" marB="45725" anchor="ctr"/>
                </a:tc>
                <a:tc>
                  <a:txBody>
                    <a:bodyPr/>
                    <a:lstStyle/>
                    <a:p>
                      <a:pPr marL="0" marR="0" lvl="0" indent="0" algn="l" rtl="0">
                        <a:spcBef>
                          <a:spcPts val="0"/>
                        </a:spcBef>
                        <a:spcAft>
                          <a:spcPts val="0"/>
                        </a:spcAft>
                        <a:buNone/>
                      </a:pPr>
                      <a:r>
                        <a:rPr lang="en-US" sz="2200"/>
                        <a:t>55</a:t>
                      </a:r>
                      <a:endParaRPr/>
                    </a:p>
                  </a:txBody>
                  <a:tcPr marL="91450" marR="91450" marT="45725" marB="45725" anchor="ctr"/>
                </a:tc>
                <a:tc>
                  <a:txBody>
                    <a:bodyPr/>
                    <a:lstStyle/>
                    <a:p>
                      <a:pPr marL="0" marR="0" lvl="0" indent="0" algn="l" rtl="0">
                        <a:spcBef>
                          <a:spcPts val="0"/>
                        </a:spcBef>
                        <a:spcAft>
                          <a:spcPts val="0"/>
                        </a:spcAft>
                        <a:buNone/>
                      </a:pPr>
                      <a:r>
                        <a:rPr lang="en-US" sz="2200"/>
                        <a:t>15</a:t>
                      </a:r>
                      <a:endParaRPr/>
                    </a:p>
                  </a:txBody>
                  <a:tcPr marL="91450" marR="91450" marT="45725" marB="45725" anchor="ctr"/>
                </a:tc>
                <a:tc>
                  <a:txBody>
                    <a:bodyPr/>
                    <a:lstStyle/>
                    <a:p>
                      <a:pPr marL="0" marR="0" lvl="0" indent="0" algn="l" rtl="0">
                        <a:spcBef>
                          <a:spcPts val="0"/>
                        </a:spcBef>
                        <a:spcAft>
                          <a:spcPts val="0"/>
                        </a:spcAft>
                        <a:buNone/>
                      </a:pPr>
                      <a:r>
                        <a:rPr lang="en-US" sz="2200"/>
                        <a:t>20</a:t>
                      </a:r>
                      <a:endParaRPr/>
                    </a:p>
                  </a:txBody>
                  <a:tcPr marL="91450" marR="91450" marT="45725" marB="45725" anchor="ctr"/>
                </a:tc>
                <a:extLst>
                  <a:ext uri="{0D108BD9-81ED-4DB2-BD59-A6C34878D82A}">
                    <a16:rowId xmlns:a16="http://schemas.microsoft.com/office/drawing/2014/main" val="10003"/>
                  </a:ext>
                </a:extLst>
              </a:tr>
              <a:tr h="279400">
                <a:tc>
                  <a:txBody>
                    <a:bodyPr/>
                    <a:lstStyle/>
                    <a:p>
                      <a:pPr marL="0" marR="0" lvl="0" indent="0" algn="l" rtl="0">
                        <a:spcBef>
                          <a:spcPts val="0"/>
                        </a:spcBef>
                        <a:spcAft>
                          <a:spcPts val="0"/>
                        </a:spcAft>
                        <a:buNone/>
                      </a:pPr>
                      <a:r>
                        <a:rPr lang="en-US" sz="2200"/>
                        <a:t>C004</a:t>
                      </a:r>
                      <a:endParaRPr/>
                    </a:p>
                  </a:txBody>
                  <a:tcPr marL="91450" marR="91450" marT="45725" marB="45725" anchor="ctr"/>
                </a:tc>
                <a:tc>
                  <a:txBody>
                    <a:bodyPr/>
                    <a:lstStyle/>
                    <a:p>
                      <a:pPr marL="0" marR="0" lvl="0" indent="0" algn="l" rtl="0">
                        <a:spcBef>
                          <a:spcPts val="0"/>
                        </a:spcBef>
                        <a:spcAft>
                          <a:spcPts val="0"/>
                        </a:spcAft>
                        <a:buNone/>
                      </a:pPr>
                      <a:r>
                        <a:rPr lang="en-US" sz="2200"/>
                        <a:t>50</a:t>
                      </a:r>
                      <a:endParaRPr/>
                    </a:p>
                  </a:txBody>
                  <a:tcPr marL="91450" marR="91450" marT="45725" marB="45725" anchor="ctr"/>
                </a:tc>
                <a:tc>
                  <a:txBody>
                    <a:bodyPr/>
                    <a:lstStyle/>
                    <a:p>
                      <a:pPr marL="0" marR="0" lvl="0" indent="0" algn="l" rtl="0">
                        <a:spcBef>
                          <a:spcPts val="0"/>
                        </a:spcBef>
                        <a:spcAft>
                          <a:spcPts val="0"/>
                        </a:spcAft>
                        <a:buNone/>
                      </a:pPr>
                      <a:r>
                        <a:rPr lang="en-US" sz="2200"/>
                        <a:t>100,000</a:t>
                      </a:r>
                      <a:endParaRPr/>
                    </a:p>
                  </a:txBody>
                  <a:tcPr marL="91450" marR="91450" marT="45725" marB="45725" anchor="ctr"/>
                </a:tc>
                <a:tc>
                  <a:txBody>
                    <a:bodyPr/>
                    <a:lstStyle/>
                    <a:p>
                      <a:pPr marL="0" marR="0" lvl="0" indent="0" algn="l" rtl="0">
                        <a:spcBef>
                          <a:spcPts val="0"/>
                        </a:spcBef>
                        <a:spcAft>
                          <a:spcPts val="0"/>
                        </a:spcAft>
                        <a:buNone/>
                      </a:pPr>
                      <a:r>
                        <a:rPr lang="en-US" sz="2200"/>
                        <a:t>40</a:t>
                      </a:r>
                      <a:endParaRPr/>
                    </a:p>
                  </a:txBody>
                  <a:tcPr marL="91450" marR="91450" marT="45725" marB="45725" anchor="ctr"/>
                </a:tc>
                <a:tc>
                  <a:txBody>
                    <a:bodyPr/>
                    <a:lstStyle/>
                    <a:p>
                      <a:pPr marL="0" marR="0" lvl="0" indent="0" algn="l" rtl="0">
                        <a:spcBef>
                          <a:spcPts val="0"/>
                        </a:spcBef>
                        <a:spcAft>
                          <a:spcPts val="0"/>
                        </a:spcAft>
                        <a:buNone/>
                      </a:pPr>
                      <a:r>
                        <a:rPr lang="en-US" sz="2200"/>
                        <a:t>8</a:t>
                      </a:r>
                      <a:endParaRPr/>
                    </a:p>
                  </a:txBody>
                  <a:tcPr marL="91450" marR="91450" marT="45725" marB="45725" anchor="ctr"/>
                </a:tc>
                <a:tc>
                  <a:txBody>
                    <a:bodyPr/>
                    <a:lstStyle/>
                    <a:p>
                      <a:pPr marL="0" marR="0" lvl="0" indent="0" algn="l" rtl="0">
                        <a:spcBef>
                          <a:spcPts val="0"/>
                        </a:spcBef>
                        <a:spcAft>
                          <a:spcPts val="0"/>
                        </a:spcAft>
                        <a:buNone/>
                      </a:pPr>
                      <a:r>
                        <a:rPr lang="en-US" sz="2200"/>
                        <a:t>7</a:t>
                      </a:r>
                      <a:endParaRPr/>
                    </a:p>
                  </a:txBody>
                  <a:tcPr marL="91450" marR="91450" marT="45725" marB="45725" anchor="ctr"/>
                </a:tc>
                <a:extLst>
                  <a:ext uri="{0D108BD9-81ED-4DB2-BD59-A6C34878D82A}">
                    <a16:rowId xmlns:a16="http://schemas.microsoft.com/office/drawing/2014/main" val="10004"/>
                  </a:ext>
                </a:extLst>
              </a:tr>
              <a:tr h="279400">
                <a:tc>
                  <a:txBody>
                    <a:bodyPr/>
                    <a:lstStyle/>
                    <a:p>
                      <a:pPr marL="0" marR="0" lvl="0" indent="0" algn="l" rtl="0">
                        <a:spcBef>
                          <a:spcPts val="0"/>
                        </a:spcBef>
                        <a:spcAft>
                          <a:spcPts val="0"/>
                        </a:spcAft>
                        <a:buNone/>
                      </a:pPr>
                      <a:r>
                        <a:rPr lang="en-US" sz="2200"/>
                        <a:t>C005</a:t>
                      </a:r>
                      <a:endParaRPr/>
                    </a:p>
                  </a:txBody>
                  <a:tcPr marL="91450" marR="91450" marT="45725" marB="45725" anchor="ctr"/>
                </a:tc>
                <a:tc>
                  <a:txBody>
                    <a:bodyPr/>
                    <a:lstStyle/>
                    <a:p>
                      <a:pPr marL="0" marR="0" lvl="0" indent="0" algn="l" rtl="0">
                        <a:spcBef>
                          <a:spcPts val="0"/>
                        </a:spcBef>
                        <a:spcAft>
                          <a:spcPts val="0"/>
                        </a:spcAft>
                        <a:buNone/>
                      </a:pPr>
                      <a:r>
                        <a:rPr lang="en-US" sz="2200"/>
                        <a:t>29</a:t>
                      </a:r>
                      <a:endParaRPr/>
                    </a:p>
                  </a:txBody>
                  <a:tcPr marL="91450" marR="91450" marT="45725" marB="45725" anchor="ctr"/>
                </a:tc>
                <a:tc>
                  <a:txBody>
                    <a:bodyPr/>
                    <a:lstStyle/>
                    <a:p>
                      <a:pPr marL="0" marR="0" lvl="0" indent="0" algn="l" rtl="0">
                        <a:spcBef>
                          <a:spcPts val="0"/>
                        </a:spcBef>
                        <a:spcAft>
                          <a:spcPts val="0"/>
                        </a:spcAft>
                        <a:buNone/>
                      </a:pPr>
                      <a:r>
                        <a:rPr lang="en-US" sz="2200"/>
                        <a:t>40,000</a:t>
                      </a:r>
                      <a:endParaRPr/>
                    </a:p>
                  </a:txBody>
                  <a:tcPr marL="91450" marR="91450" marT="45725" marB="45725" anchor="ctr"/>
                </a:tc>
                <a:tc>
                  <a:txBody>
                    <a:bodyPr/>
                    <a:lstStyle/>
                    <a:p>
                      <a:pPr marL="0" marR="0" lvl="0" indent="0" algn="l" rtl="0">
                        <a:spcBef>
                          <a:spcPts val="0"/>
                        </a:spcBef>
                        <a:spcAft>
                          <a:spcPts val="0"/>
                        </a:spcAft>
                        <a:buNone/>
                      </a:pPr>
                      <a:r>
                        <a:rPr lang="en-US" sz="2200"/>
                        <a:t>80</a:t>
                      </a:r>
                      <a:endParaRPr/>
                    </a:p>
                  </a:txBody>
                  <a:tcPr marL="91450" marR="91450" marT="45725" marB="45725" anchor="ctr"/>
                </a:tc>
                <a:tc>
                  <a:txBody>
                    <a:bodyPr/>
                    <a:lstStyle/>
                    <a:p>
                      <a:pPr marL="0" marR="0" lvl="0" indent="0" algn="l" rtl="0">
                        <a:spcBef>
                          <a:spcPts val="0"/>
                        </a:spcBef>
                        <a:spcAft>
                          <a:spcPts val="0"/>
                        </a:spcAft>
                        <a:buNone/>
                      </a:pPr>
                      <a:r>
                        <a:rPr lang="en-US" sz="2200"/>
                        <a:t>20</a:t>
                      </a:r>
                      <a:endParaRPr/>
                    </a:p>
                  </a:txBody>
                  <a:tcPr marL="91450" marR="91450" marT="45725" marB="45725" anchor="ctr"/>
                </a:tc>
                <a:tc>
                  <a:txBody>
                    <a:bodyPr/>
                    <a:lstStyle/>
                    <a:p>
                      <a:pPr marL="0" marR="0" lvl="0" indent="0" algn="l" rtl="0">
                        <a:spcBef>
                          <a:spcPts val="0"/>
                        </a:spcBef>
                        <a:spcAft>
                          <a:spcPts val="0"/>
                        </a:spcAft>
                        <a:buNone/>
                      </a:pPr>
                      <a:r>
                        <a:rPr lang="en-US" sz="2200"/>
                        <a:t>25</a:t>
                      </a:r>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349" name="Google Shape;349;p34"/>
          <p:cNvSpPr/>
          <p:nvPr/>
        </p:nvSpPr>
        <p:spPr>
          <a:xfrm>
            <a:off x="681181" y="1097506"/>
            <a:ext cx="10014527" cy="76944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Customer Segmentation Dataset: </a:t>
            </a:r>
            <a:r>
              <a:rPr lang="en-US" sz="2200" b="0" i="0" u="none" strike="noStrike" cap="none">
                <a:solidFill>
                  <a:schemeClr val="lt1"/>
                </a:solidFill>
                <a:latin typeface="Calibri"/>
                <a:ea typeface="Calibri"/>
                <a:cs typeface="Calibri"/>
                <a:sym typeface="Calibri"/>
              </a:rPr>
              <a:t>This dataset can be used to segment customers based on their shopping behaviors.</a:t>
            </a:r>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5"/>
          <p:cNvSpPr txBox="1"/>
          <p:nvPr/>
        </p:nvSpPr>
        <p:spPr>
          <a:xfrm>
            <a:off x="546756" y="7545"/>
            <a:ext cx="682295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Sample datasets for K-means</a:t>
            </a:r>
            <a:endParaRPr sz="4400">
              <a:solidFill>
                <a:schemeClr val="lt1"/>
              </a:solidFill>
              <a:latin typeface="Calibri"/>
              <a:ea typeface="Calibri"/>
              <a:cs typeface="Calibri"/>
              <a:sym typeface="Calibri"/>
            </a:endParaRPr>
          </a:p>
        </p:txBody>
      </p:sp>
      <p:sp>
        <p:nvSpPr>
          <p:cNvPr id="355" name="Google Shape;355;p35"/>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356" name="Google Shape;356;p35"/>
          <p:cNvGraphicFramePr/>
          <p:nvPr/>
        </p:nvGraphicFramePr>
        <p:xfrm>
          <a:off x="546756" y="1510988"/>
          <a:ext cx="10515600" cy="3230940"/>
        </p:xfrm>
        <a:graphic>
          <a:graphicData uri="http://schemas.openxmlformats.org/drawingml/2006/table">
            <a:tbl>
              <a:tblPr>
                <a:noFill/>
                <a:tableStyleId>{E9C6C79A-6882-41AA-894F-E257A51AF7DE}</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279400">
                <a:tc>
                  <a:txBody>
                    <a:bodyPr/>
                    <a:lstStyle/>
                    <a:p>
                      <a:pPr marL="0" marR="0" lvl="0" indent="0" algn="l" rtl="0">
                        <a:spcBef>
                          <a:spcPts val="0"/>
                        </a:spcBef>
                        <a:spcAft>
                          <a:spcPts val="0"/>
                        </a:spcAft>
                        <a:buNone/>
                      </a:pPr>
                      <a:r>
                        <a:rPr lang="en-US" sz="2200"/>
                        <a:t>Student_ID</a:t>
                      </a:r>
                      <a:endParaRPr/>
                    </a:p>
                  </a:txBody>
                  <a:tcPr marL="91450" marR="91450" marT="45725" marB="45725" anchor="ctr"/>
                </a:tc>
                <a:tc>
                  <a:txBody>
                    <a:bodyPr/>
                    <a:lstStyle/>
                    <a:p>
                      <a:pPr marL="0" marR="0" lvl="0" indent="0" algn="l" rtl="0">
                        <a:spcBef>
                          <a:spcPts val="0"/>
                        </a:spcBef>
                        <a:spcAft>
                          <a:spcPts val="0"/>
                        </a:spcAft>
                        <a:buNone/>
                      </a:pPr>
                      <a:r>
                        <a:rPr lang="en-US" sz="2200"/>
                        <a:t>Study_Hours_per_Week</a:t>
                      </a:r>
                      <a:endParaRPr sz="2200"/>
                    </a:p>
                  </a:txBody>
                  <a:tcPr marL="91450" marR="91450" marT="45725" marB="45725" anchor="ctr"/>
                </a:tc>
                <a:tc>
                  <a:txBody>
                    <a:bodyPr/>
                    <a:lstStyle/>
                    <a:p>
                      <a:pPr marL="0" marR="0" lvl="0" indent="0" algn="l" rtl="0">
                        <a:spcBef>
                          <a:spcPts val="0"/>
                        </a:spcBef>
                        <a:spcAft>
                          <a:spcPts val="0"/>
                        </a:spcAft>
                        <a:buNone/>
                      </a:pPr>
                      <a:r>
                        <a:rPr lang="en-US" sz="2200"/>
                        <a:t>GPA</a:t>
                      </a:r>
                      <a:endParaRPr/>
                    </a:p>
                  </a:txBody>
                  <a:tcPr marL="91450" marR="91450" marT="45725" marB="45725" anchor="ctr"/>
                </a:tc>
                <a:tc>
                  <a:txBody>
                    <a:bodyPr/>
                    <a:lstStyle/>
                    <a:p>
                      <a:pPr marL="0" marR="0" lvl="0" indent="0" algn="l" rtl="0">
                        <a:spcBef>
                          <a:spcPts val="0"/>
                        </a:spcBef>
                        <a:spcAft>
                          <a:spcPts val="0"/>
                        </a:spcAft>
                        <a:buNone/>
                      </a:pPr>
                      <a:r>
                        <a:rPr lang="en-US" sz="2200"/>
                        <a:t>Attendance (%)</a:t>
                      </a:r>
                      <a:endParaRPr/>
                    </a:p>
                  </a:txBody>
                  <a:tcPr marL="91450" marR="91450" marT="45725" marB="45725" anchor="ctr"/>
                </a:tc>
                <a:tc>
                  <a:txBody>
                    <a:bodyPr/>
                    <a:lstStyle/>
                    <a:p>
                      <a:pPr marL="0" marR="0" lvl="0" indent="0" algn="l" rtl="0">
                        <a:spcBef>
                          <a:spcPts val="0"/>
                        </a:spcBef>
                        <a:spcAft>
                          <a:spcPts val="0"/>
                        </a:spcAft>
                        <a:buNone/>
                      </a:pPr>
                      <a:r>
                        <a:rPr lang="en-US" sz="2200"/>
                        <a:t>Number_of_Extracurriculars</a:t>
                      </a:r>
                      <a:endParaRPr/>
                    </a:p>
                  </a:txBody>
                  <a:tcPr marL="91450" marR="91450" marT="45725" marB="45725" anchor="ctr"/>
                </a:tc>
                <a:tc>
                  <a:txBody>
                    <a:bodyPr/>
                    <a:lstStyle/>
                    <a:p>
                      <a:pPr marL="0" marR="0" lvl="0" indent="0" algn="l" rtl="0">
                        <a:spcBef>
                          <a:spcPts val="0"/>
                        </a:spcBef>
                        <a:spcAft>
                          <a:spcPts val="0"/>
                        </a:spcAft>
                        <a:buNone/>
                      </a:pPr>
                      <a:r>
                        <a:rPr lang="en-US" sz="2200"/>
                        <a:t>Test_Scores (%)</a:t>
                      </a:r>
                      <a:endParaRPr/>
                    </a:p>
                  </a:txBody>
                  <a:tcPr marL="91450" marR="91450" marT="45725" marB="45725" anchor="ctr"/>
                </a:tc>
                <a:extLst>
                  <a:ext uri="{0D108BD9-81ED-4DB2-BD59-A6C34878D82A}">
                    <a16:rowId xmlns:a16="http://schemas.microsoft.com/office/drawing/2014/main" val="10000"/>
                  </a:ext>
                </a:extLst>
              </a:tr>
              <a:tr h="279400">
                <a:tc>
                  <a:txBody>
                    <a:bodyPr/>
                    <a:lstStyle/>
                    <a:p>
                      <a:pPr marL="0" marR="0" lvl="0" indent="0" algn="l" rtl="0">
                        <a:spcBef>
                          <a:spcPts val="0"/>
                        </a:spcBef>
                        <a:spcAft>
                          <a:spcPts val="0"/>
                        </a:spcAft>
                        <a:buNone/>
                      </a:pPr>
                      <a:r>
                        <a:rPr lang="en-US" sz="2200"/>
                        <a:t>S001</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25</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3.8</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95</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2</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85</a:t>
                      </a:r>
                      <a:endParaRPr/>
                    </a:p>
                  </a:txBody>
                  <a:tcPr marL="91450" marR="91450" marT="45725" marB="45725" anchor="ctr">
                    <a:solidFill>
                      <a:srgbClr val="FFFF00"/>
                    </a:solidFill>
                  </a:tcPr>
                </a:tc>
                <a:extLst>
                  <a:ext uri="{0D108BD9-81ED-4DB2-BD59-A6C34878D82A}">
                    <a16:rowId xmlns:a16="http://schemas.microsoft.com/office/drawing/2014/main" val="10001"/>
                  </a:ext>
                </a:extLst>
              </a:tr>
              <a:tr h="279400">
                <a:tc>
                  <a:txBody>
                    <a:bodyPr/>
                    <a:lstStyle/>
                    <a:p>
                      <a:pPr marL="0" marR="0" lvl="0" indent="0" algn="l" rtl="0">
                        <a:spcBef>
                          <a:spcPts val="0"/>
                        </a:spcBef>
                        <a:spcAft>
                          <a:spcPts val="0"/>
                        </a:spcAft>
                        <a:buNone/>
                      </a:pPr>
                      <a:r>
                        <a:rPr lang="en-US" sz="2200"/>
                        <a:t>S002</a:t>
                      </a:r>
                      <a:endParaRPr/>
                    </a:p>
                  </a:txBody>
                  <a:tcPr marL="91450" marR="91450" marT="45725" marB="45725" anchor="ctr"/>
                </a:tc>
                <a:tc>
                  <a:txBody>
                    <a:bodyPr/>
                    <a:lstStyle/>
                    <a:p>
                      <a:pPr marL="0" marR="0" lvl="0" indent="0" algn="l" rtl="0">
                        <a:spcBef>
                          <a:spcPts val="0"/>
                        </a:spcBef>
                        <a:spcAft>
                          <a:spcPts val="0"/>
                        </a:spcAft>
                        <a:buNone/>
                      </a:pPr>
                      <a:r>
                        <a:rPr lang="en-US" sz="2200"/>
                        <a:t>15</a:t>
                      </a:r>
                      <a:endParaRPr/>
                    </a:p>
                  </a:txBody>
                  <a:tcPr marL="91450" marR="91450" marT="45725" marB="45725" anchor="ctr"/>
                </a:tc>
                <a:tc>
                  <a:txBody>
                    <a:bodyPr/>
                    <a:lstStyle/>
                    <a:p>
                      <a:pPr marL="0" marR="0" lvl="0" indent="0" algn="l" rtl="0">
                        <a:spcBef>
                          <a:spcPts val="0"/>
                        </a:spcBef>
                        <a:spcAft>
                          <a:spcPts val="0"/>
                        </a:spcAft>
                        <a:buNone/>
                      </a:pPr>
                      <a:r>
                        <a:rPr lang="en-US" sz="2200"/>
                        <a:t>3.2</a:t>
                      </a:r>
                      <a:endParaRPr/>
                    </a:p>
                  </a:txBody>
                  <a:tcPr marL="91450" marR="91450" marT="45725" marB="45725" anchor="ctr"/>
                </a:tc>
                <a:tc>
                  <a:txBody>
                    <a:bodyPr/>
                    <a:lstStyle/>
                    <a:p>
                      <a:pPr marL="0" marR="0" lvl="0" indent="0" algn="l" rtl="0">
                        <a:spcBef>
                          <a:spcPts val="0"/>
                        </a:spcBef>
                        <a:spcAft>
                          <a:spcPts val="0"/>
                        </a:spcAft>
                        <a:buNone/>
                      </a:pPr>
                      <a:r>
                        <a:rPr lang="en-US" sz="2200"/>
                        <a:t>90</a:t>
                      </a:r>
                      <a:endParaRPr/>
                    </a:p>
                  </a:txBody>
                  <a:tcPr marL="91450" marR="91450" marT="45725" marB="45725" anchor="ctr"/>
                </a:tc>
                <a:tc>
                  <a:txBody>
                    <a:bodyPr/>
                    <a:lstStyle/>
                    <a:p>
                      <a:pPr marL="0" marR="0" lvl="0" indent="0" algn="l" rtl="0">
                        <a:spcBef>
                          <a:spcPts val="0"/>
                        </a:spcBef>
                        <a:spcAft>
                          <a:spcPts val="0"/>
                        </a:spcAft>
                        <a:buNone/>
                      </a:pPr>
                      <a:r>
                        <a:rPr lang="en-US" sz="2200"/>
                        <a:t>1</a:t>
                      </a:r>
                      <a:endParaRPr/>
                    </a:p>
                  </a:txBody>
                  <a:tcPr marL="91450" marR="91450" marT="45725" marB="45725" anchor="ctr"/>
                </a:tc>
                <a:tc>
                  <a:txBody>
                    <a:bodyPr/>
                    <a:lstStyle/>
                    <a:p>
                      <a:pPr marL="0" marR="0" lvl="0" indent="0" algn="l" rtl="0">
                        <a:spcBef>
                          <a:spcPts val="0"/>
                        </a:spcBef>
                        <a:spcAft>
                          <a:spcPts val="0"/>
                        </a:spcAft>
                        <a:buNone/>
                      </a:pPr>
                      <a:r>
                        <a:rPr lang="en-US" sz="2200"/>
                        <a:t>78</a:t>
                      </a:r>
                      <a:endParaRPr/>
                    </a:p>
                  </a:txBody>
                  <a:tcPr marL="91450" marR="91450" marT="45725" marB="45725" anchor="ctr"/>
                </a:tc>
                <a:extLst>
                  <a:ext uri="{0D108BD9-81ED-4DB2-BD59-A6C34878D82A}">
                    <a16:rowId xmlns:a16="http://schemas.microsoft.com/office/drawing/2014/main" val="10002"/>
                  </a:ext>
                </a:extLst>
              </a:tr>
              <a:tr h="279400">
                <a:tc>
                  <a:txBody>
                    <a:bodyPr/>
                    <a:lstStyle/>
                    <a:p>
                      <a:pPr marL="0" marR="0" lvl="0" indent="0" algn="l" rtl="0">
                        <a:spcBef>
                          <a:spcPts val="0"/>
                        </a:spcBef>
                        <a:spcAft>
                          <a:spcPts val="0"/>
                        </a:spcAft>
                        <a:buNone/>
                      </a:pPr>
                      <a:r>
                        <a:rPr lang="en-US" sz="2200"/>
                        <a:t>S003</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30</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4.0</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98</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3</a:t>
                      </a:r>
                      <a:endParaRPr/>
                    </a:p>
                  </a:txBody>
                  <a:tcPr marL="91450" marR="91450" marT="45725" marB="45725" anchor="ctr">
                    <a:solidFill>
                      <a:srgbClr val="FFFF00"/>
                    </a:solidFill>
                  </a:tcPr>
                </a:tc>
                <a:tc>
                  <a:txBody>
                    <a:bodyPr/>
                    <a:lstStyle/>
                    <a:p>
                      <a:pPr marL="0" marR="0" lvl="0" indent="0" algn="l" rtl="0">
                        <a:spcBef>
                          <a:spcPts val="0"/>
                        </a:spcBef>
                        <a:spcAft>
                          <a:spcPts val="0"/>
                        </a:spcAft>
                        <a:buNone/>
                      </a:pPr>
                      <a:r>
                        <a:rPr lang="en-US" sz="2200"/>
                        <a:t>92</a:t>
                      </a:r>
                      <a:endParaRPr/>
                    </a:p>
                  </a:txBody>
                  <a:tcPr marL="91450" marR="91450" marT="45725" marB="45725" anchor="ctr">
                    <a:solidFill>
                      <a:srgbClr val="FFFF00"/>
                    </a:solidFill>
                  </a:tcPr>
                </a:tc>
                <a:extLst>
                  <a:ext uri="{0D108BD9-81ED-4DB2-BD59-A6C34878D82A}">
                    <a16:rowId xmlns:a16="http://schemas.microsoft.com/office/drawing/2014/main" val="10003"/>
                  </a:ext>
                </a:extLst>
              </a:tr>
              <a:tr h="279400">
                <a:tc>
                  <a:txBody>
                    <a:bodyPr/>
                    <a:lstStyle/>
                    <a:p>
                      <a:pPr marL="0" marR="0" lvl="0" indent="0" algn="l" rtl="0">
                        <a:spcBef>
                          <a:spcPts val="0"/>
                        </a:spcBef>
                        <a:spcAft>
                          <a:spcPts val="0"/>
                        </a:spcAft>
                        <a:buNone/>
                      </a:pPr>
                      <a:r>
                        <a:rPr lang="en-US" sz="2200"/>
                        <a:t>S004</a:t>
                      </a:r>
                      <a:endParaRPr/>
                    </a:p>
                  </a:txBody>
                  <a:tcPr marL="91450" marR="91450" marT="45725" marB="45725" anchor="ctr"/>
                </a:tc>
                <a:tc>
                  <a:txBody>
                    <a:bodyPr/>
                    <a:lstStyle/>
                    <a:p>
                      <a:pPr marL="0" marR="0" lvl="0" indent="0" algn="l" rtl="0">
                        <a:spcBef>
                          <a:spcPts val="0"/>
                        </a:spcBef>
                        <a:spcAft>
                          <a:spcPts val="0"/>
                        </a:spcAft>
                        <a:buNone/>
                      </a:pPr>
                      <a:r>
                        <a:rPr lang="en-US" sz="2200"/>
                        <a:t>20</a:t>
                      </a:r>
                      <a:endParaRPr/>
                    </a:p>
                  </a:txBody>
                  <a:tcPr marL="91450" marR="91450" marT="45725" marB="45725" anchor="ctr"/>
                </a:tc>
                <a:tc>
                  <a:txBody>
                    <a:bodyPr/>
                    <a:lstStyle/>
                    <a:p>
                      <a:pPr marL="0" marR="0" lvl="0" indent="0" algn="l" rtl="0">
                        <a:spcBef>
                          <a:spcPts val="0"/>
                        </a:spcBef>
                        <a:spcAft>
                          <a:spcPts val="0"/>
                        </a:spcAft>
                        <a:buNone/>
                      </a:pPr>
                      <a:r>
                        <a:rPr lang="en-US" sz="2200"/>
                        <a:t>3.5</a:t>
                      </a:r>
                      <a:endParaRPr/>
                    </a:p>
                  </a:txBody>
                  <a:tcPr marL="91450" marR="91450" marT="45725" marB="45725" anchor="ctr"/>
                </a:tc>
                <a:tc>
                  <a:txBody>
                    <a:bodyPr/>
                    <a:lstStyle/>
                    <a:p>
                      <a:pPr marL="0" marR="0" lvl="0" indent="0" algn="l" rtl="0">
                        <a:spcBef>
                          <a:spcPts val="0"/>
                        </a:spcBef>
                        <a:spcAft>
                          <a:spcPts val="0"/>
                        </a:spcAft>
                        <a:buNone/>
                      </a:pPr>
                      <a:r>
                        <a:rPr lang="en-US" sz="2200"/>
                        <a:t>85</a:t>
                      </a:r>
                      <a:endParaRPr/>
                    </a:p>
                  </a:txBody>
                  <a:tcPr marL="91450" marR="91450" marT="45725" marB="45725" anchor="ctr"/>
                </a:tc>
                <a:tc>
                  <a:txBody>
                    <a:bodyPr/>
                    <a:lstStyle/>
                    <a:p>
                      <a:pPr marL="0" marR="0" lvl="0" indent="0" algn="l" rtl="0">
                        <a:spcBef>
                          <a:spcPts val="0"/>
                        </a:spcBef>
                        <a:spcAft>
                          <a:spcPts val="0"/>
                        </a:spcAft>
                        <a:buNone/>
                      </a:pPr>
                      <a:r>
                        <a:rPr lang="en-US" sz="2200"/>
                        <a:t>2</a:t>
                      </a:r>
                      <a:endParaRPr/>
                    </a:p>
                  </a:txBody>
                  <a:tcPr marL="91450" marR="91450" marT="45725" marB="45725" anchor="ctr"/>
                </a:tc>
                <a:tc>
                  <a:txBody>
                    <a:bodyPr/>
                    <a:lstStyle/>
                    <a:p>
                      <a:pPr marL="0" marR="0" lvl="0" indent="0" algn="l" rtl="0">
                        <a:spcBef>
                          <a:spcPts val="0"/>
                        </a:spcBef>
                        <a:spcAft>
                          <a:spcPts val="0"/>
                        </a:spcAft>
                        <a:buNone/>
                      </a:pPr>
                      <a:r>
                        <a:rPr lang="en-US" sz="2200"/>
                        <a:t>80</a:t>
                      </a:r>
                      <a:endParaRPr/>
                    </a:p>
                  </a:txBody>
                  <a:tcPr marL="91450" marR="91450" marT="45725" marB="45725" anchor="ctr"/>
                </a:tc>
                <a:extLst>
                  <a:ext uri="{0D108BD9-81ED-4DB2-BD59-A6C34878D82A}">
                    <a16:rowId xmlns:a16="http://schemas.microsoft.com/office/drawing/2014/main" val="10004"/>
                  </a:ext>
                </a:extLst>
              </a:tr>
              <a:tr h="279400">
                <a:tc>
                  <a:txBody>
                    <a:bodyPr/>
                    <a:lstStyle/>
                    <a:p>
                      <a:pPr marL="0" marR="0" lvl="0" indent="0" algn="l" rtl="0">
                        <a:spcBef>
                          <a:spcPts val="0"/>
                        </a:spcBef>
                        <a:spcAft>
                          <a:spcPts val="0"/>
                        </a:spcAft>
                        <a:buNone/>
                      </a:pPr>
                      <a:r>
                        <a:rPr lang="en-US" sz="2200"/>
                        <a:t>S005</a:t>
                      </a:r>
                      <a:endParaRPr/>
                    </a:p>
                  </a:txBody>
                  <a:tcPr marL="91450" marR="91450" marT="45725" marB="45725" anchor="ctr"/>
                </a:tc>
                <a:tc>
                  <a:txBody>
                    <a:bodyPr/>
                    <a:lstStyle/>
                    <a:p>
                      <a:pPr marL="0" marR="0" lvl="0" indent="0" algn="l" rtl="0">
                        <a:spcBef>
                          <a:spcPts val="0"/>
                        </a:spcBef>
                        <a:spcAft>
                          <a:spcPts val="0"/>
                        </a:spcAft>
                        <a:buNone/>
                      </a:pPr>
                      <a:r>
                        <a:rPr lang="en-US" sz="2200"/>
                        <a:t>10</a:t>
                      </a:r>
                      <a:endParaRPr/>
                    </a:p>
                  </a:txBody>
                  <a:tcPr marL="91450" marR="91450" marT="45725" marB="45725" anchor="ctr"/>
                </a:tc>
                <a:tc>
                  <a:txBody>
                    <a:bodyPr/>
                    <a:lstStyle/>
                    <a:p>
                      <a:pPr marL="0" marR="0" lvl="0" indent="0" algn="l" rtl="0">
                        <a:spcBef>
                          <a:spcPts val="0"/>
                        </a:spcBef>
                        <a:spcAft>
                          <a:spcPts val="0"/>
                        </a:spcAft>
                        <a:buNone/>
                      </a:pPr>
                      <a:r>
                        <a:rPr lang="en-US" sz="2200"/>
                        <a:t>2.8</a:t>
                      </a:r>
                      <a:endParaRPr/>
                    </a:p>
                  </a:txBody>
                  <a:tcPr marL="91450" marR="91450" marT="45725" marB="45725" anchor="ctr"/>
                </a:tc>
                <a:tc>
                  <a:txBody>
                    <a:bodyPr/>
                    <a:lstStyle/>
                    <a:p>
                      <a:pPr marL="0" marR="0" lvl="0" indent="0" algn="l" rtl="0">
                        <a:spcBef>
                          <a:spcPts val="0"/>
                        </a:spcBef>
                        <a:spcAft>
                          <a:spcPts val="0"/>
                        </a:spcAft>
                        <a:buNone/>
                      </a:pPr>
                      <a:r>
                        <a:rPr lang="en-US" sz="2200"/>
                        <a:t>80</a:t>
                      </a:r>
                      <a:endParaRPr/>
                    </a:p>
                  </a:txBody>
                  <a:tcPr marL="91450" marR="91450" marT="45725" marB="45725" anchor="ctr"/>
                </a:tc>
                <a:tc>
                  <a:txBody>
                    <a:bodyPr/>
                    <a:lstStyle/>
                    <a:p>
                      <a:pPr marL="0" marR="0" lvl="0" indent="0" algn="l" rtl="0">
                        <a:spcBef>
                          <a:spcPts val="0"/>
                        </a:spcBef>
                        <a:spcAft>
                          <a:spcPts val="0"/>
                        </a:spcAft>
                        <a:buNone/>
                      </a:pPr>
                      <a:r>
                        <a:rPr lang="en-US" sz="2200"/>
                        <a:t>1</a:t>
                      </a:r>
                      <a:endParaRPr/>
                    </a:p>
                  </a:txBody>
                  <a:tcPr marL="91450" marR="91450" marT="45725" marB="45725" anchor="ctr"/>
                </a:tc>
                <a:tc>
                  <a:txBody>
                    <a:bodyPr/>
                    <a:lstStyle/>
                    <a:p>
                      <a:pPr marL="0" marR="0" lvl="0" indent="0" algn="l" rtl="0">
                        <a:spcBef>
                          <a:spcPts val="0"/>
                        </a:spcBef>
                        <a:spcAft>
                          <a:spcPts val="0"/>
                        </a:spcAft>
                        <a:buNone/>
                      </a:pPr>
                      <a:r>
                        <a:rPr lang="en-US" sz="2200"/>
                        <a:t>70</a:t>
                      </a:r>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357" name="Google Shape;357;p35"/>
          <p:cNvSpPr/>
          <p:nvPr/>
        </p:nvSpPr>
        <p:spPr>
          <a:xfrm>
            <a:off x="546756" y="741547"/>
            <a:ext cx="11012054" cy="76944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Student Performance Dataset: </a:t>
            </a:r>
            <a:r>
              <a:rPr lang="en-US" sz="2200" b="0" i="0" u="none" strike="noStrike" cap="none">
                <a:solidFill>
                  <a:schemeClr val="lt1"/>
                </a:solidFill>
                <a:latin typeface="Calibri"/>
                <a:ea typeface="Calibri"/>
                <a:cs typeface="Calibri"/>
                <a:sym typeface="Calibri"/>
              </a:rPr>
              <a:t>This dataset clusters students based on academic performance and study habits.</a:t>
            </a:r>
            <a:endParaRPr/>
          </a:p>
        </p:txBody>
      </p:sp>
      <p:sp>
        <p:nvSpPr>
          <p:cNvPr id="358" name="Google Shape;358;p35"/>
          <p:cNvSpPr/>
          <p:nvPr/>
        </p:nvSpPr>
        <p:spPr>
          <a:xfrm>
            <a:off x="389873" y="4865049"/>
            <a:ext cx="11737471"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u="sng">
                <a:solidFill>
                  <a:schemeClr val="lt1"/>
                </a:solidFill>
                <a:latin typeface="Calibri"/>
                <a:ea typeface="Calibri"/>
                <a:cs typeface="Calibri"/>
                <a:sym typeface="Calibri"/>
              </a:rPr>
              <a:t>Cluster 1 (High Performers):</a:t>
            </a:r>
            <a:r>
              <a:rPr lang="en-US" sz="2200">
                <a:solidFill>
                  <a:schemeClr val="lt1"/>
                </a:solidFill>
                <a:latin typeface="Calibri"/>
                <a:ea typeface="Calibri"/>
                <a:cs typeface="Calibri"/>
                <a:sym typeface="Calibri"/>
              </a:rPr>
              <a:t>These students dedicate more time to studying (25-30 hours per week), have high GPAs (3.8-4.0), and attend more extracurricular activities (2-3). Their attendance is nearly perfect (95%-98%), and they score well on tests (85%-92%).   </a:t>
            </a:r>
            <a:endParaRPr/>
          </a:p>
          <a:p>
            <a:pPr marL="0" marR="0" lvl="0" indent="0" algn="l" rtl="0">
              <a:spcBef>
                <a:spcPts val="0"/>
              </a:spcBef>
              <a:spcAft>
                <a:spcPts val="0"/>
              </a:spcAft>
              <a:buNone/>
            </a:pPr>
            <a:r>
              <a:rPr lang="en-US" sz="2200" b="1">
                <a:solidFill>
                  <a:srgbClr val="FFC000"/>
                </a:solidFill>
                <a:latin typeface="Calibri"/>
                <a:ea typeface="Calibri"/>
                <a:cs typeface="Calibri"/>
                <a:sym typeface="Calibri"/>
              </a:rPr>
              <a:t>Example: </a:t>
            </a:r>
            <a:r>
              <a:rPr lang="en-US" sz="2200">
                <a:solidFill>
                  <a:schemeClr val="lt1"/>
                </a:solidFill>
                <a:latin typeface="Calibri"/>
                <a:ea typeface="Calibri"/>
                <a:cs typeface="Calibri"/>
                <a:sym typeface="Calibri"/>
              </a:rPr>
              <a:t>Students S001, S003.</a:t>
            </a:r>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6"/>
          <p:cNvSpPr txBox="1"/>
          <p:nvPr/>
        </p:nvSpPr>
        <p:spPr>
          <a:xfrm>
            <a:off x="546756" y="7545"/>
            <a:ext cx="682295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Sample datasets for K-means</a:t>
            </a:r>
            <a:endParaRPr sz="4400">
              <a:solidFill>
                <a:schemeClr val="lt1"/>
              </a:solidFill>
              <a:latin typeface="Calibri"/>
              <a:ea typeface="Calibri"/>
              <a:cs typeface="Calibri"/>
              <a:sym typeface="Calibri"/>
            </a:endParaRPr>
          </a:p>
        </p:txBody>
      </p:sp>
      <p:sp>
        <p:nvSpPr>
          <p:cNvPr id="364" name="Google Shape;364;p36"/>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graphicFrame>
        <p:nvGraphicFramePr>
          <p:cNvPr id="365" name="Google Shape;365;p36"/>
          <p:cNvGraphicFramePr/>
          <p:nvPr/>
        </p:nvGraphicFramePr>
        <p:xfrm>
          <a:off x="546756" y="1510988"/>
          <a:ext cx="10515600" cy="3230940"/>
        </p:xfrm>
        <a:graphic>
          <a:graphicData uri="http://schemas.openxmlformats.org/drawingml/2006/table">
            <a:tbl>
              <a:tblPr>
                <a:noFill/>
                <a:tableStyleId>{E9C6C79A-6882-41AA-894F-E257A51AF7DE}</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279400">
                <a:tc>
                  <a:txBody>
                    <a:bodyPr/>
                    <a:lstStyle/>
                    <a:p>
                      <a:pPr marL="0" marR="0" lvl="0" indent="0" algn="l" rtl="0">
                        <a:spcBef>
                          <a:spcPts val="0"/>
                        </a:spcBef>
                        <a:spcAft>
                          <a:spcPts val="0"/>
                        </a:spcAft>
                        <a:buNone/>
                      </a:pPr>
                      <a:r>
                        <a:rPr lang="en-US" sz="2200"/>
                        <a:t>Student_ID</a:t>
                      </a:r>
                      <a:endParaRPr/>
                    </a:p>
                  </a:txBody>
                  <a:tcPr marL="91450" marR="91450" marT="45725" marB="45725" anchor="ctr"/>
                </a:tc>
                <a:tc>
                  <a:txBody>
                    <a:bodyPr/>
                    <a:lstStyle/>
                    <a:p>
                      <a:pPr marL="0" marR="0" lvl="0" indent="0" algn="l" rtl="0">
                        <a:spcBef>
                          <a:spcPts val="0"/>
                        </a:spcBef>
                        <a:spcAft>
                          <a:spcPts val="0"/>
                        </a:spcAft>
                        <a:buNone/>
                      </a:pPr>
                      <a:r>
                        <a:rPr lang="en-US" sz="2200"/>
                        <a:t>Study_Hours_per_Week</a:t>
                      </a:r>
                      <a:endParaRPr sz="2200"/>
                    </a:p>
                  </a:txBody>
                  <a:tcPr marL="91450" marR="91450" marT="45725" marB="45725" anchor="ctr"/>
                </a:tc>
                <a:tc>
                  <a:txBody>
                    <a:bodyPr/>
                    <a:lstStyle/>
                    <a:p>
                      <a:pPr marL="0" marR="0" lvl="0" indent="0" algn="l" rtl="0">
                        <a:spcBef>
                          <a:spcPts val="0"/>
                        </a:spcBef>
                        <a:spcAft>
                          <a:spcPts val="0"/>
                        </a:spcAft>
                        <a:buNone/>
                      </a:pPr>
                      <a:r>
                        <a:rPr lang="en-US" sz="2200"/>
                        <a:t>GPA</a:t>
                      </a:r>
                      <a:endParaRPr/>
                    </a:p>
                  </a:txBody>
                  <a:tcPr marL="91450" marR="91450" marT="45725" marB="45725" anchor="ctr"/>
                </a:tc>
                <a:tc>
                  <a:txBody>
                    <a:bodyPr/>
                    <a:lstStyle/>
                    <a:p>
                      <a:pPr marL="0" marR="0" lvl="0" indent="0" algn="l" rtl="0">
                        <a:spcBef>
                          <a:spcPts val="0"/>
                        </a:spcBef>
                        <a:spcAft>
                          <a:spcPts val="0"/>
                        </a:spcAft>
                        <a:buNone/>
                      </a:pPr>
                      <a:r>
                        <a:rPr lang="en-US" sz="2200"/>
                        <a:t>Attendance (%)</a:t>
                      </a:r>
                      <a:endParaRPr/>
                    </a:p>
                  </a:txBody>
                  <a:tcPr marL="91450" marR="91450" marT="45725" marB="45725" anchor="ctr"/>
                </a:tc>
                <a:tc>
                  <a:txBody>
                    <a:bodyPr/>
                    <a:lstStyle/>
                    <a:p>
                      <a:pPr marL="0" marR="0" lvl="0" indent="0" algn="l" rtl="0">
                        <a:spcBef>
                          <a:spcPts val="0"/>
                        </a:spcBef>
                        <a:spcAft>
                          <a:spcPts val="0"/>
                        </a:spcAft>
                        <a:buNone/>
                      </a:pPr>
                      <a:r>
                        <a:rPr lang="en-US" sz="2200"/>
                        <a:t>Number_of_Extracurriculars</a:t>
                      </a:r>
                      <a:endParaRPr/>
                    </a:p>
                  </a:txBody>
                  <a:tcPr marL="91450" marR="91450" marT="45725" marB="45725" anchor="ctr"/>
                </a:tc>
                <a:tc>
                  <a:txBody>
                    <a:bodyPr/>
                    <a:lstStyle/>
                    <a:p>
                      <a:pPr marL="0" marR="0" lvl="0" indent="0" algn="l" rtl="0">
                        <a:spcBef>
                          <a:spcPts val="0"/>
                        </a:spcBef>
                        <a:spcAft>
                          <a:spcPts val="0"/>
                        </a:spcAft>
                        <a:buNone/>
                      </a:pPr>
                      <a:r>
                        <a:rPr lang="en-US" sz="2200"/>
                        <a:t>Test_Scores (%)</a:t>
                      </a:r>
                      <a:endParaRPr/>
                    </a:p>
                  </a:txBody>
                  <a:tcPr marL="91450" marR="91450" marT="45725" marB="45725" anchor="ctr"/>
                </a:tc>
                <a:extLst>
                  <a:ext uri="{0D108BD9-81ED-4DB2-BD59-A6C34878D82A}">
                    <a16:rowId xmlns:a16="http://schemas.microsoft.com/office/drawing/2014/main" val="10000"/>
                  </a:ext>
                </a:extLst>
              </a:tr>
              <a:tr h="279400">
                <a:tc>
                  <a:txBody>
                    <a:bodyPr/>
                    <a:lstStyle/>
                    <a:p>
                      <a:pPr marL="0" marR="0" lvl="0" indent="0" algn="l" rtl="0">
                        <a:spcBef>
                          <a:spcPts val="0"/>
                        </a:spcBef>
                        <a:spcAft>
                          <a:spcPts val="0"/>
                        </a:spcAft>
                        <a:buNone/>
                      </a:pPr>
                      <a:r>
                        <a:rPr lang="en-US" sz="2200"/>
                        <a:t>S001</a:t>
                      </a:r>
                      <a:endParaRPr/>
                    </a:p>
                  </a:txBody>
                  <a:tcPr marL="91450" marR="91450" marT="45725" marB="45725" anchor="ctr"/>
                </a:tc>
                <a:tc>
                  <a:txBody>
                    <a:bodyPr/>
                    <a:lstStyle/>
                    <a:p>
                      <a:pPr marL="0" marR="0" lvl="0" indent="0" algn="l" rtl="0">
                        <a:spcBef>
                          <a:spcPts val="0"/>
                        </a:spcBef>
                        <a:spcAft>
                          <a:spcPts val="0"/>
                        </a:spcAft>
                        <a:buNone/>
                      </a:pPr>
                      <a:r>
                        <a:rPr lang="en-US" sz="2200"/>
                        <a:t>25</a:t>
                      </a:r>
                      <a:endParaRPr/>
                    </a:p>
                  </a:txBody>
                  <a:tcPr marL="91450" marR="91450" marT="45725" marB="45725" anchor="ctr"/>
                </a:tc>
                <a:tc>
                  <a:txBody>
                    <a:bodyPr/>
                    <a:lstStyle/>
                    <a:p>
                      <a:pPr marL="0" marR="0" lvl="0" indent="0" algn="l" rtl="0">
                        <a:spcBef>
                          <a:spcPts val="0"/>
                        </a:spcBef>
                        <a:spcAft>
                          <a:spcPts val="0"/>
                        </a:spcAft>
                        <a:buNone/>
                      </a:pPr>
                      <a:r>
                        <a:rPr lang="en-US" sz="2200"/>
                        <a:t>3.8</a:t>
                      </a:r>
                      <a:endParaRPr/>
                    </a:p>
                  </a:txBody>
                  <a:tcPr marL="91450" marR="91450" marT="45725" marB="45725" anchor="ctr"/>
                </a:tc>
                <a:tc>
                  <a:txBody>
                    <a:bodyPr/>
                    <a:lstStyle/>
                    <a:p>
                      <a:pPr marL="0" marR="0" lvl="0" indent="0" algn="l" rtl="0">
                        <a:spcBef>
                          <a:spcPts val="0"/>
                        </a:spcBef>
                        <a:spcAft>
                          <a:spcPts val="0"/>
                        </a:spcAft>
                        <a:buNone/>
                      </a:pPr>
                      <a:r>
                        <a:rPr lang="en-US" sz="2200"/>
                        <a:t>95</a:t>
                      </a:r>
                      <a:endParaRPr/>
                    </a:p>
                  </a:txBody>
                  <a:tcPr marL="91450" marR="91450" marT="45725" marB="45725" anchor="ctr"/>
                </a:tc>
                <a:tc>
                  <a:txBody>
                    <a:bodyPr/>
                    <a:lstStyle/>
                    <a:p>
                      <a:pPr marL="0" marR="0" lvl="0" indent="0" algn="l" rtl="0">
                        <a:spcBef>
                          <a:spcPts val="0"/>
                        </a:spcBef>
                        <a:spcAft>
                          <a:spcPts val="0"/>
                        </a:spcAft>
                        <a:buNone/>
                      </a:pPr>
                      <a:r>
                        <a:rPr lang="en-US" sz="2200"/>
                        <a:t>2</a:t>
                      </a:r>
                      <a:endParaRPr/>
                    </a:p>
                  </a:txBody>
                  <a:tcPr marL="91450" marR="91450" marT="45725" marB="45725" anchor="ctr"/>
                </a:tc>
                <a:tc>
                  <a:txBody>
                    <a:bodyPr/>
                    <a:lstStyle/>
                    <a:p>
                      <a:pPr marL="0" marR="0" lvl="0" indent="0" algn="l" rtl="0">
                        <a:spcBef>
                          <a:spcPts val="0"/>
                        </a:spcBef>
                        <a:spcAft>
                          <a:spcPts val="0"/>
                        </a:spcAft>
                        <a:buNone/>
                      </a:pPr>
                      <a:r>
                        <a:rPr lang="en-US" sz="2200"/>
                        <a:t>85</a:t>
                      </a:r>
                      <a:endParaRPr/>
                    </a:p>
                  </a:txBody>
                  <a:tcPr marL="91450" marR="91450" marT="45725" marB="45725" anchor="ctr"/>
                </a:tc>
                <a:extLst>
                  <a:ext uri="{0D108BD9-81ED-4DB2-BD59-A6C34878D82A}">
                    <a16:rowId xmlns:a16="http://schemas.microsoft.com/office/drawing/2014/main" val="10001"/>
                  </a:ext>
                </a:extLst>
              </a:tr>
              <a:tr h="279400">
                <a:tc>
                  <a:txBody>
                    <a:bodyPr/>
                    <a:lstStyle/>
                    <a:p>
                      <a:pPr marL="0" marR="0" lvl="0" indent="0" algn="l" rtl="0">
                        <a:spcBef>
                          <a:spcPts val="0"/>
                        </a:spcBef>
                        <a:spcAft>
                          <a:spcPts val="0"/>
                        </a:spcAft>
                        <a:buNone/>
                      </a:pPr>
                      <a:r>
                        <a:rPr lang="en-US" sz="2200"/>
                        <a:t>S002</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15</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3.2</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90</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1</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78</a:t>
                      </a:r>
                      <a:endParaRPr/>
                    </a:p>
                  </a:txBody>
                  <a:tcPr marL="91450" marR="91450" marT="45725" marB="45725" anchor="ctr">
                    <a:solidFill>
                      <a:srgbClr val="92D050"/>
                    </a:solidFill>
                  </a:tcPr>
                </a:tc>
                <a:extLst>
                  <a:ext uri="{0D108BD9-81ED-4DB2-BD59-A6C34878D82A}">
                    <a16:rowId xmlns:a16="http://schemas.microsoft.com/office/drawing/2014/main" val="10002"/>
                  </a:ext>
                </a:extLst>
              </a:tr>
              <a:tr h="279400">
                <a:tc>
                  <a:txBody>
                    <a:bodyPr/>
                    <a:lstStyle/>
                    <a:p>
                      <a:pPr marL="0" marR="0" lvl="0" indent="0" algn="l" rtl="0">
                        <a:spcBef>
                          <a:spcPts val="0"/>
                        </a:spcBef>
                        <a:spcAft>
                          <a:spcPts val="0"/>
                        </a:spcAft>
                        <a:buNone/>
                      </a:pPr>
                      <a:r>
                        <a:rPr lang="en-US" sz="2200"/>
                        <a:t>S003</a:t>
                      </a:r>
                      <a:endParaRPr/>
                    </a:p>
                  </a:txBody>
                  <a:tcPr marL="91450" marR="91450" marT="45725" marB="45725" anchor="ctr"/>
                </a:tc>
                <a:tc>
                  <a:txBody>
                    <a:bodyPr/>
                    <a:lstStyle/>
                    <a:p>
                      <a:pPr marL="0" marR="0" lvl="0" indent="0" algn="l" rtl="0">
                        <a:spcBef>
                          <a:spcPts val="0"/>
                        </a:spcBef>
                        <a:spcAft>
                          <a:spcPts val="0"/>
                        </a:spcAft>
                        <a:buNone/>
                      </a:pPr>
                      <a:r>
                        <a:rPr lang="en-US" sz="2200"/>
                        <a:t>30</a:t>
                      </a:r>
                      <a:endParaRPr/>
                    </a:p>
                  </a:txBody>
                  <a:tcPr marL="91450" marR="91450" marT="45725" marB="45725" anchor="ctr"/>
                </a:tc>
                <a:tc>
                  <a:txBody>
                    <a:bodyPr/>
                    <a:lstStyle/>
                    <a:p>
                      <a:pPr marL="0" marR="0" lvl="0" indent="0" algn="l" rtl="0">
                        <a:spcBef>
                          <a:spcPts val="0"/>
                        </a:spcBef>
                        <a:spcAft>
                          <a:spcPts val="0"/>
                        </a:spcAft>
                        <a:buNone/>
                      </a:pPr>
                      <a:r>
                        <a:rPr lang="en-US" sz="2200"/>
                        <a:t>4.0</a:t>
                      </a:r>
                      <a:endParaRPr/>
                    </a:p>
                  </a:txBody>
                  <a:tcPr marL="91450" marR="91450" marT="45725" marB="45725" anchor="ctr"/>
                </a:tc>
                <a:tc>
                  <a:txBody>
                    <a:bodyPr/>
                    <a:lstStyle/>
                    <a:p>
                      <a:pPr marL="0" marR="0" lvl="0" indent="0" algn="l" rtl="0">
                        <a:spcBef>
                          <a:spcPts val="0"/>
                        </a:spcBef>
                        <a:spcAft>
                          <a:spcPts val="0"/>
                        </a:spcAft>
                        <a:buNone/>
                      </a:pPr>
                      <a:r>
                        <a:rPr lang="en-US" sz="2200"/>
                        <a:t>98</a:t>
                      </a:r>
                      <a:endParaRPr/>
                    </a:p>
                  </a:txBody>
                  <a:tcPr marL="91450" marR="91450" marT="45725" marB="45725" anchor="ctr"/>
                </a:tc>
                <a:tc>
                  <a:txBody>
                    <a:bodyPr/>
                    <a:lstStyle/>
                    <a:p>
                      <a:pPr marL="0" marR="0" lvl="0" indent="0" algn="l" rtl="0">
                        <a:spcBef>
                          <a:spcPts val="0"/>
                        </a:spcBef>
                        <a:spcAft>
                          <a:spcPts val="0"/>
                        </a:spcAft>
                        <a:buNone/>
                      </a:pPr>
                      <a:r>
                        <a:rPr lang="en-US" sz="2200"/>
                        <a:t>3</a:t>
                      </a:r>
                      <a:endParaRPr/>
                    </a:p>
                  </a:txBody>
                  <a:tcPr marL="91450" marR="91450" marT="45725" marB="45725" anchor="ctr"/>
                </a:tc>
                <a:tc>
                  <a:txBody>
                    <a:bodyPr/>
                    <a:lstStyle/>
                    <a:p>
                      <a:pPr marL="0" marR="0" lvl="0" indent="0" algn="l" rtl="0">
                        <a:spcBef>
                          <a:spcPts val="0"/>
                        </a:spcBef>
                        <a:spcAft>
                          <a:spcPts val="0"/>
                        </a:spcAft>
                        <a:buNone/>
                      </a:pPr>
                      <a:r>
                        <a:rPr lang="en-US" sz="2200"/>
                        <a:t>92</a:t>
                      </a:r>
                      <a:endParaRPr/>
                    </a:p>
                  </a:txBody>
                  <a:tcPr marL="91450" marR="91450" marT="45725" marB="45725" anchor="ctr"/>
                </a:tc>
                <a:extLst>
                  <a:ext uri="{0D108BD9-81ED-4DB2-BD59-A6C34878D82A}">
                    <a16:rowId xmlns:a16="http://schemas.microsoft.com/office/drawing/2014/main" val="10003"/>
                  </a:ext>
                </a:extLst>
              </a:tr>
              <a:tr h="279400">
                <a:tc>
                  <a:txBody>
                    <a:bodyPr/>
                    <a:lstStyle/>
                    <a:p>
                      <a:pPr marL="0" marR="0" lvl="0" indent="0" algn="l" rtl="0">
                        <a:spcBef>
                          <a:spcPts val="0"/>
                        </a:spcBef>
                        <a:spcAft>
                          <a:spcPts val="0"/>
                        </a:spcAft>
                        <a:buNone/>
                      </a:pPr>
                      <a:r>
                        <a:rPr lang="en-US" sz="2200"/>
                        <a:t>S004</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20</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3.5</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85</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2</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80</a:t>
                      </a:r>
                      <a:endParaRPr/>
                    </a:p>
                  </a:txBody>
                  <a:tcPr marL="91450" marR="91450" marT="45725" marB="45725" anchor="ctr">
                    <a:solidFill>
                      <a:srgbClr val="92D050"/>
                    </a:solidFill>
                  </a:tcPr>
                </a:tc>
                <a:extLst>
                  <a:ext uri="{0D108BD9-81ED-4DB2-BD59-A6C34878D82A}">
                    <a16:rowId xmlns:a16="http://schemas.microsoft.com/office/drawing/2014/main" val="10004"/>
                  </a:ext>
                </a:extLst>
              </a:tr>
              <a:tr h="279400">
                <a:tc>
                  <a:txBody>
                    <a:bodyPr/>
                    <a:lstStyle/>
                    <a:p>
                      <a:pPr marL="0" marR="0" lvl="0" indent="0" algn="l" rtl="0">
                        <a:spcBef>
                          <a:spcPts val="0"/>
                        </a:spcBef>
                        <a:spcAft>
                          <a:spcPts val="0"/>
                        </a:spcAft>
                        <a:buNone/>
                      </a:pPr>
                      <a:r>
                        <a:rPr lang="en-US" sz="2200"/>
                        <a:t>S005</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10</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2.8</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80</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1</a:t>
                      </a:r>
                      <a:endParaRPr/>
                    </a:p>
                  </a:txBody>
                  <a:tcPr marL="91450" marR="91450" marT="45725" marB="45725" anchor="ctr">
                    <a:solidFill>
                      <a:srgbClr val="92D050"/>
                    </a:solidFill>
                  </a:tcPr>
                </a:tc>
                <a:tc>
                  <a:txBody>
                    <a:bodyPr/>
                    <a:lstStyle/>
                    <a:p>
                      <a:pPr marL="0" marR="0" lvl="0" indent="0" algn="l" rtl="0">
                        <a:spcBef>
                          <a:spcPts val="0"/>
                        </a:spcBef>
                        <a:spcAft>
                          <a:spcPts val="0"/>
                        </a:spcAft>
                        <a:buNone/>
                      </a:pPr>
                      <a:r>
                        <a:rPr lang="en-US" sz="2200"/>
                        <a:t>70</a:t>
                      </a:r>
                      <a:endParaRPr/>
                    </a:p>
                  </a:txBody>
                  <a:tcPr marL="91450" marR="91450" marT="45725" marB="45725" anchor="ctr">
                    <a:solidFill>
                      <a:srgbClr val="92D050"/>
                    </a:solidFill>
                  </a:tcPr>
                </a:tc>
                <a:extLst>
                  <a:ext uri="{0D108BD9-81ED-4DB2-BD59-A6C34878D82A}">
                    <a16:rowId xmlns:a16="http://schemas.microsoft.com/office/drawing/2014/main" val="10005"/>
                  </a:ext>
                </a:extLst>
              </a:tr>
            </a:tbl>
          </a:graphicData>
        </a:graphic>
      </p:graphicFrame>
      <p:sp>
        <p:nvSpPr>
          <p:cNvPr id="366" name="Google Shape;366;p36"/>
          <p:cNvSpPr/>
          <p:nvPr/>
        </p:nvSpPr>
        <p:spPr>
          <a:xfrm>
            <a:off x="546756" y="741547"/>
            <a:ext cx="11012054" cy="76944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lt1"/>
              </a:buClr>
              <a:buSzPts val="2200"/>
              <a:buFont typeface="Calibri"/>
              <a:buNone/>
            </a:pPr>
            <a:r>
              <a:rPr lang="en-US" sz="2200" b="1" i="0" u="none" strike="noStrike" cap="none">
                <a:solidFill>
                  <a:schemeClr val="lt1"/>
                </a:solidFill>
                <a:latin typeface="Calibri"/>
                <a:ea typeface="Calibri"/>
                <a:cs typeface="Calibri"/>
                <a:sym typeface="Calibri"/>
              </a:rPr>
              <a:t>Student Performance Dataset: </a:t>
            </a:r>
            <a:r>
              <a:rPr lang="en-US" sz="2200" b="0" i="0" u="none" strike="noStrike" cap="none">
                <a:solidFill>
                  <a:schemeClr val="lt1"/>
                </a:solidFill>
                <a:latin typeface="Calibri"/>
                <a:ea typeface="Calibri"/>
                <a:cs typeface="Calibri"/>
                <a:sym typeface="Calibri"/>
              </a:rPr>
              <a:t>This dataset clusters students based on academic performance and study habits.</a:t>
            </a:r>
            <a:endParaRPr/>
          </a:p>
        </p:txBody>
      </p:sp>
      <p:sp>
        <p:nvSpPr>
          <p:cNvPr id="367" name="Google Shape;367;p36"/>
          <p:cNvSpPr/>
          <p:nvPr/>
        </p:nvSpPr>
        <p:spPr>
          <a:xfrm>
            <a:off x="389873" y="4865049"/>
            <a:ext cx="11552745"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lt1"/>
                </a:solidFill>
                <a:latin typeface="Calibri"/>
                <a:ea typeface="Calibri"/>
                <a:cs typeface="Calibri"/>
                <a:sym typeface="Calibri"/>
              </a:rPr>
              <a:t>Cluster 2 (Moderate/Low Performers): These students study fewer hours (10-20 hours per week), have moderate-to-low GPAs (2.8-3.5), and attend fewer extracurricular activities (1-2). Their attendance is lower (80%-90%), and their test scores range from 70% to 80%.</a:t>
            </a:r>
            <a:endParaRPr/>
          </a:p>
          <a:p>
            <a:pPr marL="0" marR="0" lvl="0" indent="0" algn="l" rtl="0">
              <a:spcBef>
                <a:spcPts val="0"/>
              </a:spcBef>
              <a:spcAft>
                <a:spcPts val="0"/>
              </a:spcAft>
              <a:buNone/>
            </a:pPr>
            <a:r>
              <a:rPr lang="en-US" sz="2200" b="1">
                <a:solidFill>
                  <a:srgbClr val="FFC000"/>
                </a:solidFill>
                <a:latin typeface="Calibri"/>
                <a:ea typeface="Calibri"/>
                <a:cs typeface="Calibri"/>
                <a:sym typeface="Calibri"/>
              </a:rPr>
              <a:t>Example: </a:t>
            </a:r>
            <a:r>
              <a:rPr lang="en-US" sz="2200">
                <a:solidFill>
                  <a:schemeClr val="lt1"/>
                </a:solidFill>
                <a:latin typeface="Calibri"/>
                <a:ea typeface="Calibri"/>
                <a:cs typeface="Calibri"/>
                <a:sym typeface="Calibri"/>
              </a:rPr>
              <a:t>Students S002, S004, S005.</a:t>
            </a:r>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cxnSp>
        <p:nvCxnSpPr>
          <p:cNvPr id="372" name="Google Shape;372;p37"/>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73" name="Google Shape;373;p37"/>
          <p:cNvSpPr txBox="1"/>
          <p:nvPr/>
        </p:nvSpPr>
        <p:spPr>
          <a:xfrm>
            <a:off x="546756" y="7545"/>
            <a:ext cx="10890417"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to Determine the Optimal K for K-Means?</a:t>
            </a:r>
            <a:endParaRPr/>
          </a:p>
        </p:txBody>
      </p:sp>
      <p:sp>
        <p:nvSpPr>
          <p:cNvPr id="374" name="Google Shape;374;p37"/>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375" name="Google Shape;375;p37"/>
          <p:cNvSpPr/>
          <p:nvPr/>
        </p:nvSpPr>
        <p:spPr>
          <a:xfrm>
            <a:off x="546756" y="1152437"/>
            <a:ext cx="6096000" cy="120032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The Elbow Method</a:t>
            </a:r>
            <a:endParaRPr/>
          </a:p>
          <a:p>
            <a:pPr marL="342900" marR="0" lvl="0" indent="-342900" algn="l" rtl="0">
              <a:lnSpc>
                <a:spcPct val="150000"/>
              </a:lnSpc>
              <a:spcBef>
                <a:spcPts val="0"/>
              </a:spcBef>
              <a:spcAft>
                <a:spcPts val="0"/>
              </a:spcAft>
              <a:buClr>
                <a:schemeClr val="lt1"/>
              </a:buClr>
              <a:buSzPts val="2400"/>
              <a:buFont typeface="Calibri"/>
              <a:buAutoNum type="arabicPeriod"/>
            </a:pPr>
            <a:r>
              <a:rPr lang="en-US" sz="2400">
                <a:solidFill>
                  <a:schemeClr val="lt1"/>
                </a:solidFill>
                <a:latin typeface="Calibri"/>
                <a:ea typeface="Calibri"/>
                <a:cs typeface="Calibri"/>
                <a:sym typeface="Calibri"/>
              </a:rPr>
              <a:t>The Silhouette Method </a:t>
            </a:r>
            <a:r>
              <a:rPr lang="en-US" sz="2400">
                <a:solidFill>
                  <a:srgbClr val="FFC000"/>
                </a:solidFill>
                <a:latin typeface="Calibri"/>
                <a:ea typeface="Calibri"/>
                <a:cs typeface="Calibri"/>
                <a:sym typeface="Calibri"/>
              </a:rPr>
              <a:t>(Assignment)</a:t>
            </a:r>
            <a:endParaRPr sz="2400">
              <a:solidFill>
                <a:srgbClr val="FFC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cxnSp>
        <p:nvCxnSpPr>
          <p:cNvPr id="380" name="Google Shape;380;p38"/>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81" name="Google Shape;381;p38"/>
          <p:cNvSpPr txBox="1"/>
          <p:nvPr/>
        </p:nvSpPr>
        <p:spPr>
          <a:xfrm>
            <a:off x="546756" y="7545"/>
            <a:ext cx="10890417"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to Determine the Optimal K for K-Means?</a:t>
            </a:r>
            <a:endParaRPr/>
          </a:p>
        </p:txBody>
      </p:sp>
      <p:sp>
        <p:nvSpPr>
          <p:cNvPr id="382" name="Google Shape;382;p38"/>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383" name="Google Shape;383;p38"/>
          <p:cNvSpPr/>
          <p:nvPr/>
        </p:nvSpPr>
        <p:spPr>
          <a:xfrm>
            <a:off x="546755" y="856099"/>
            <a:ext cx="11171111" cy="34163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The Elbow Method: This is probably the most well-known method for determining the optimal number of clusters. It is also a bit naive in its approach.</a:t>
            </a:r>
            <a:endParaRPr/>
          </a:p>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Calculate the </a:t>
            </a:r>
            <a:r>
              <a:rPr lang="en-US" sz="2400">
                <a:solidFill>
                  <a:srgbClr val="FFC000"/>
                </a:solidFill>
                <a:latin typeface="Calibri"/>
                <a:ea typeface="Calibri"/>
                <a:cs typeface="Calibri"/>
                <a:sym typeface="Calibri"/>
              </a:rPr>
              <a:t>Within-Cluster-Sum of Squared Errors (WSS) [also known as </a:t>
            </a:r>
            <a:r>
              <a:rPr lang="en-US" sz="2400" i="1">
                <a:solidFill>
                  <a:srgbClr val="FFC000"/>
                </a:solidFill>
                <a:latin typeface="Calibri"/>
                <a:ea typeface="Calibri"/>
                <a:cs typeface="Calibri"/>
                <a:sym typeface="Calibri"/>
              </a:rPr>
              <a:t>inertia</a:t>
            </a:r>
            <a:r>
              <a:rPr lang="en-US" sz="2400">
                <a:solidFill>
                  <a:srgbClr val="FFC000"/>
                </a:solidFill>
                <a:latin typeface="Calibri"/>
                <a:ea typeface="Calibri"/>
                <a:cs typeface="Calibri"/>
                <a:sym typeface="Calibri"/>
              </a:rPr>
              <a:t>]</a:t>
            </a:r>
            <a:r>
              <a:rPr lang="en-US" sz="2400">
                <a:solidFill>
                  <a:schemeClr val="lt1"/>
                </a:solidFill>
                <a:latin typeface="Calibri"/>
                <a:ea typeface="Calibri"/>
                <a:cs typeface="Calibri"/>
                <a:sym typeface="Calibri"/>
              </a:rPr>
              <a:t> for different values of k, and choose the k for which WSS becomes first starts to diminish. In the plot of WSS-versus-k, this is visible as an elbow.</a:t>
            </a:r>
            <a:endParaRPr/>
          </a:p>
          <a:p>
            <a:pPr marL="0" marR="0" lvl="0" indent="0" algn="l" rtl="0">
              <a:lnSpc>
                <a:spcPct val="150000"/>
              </a:lnSpc>
              <a:spcBef>
                <a:spcPts val="0"/>
              </a:spcBef>
              <a:spcAft>
                <a:spcPts val="0"/>
              </a:spcAft>
              <a:buNone/>
            </a:pPr>
            <a:endParaRPr sz="24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cxnSp>
        <p:nvCxnSpPr>
          <p:cNvPr id="388" name="Google Shape;388;p39"/>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89" name="Google Shape;389;p39"/>
          <p:cNvSpPr txBox="1"/>
          <p:nvPr/>
        </p:nvSpPr>
        <p:spPr>
          <a:xfrm>
            <a:off x="546756" y="7545"/>
            <a:ext cx="10890417"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to Determine the Optimal K for K-Means?</a:t>
            </a:r>
            <a:endParaRPr/>
          </a:p>
        </p:txBody>
      </p:sp>
      <p:sp>
        <p:nvSpPr>
          <p:cNvPr id="390" name="Google Shape;390;p39"/>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pic>
        <p:nvPicPr>
          <p:cNvPr id="391" name="Google Shape;391;p39" descr="https://user-images.githubusercontent.com/42711978/87970313-2c6cc680-cae1-11ea-865b-a775d7d06ec1.png"/>
          <p:cNvPicPr preferRelativeResize="0"/>
          <p:nvPr/>
        </p:nvPicPr>
        <p:blipFill rotWithShape="1">
          <a:blip r:embed="rId3">
            <a:alphaModFix/>
          </a:blip>
          <a:srcRect/>
          <a:stretch/>
        </p:blipFill>
        <p:spPr>
          <a:xfrm>
            <a:off x="2951288" y="936565"/>
            <a:ext cx="4720142" cy="1779273"/>
          </a:xfrm>
          <a:prstGeom prst="rect">
            <a:avLst/>
          </a:prstGeom>
          <a:noFill/>
          <a:ln>
            <a:noFill/>
          </a:ln>
        </p:spPr>
      </p:pic>
      <p:pic>
        <p:nvPicPr>
          <p:cNvPr id="392" name="Google Shape;392;p39" descr="K-Means Clustering number of clusters | | elbow method"/>
          <p:cNvPicPr preferRelativeResize="0"/>
          <p:nvPr/>
        </p:nvPicPr>
        <p:blipFill rotWithShape="1">
          <a:blip r:embed="rId4">
            <a:alphaModFix/>
          </a:blip>
          <a:srcRect/>
          <a:stretch/>
        </p:blipFill>
        <p:spPr>
          <a:xfrm>
            <a:off x="6254430" y="3156480"/>
            <a:ext cx="4955436" cy="3189987"/>
          </a:xfrm>
          <a:prstGeom prst="rect">
            <a:avLst/>
          </a:prstGeom>
          <a:noFill/>
          <a:ln>
            <a:noFill/>
          </a:ln>
        </p:spPr>
      </p:pic>
      <p:pic>
        <p:nvPicPr>
          <p:cNvPr id="393" name="Google Shape;393;p39" descr="K-Means Clustering graph | elbow method"/>
          <p:cNvPicPr preferRelativeResize="0"/>
          <p:nvPr/>
        </p:nvPicPr>
        <p:blipFill rotWithShape="1">
          <a:blip r:embed="rId5">
            <a:alphaModFix/>
          </a:blip>
          <a:srcRect/>
          <a:stretch/>
        </p:blipFill>
        <p:spPr>
          <a:xfrm>
            <a:off x="785611" y="3156480"/>
            <a:ext cx="4760056" cy="3206003"/>
          </a:xfrm>
          <a:prstGeom prst="rect">
            <a:avLst/>
          </a:prstGeom>
          <a:noFill/>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cxnSp>
        <p:nvCxnSpPr>
          <p:cNvPr id="398" name="Google Shape;398;p40"/>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399" name="Google Shape;399;p40"/>
          <p:cNvSpPr txBox="1"/>
          <p:nvPr/>
        </p:nvSpPr>
        <p:spPr>
          <a:xfrm>
            <a:off x="546756" y="7545"/>
            <a:ext cx="2429709"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dirty="0">
                <a:solidFill>
                  <a:schemeClr val="lt1"/>
                </a:solidFill>
                <a:latin typeface="Calibri"/>
                <a:ea typeface="Calibri"/>
                <a:cs typeface="Calibri"/>
                <a:sym typeface="Calibri"/>
              </a:rPr>
              <a:t>Exercise</a:t>
            </a:r>
            <a:endParaRPr sz="4400" dirty="0">
              <a:solidFill>
                <a:schemeClr val="lt1"/>
              </a:solidFill>
              <a:latin typeface="Calibri"/>
              <a:ea typeface="Calibri"/>
              <a:cs typeface="Calibri"/>
              <a:sym typeface="Calibri"/>
            </a:endParaRPr>
          </a:p>
        </p:txBody>
      </p:sp>
      <p:sp>
        <p:nvSpPr>
          <p:cNvPr id="400" name="Google Shape;400;p40"/>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01" name="Google Shape;401;p40"/>
          <p:cNvSpPr/>
          <p:nvPr/>
        </p:nvSpPr>
        <p:spPr>
          <a:xfrm>
            <a:off x="369455" y="1314118"/>
            <a:ext cx="11595017" cy="286232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dirty="0">
                <a:solidFill>
                  <a:srgbClr val="FFC000"/>
                </a:solidFill>
                <a:latin typeface="Calibri"/>
                <a:ea typeface="Calibri"/>
                <a:cs typeface="Calibri"/>
                <a:sym typeface="Calibri"/>
              </a:rPr>
              <a:t>Data points:</a:t>
            </a:r>
            <a:r>
              <a:rPr lang="en-US" sz="2400" dirty="0">
                <a:solidFill>
                  <a:schemeClr val="dk1"/>
                </a:solidFill>
                <a:latin typeface="Calibri"/>
                <a:ea typeface="Calibri"/>
                <a:cs typeface="Calibri"/>
                <a:sym typeface="Calibri"/>
              </a:rPr>
              <a:t> </a:t>
            </a:r>
            <a:r>
              <a:rPr lang="en-US" sz="2400" dirty="0">
                <a:solidFill>
                  <a:schemeClr val="lt1"/>
                </a:solidFill>
                <a:latin typeface="Calibri"/>
                <a:ea typeface="Calibri"/>
                <a:cs typeface="Calibri"/>
                <a:sym typeface="Calibri"/>
              </a:rPr>
              <a:t>A(1,1), B(2,1), C(4,3), D(5,4)</a:t>
            </a:r>
            <a:br>
              <a:rPr lang="en-US" sz="2400" dirty="0">
                <a:solidFill>
                  <a:schemeClr val="lt1"/>
                </a:solidFill>
                <a:latin typeface="Calibri"/>
                <a:ea typeface="Calibri"/>
                <a:cs typeface="Calibri"/>
                <a:sym typeface="Calibri"/>
              </a:rPr>
            </a:br>
            <a:r>
              <a:rPr lang="en-US" sz="2400" b="1" dirty="0">
                <a:solidFill>
                  <a:srgbClr val="FFC000"/>
                </a:solidFill>
                <a:latin typeface="Calibri"/>
                <a:ea typeface="Calibri"/>
                <a:cs typeface="Calibri"/>
                <a:sym typeface="Calibri"/>
              </a:rPr>
              <a:t>Centroids: </a:t>
            </a:r>
            <a:r>
              <a:rPr lang="en-US" sz="2400" dirty="0">
                <a:solidFill>
                  <a:schemeClr val="lt1"/>
                </a:solidFill>
                <a:latin typeface="Calibri"/>
                <a:ea typeface="Calibri"/>
                <a:cs typeface="Calibri"/>
                <a:sym typeface="Calibri"/>
              </a:rPr>
              <a:t>M1(1,0), M2(5,5)</a:t>
            </a:r>
            <a:br>
              <a:rPr lang="en-US" sz="2400" dirty="0">
                <a:solidFill>
                  <a:schemeClr val="lt1"/>
                </a:solidFill>
                <a:latin typeface="Calibri"/>
                <a:ea typeface="Calibri"/>
                <a:cs typeface="Calibri"/>
                <a:sym typeface="Calibri"/>
              </a:rPr>
            </a:br>
            <a:r>
              <a:rPr lang="en-US" sz="2400" b="1" dirty="0">
                <a:solidFill>
                  <a:srgbClr val="FFC000"/>
                </a:solidFill>
                <a:latin typeface="Calibri"/>
                <a:ea typeface="Calibri"/>
                <a:cs typeface="Calibri"/>
                <a:sym typeface="Calibri"/>
              </a:rPr>
              <a:t>Task:</a:t>
            </a:r>
            <a:r>
              <a:rPr lang="en-US" sz="2400" dirty="0">
                <a:solidFill>
                  <a:srgbClr val="FFC000"/>
                </a:solidFill>
                <a:latin typeface="Calibri"/>
                <a:ea typeface="Calibri"/>
                <a:cs typeface="Calibri"/>
                <a:sym typeface="Calibri"/>
              </a:rPr>
              <a:t> </a:t>
            </a:r>
            <a:endParaRPr sz="2400" dirty="0">
              <a:solidFill>
                <a:srgbClr val="FFC000"/>
              </a:solidFill>
              <a:latin typeface="Calibri"/>
              <a:ea typeface="Calibri"/>
              <a:cs typeface="Calibri"/>
              <a:sym typeface="Calibri"/>
            </a:endParaRPr>
          </a:p>
          <a:p>
            <a:pPr marL="342900" marR="0" lvl="0" indent="-342900" algn="l" rtl="0">
              <a:lnSpc>
                <a:spcPct val="150000"/>
              </a:lnSpc>
              <a:spcBef>
                <a:spcPts val="0"/>
              </a:spcBef>
              <a:spcAft>
                <a:spcPts val="0"/>
              </a:spcAft>
              <a:buClr>
                <a:schemeClr val="lt1"/>
              </a:buClr>
              <a:buSzPts val="2400"/>
              <a:buFont typeface="Arial"/>
              <a:buChar char="•"/>
            </a:pPr>
            <a:r>
              <a:rPr lang="en-US" sz="2400" dirty="0">
                <a:solidFill>
                  <a:schemeClr val="lt1"/>
                </a:solidFill>
                <a:latin typeface="Calibri"/>
                <a:ea typeface="Calibri"/>
                <a:cs typeface="Calibri"/>
                <a:sym typeface="Calibri"/>
              </a:rPr>
              <a:t>Assign each point to the nearest centroid using </a:t>
            </a:r>
            <a:r>
              <a:rPr lang="en-US" sz="2400" b="1" dirty="0">
                <a:solidFill>
                  <a:schemeClr val="lt1"/>
                </a:solidFill>
                <a:latin typeface="Calibri"/>
                <a:ea typeface="Calibri"/>
                <a:cs typeface="Calibri"/>
                <a:sym typeface="Calibri"/>
              </a:rPr>
              <a:t>Euclidean distance</a:t>
            </a:r>
            <a:r>
              <a:rPr lang="en-US" sz="2400" dirty="0">
                <a:solidFill>
                  <a:schemeClr val="lt1"/>
                </a:solidFill>
                <a:latin typeface="Calibri"/>
                <a:ea typeface="Calibri"/>
                <a:cs typeface="Calibri"/>
                <a:sym typeface="Calibri"/>
              </a:rPr>
              <a:t>.</a:t>
            </a:r>
            <a:endParaRPr dirty="0"/>
          </a:p>
          <a:p>
            <a:pPr marL="342900" marR="0" lvl="0" indent="-342900" algn="l" rtl="0">
              <a:lnSpc>
                <a:spcPct val="150000"/>
              </a:lnSpc>
              <a:spcBef>
                <a:spcPts val="0"/>
              </a:spcBef>
              <a:spcAft>
                <a:spcPts val="0"/>
              </a:spcAft>
              <a:buClr>
                <a:schemeClr val="lt1"/>
              </a:buClr>
              <a:buSzPts val="2400"/>
              <a:buFont typeface="Arial"/>
              <a:buChar char="•"/>
            </a:pPr>
            <a:r>
              <a:rPr lang="en-US" sz="2400" dirty="0" err="1">
                <a:solidFill>
                  <a:schemeClr val="lt1"/>
                </a:solidFill>
                <a:latin typeface="Calibri"/>
                <a:ea typeface="Calibri"/>
                <a:cs typeface="Calibri"/>
                <a:sym typeface="Calibri"/>
              </a:rPr>
              <a:t>Recompute</a:t>
            </a:r>
            <a:r>
              <a:rPr lang="en-US" sz="2400" dirty="0">
                <a:solidFill>
                  <a:schemeClr val="lt1"/>
                </a:solidFill>
                <a:latin typeface="Calibri"/>
                <a:ea typeface="Calibri"/>
                <a:cs typeface="Calibri"/>
                <a:sym typeface="Calibri"/>
              </a:rPr>
              <a:t> centroids (</a:t>
            </a:r>
            <a:r>
              <a:rPr lang="en-US" sz="2400" dirty="0" err="1">
                <a:solidFill>
                  <a:schemeClr val="lt1"/>
                </a:solidFill>
                <a:latin typeface="Calibri"/>
                <a:ea typeface="Calibri"/>
                <a:cs typeface="Calibri"/>
                <a:sym typeface="Calibri"/>
              </a:rPr>
              <a:t>Upto</a:t>
            </a:r>
            <a:r>
              <a:rPr lang="en-US" sz="2400" dirty="0">
                <a:solidFill>
                  <a:schemeClr val="lt1"/>
                </a:solidFill>
                <a:latin typeface="Calibri"/>
                <a:ea typeface="Calibri"/>
                <a:cs typeface="Calibri"/>
                <a:sym typeface="Calibri"/>
              </a:rPr>
              <a:t> one iteration)</a:t>
            </a:r>
            <a:endParaRPr sz="2400" dirty="0">
              <a:solidFill>
                <a:schemeClr val="lt1"/>
              </a:solidFill>
              <a:latin typeface="Calibri"/>
              <a:ea typeface="Calibri"/>
              <a:cs typeface="Calibri"/>
              <a:sym typeface="Calibri"/>
            </a:endParaRPr>
          </a:p>
        </p:txBody>
      </p:sp>
      <p:pic>
        <p:nvPicPr>
          <p:cNvPr id="402" name="Google Shape;402;p40" descr="https://miro.medium.com/v2/resize:fit:399/1*EUUQDZQktwUPkdCZaFicSQ.png"/>
          <p:cNvPicPr preferRelativeResize="0"/>
          <p:nvPr/>
        </p:nvPicPr>
        <p:blipFill rotWithShape="1">
          <a:blip r:embed="rId3">
            <a:alphaModFix/>
          </a:blip>
          <a:srcRect/>
          <a:stretch/>
        </p:blipFill>
        <p:spPr>
          <a:xfrm>
            <a:off x="2578434" y="4334330"/>
            <a:ext cx="3038475" cy="1266826"/>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cxnSp>
        <p:nvCxnSpPr>
          <p:cNvPr id="407" name="Google Shape;407;p41"/>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408" name="Google Shape;408;p41"/>
          <p:cNvSpPr txBox="1"/>
          <p:nvPr/>
        </p:nvSpPr>
        <p:spPr>
          <a:xfrm>
            <a:off x="546756" y="7545"/>
            <a:ext cx="10890417"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to Determine the Optimal K for K-Means?</a:t>
            </a:r>
            <a:endParaRPr/>
          </a:p>
        </p:txBody>
      </p:sp>
      <p:sp>
        <p:nvSpPr>
          <p:cNvPr id="409" name="Google Shape;409;p4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pic>
        <p:nvPicPr>
          <p:cNvPr id="410" name="Google Shape;410;p41"/>
          <p:cNvPicPr preferRelativeResize="0"/>
          <p:nvPr/>
        </p:nvPicPr>
        <p:blipFill rotWithShape="1">
          <a:blip r:embed="rId3">
            <a:alphaModFix/>
          </a:blip>
          <a:srcRect/>
          <a:stretch/>
        </p:blipFill>
        <p:spPr>
          <a:xfrm>
            <a:off x="714356" y="1066903"/>
            <a:ext cx="11102456" cy="3366551"/>
          </a:xfrm>
          <a:prstGeom prst="rect">
            <a:avLst/>
          </a:prstGeom>
          <a:noFill/>
          <a:ln>
            <a:noFill/>
          </a:ln>
        </p:spPr>
      </p:pic>
      <p:pic>
        <p:nvPicPr>
          <p:cNvPr id="411" name="Google Shape;411;p41"/>
          <p:cNvPicPr preferRelativeResize="0"/>
          <p:nvPr/>
        </p:nvPicPr>
        <p:blipFill rotWithShape="1">
          <a:blip r:embed="rId4">
            <a:alphaModFix/>
          </a:blip>
          <a:srcRect/>
          <a:stretch/>
        </p:blipFill>
        <p:spPr>
          <a:xfrm>
            <a:off x="714356" y="4433453"/>
            <a:ext cx="5815447" cy="1487055"/>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2"/>
          <p:cNvSpPr txBox="1"/>
          <p:nvPr/>
        </p:nvSpPr>
        <p:spPr>
          <a:xfrm>
            <a:off x="3580102" y="2882630"/>
            <a:ext cx="5315814"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dirty="0">
                <a:solidFill>
                  <a:schemeClr val="lt1"/>
                </a:solidFill>
                <a:latin typeface="Calibri"/>
                <a:ea typeface="Calibri"/>
                <a:cs typeface="Calibri"/>
                <a:sym typeface="Calibri"/>
              </a:rPr>
              <a:t>Hierarchical Clustering</a:t>
            </a:r>
            <a:endParaRPr sz="4400" dirty="0">
              <a:solidFill>
                <a:schemeClr val="lt1"/>
              </a:solidFill>
              <a:latin typeface="Calibri"/>
              <a:ea typeface="Calibri"/>
              <a:cs typeface="Calibri"/>
              <a:sym typeface="Calibri"/>
            </a:endParaRPr>
          </a:p>
        </p:txBody>
      </p:sp>
      <p:sp>
        <p:nvSpPr>
          <p:cNvPr id="417" name="Google Shape;417;p4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cxnSp>
        <p:nvCxnSpPr>
          <p:cNvPr id="422" name="Google Shape;422;p43"/>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423" name="Google Shape;423;p43"/>
          <p:cNvSpPr txBox="1"/>
          <p:nvPr/>
        </p:nvSpPr>
        <p:spPr>
          <a:xfrm>
            <a:off x="546756" y="7545"/>
            <a:ext cx="10890417" cy="769441"/>
          </a:xfrm>
          <a:prstGeom prst="rect">
            <a:avLst/>
          </a:prstGeom>
          <a:noFill/>
          <a:ln>
            <a:noFill/>
          </a:ln>
        </p:spPr>
        <p:txBody>
          <a:bodyPr spcFirstLastPara="1" wrap="square" lIns="91425" tIns="45700" rIns="91425" bIns="45700" anchor="t" anchorCtr="0">
            <a:spAutoFit/>
          </a:bodyPr>
          <a:lstStyle/>
          <a:p>
            <a:pPr lvl="0"/>
            <a:r>
              <a:rPr lang="en-US" sz="4400" dirty="0">
                <a:solidFill>
                  <a:schemeClr val="lt1"/>
                </a:solidFill>
                <a:latin typeface="Calibri"/>
                <a:ea typeface="Calibri"/>
                <a:cs typeface="Calibri"/>
                <a:sym typeface="Calibri"/>
              </a:rPr>
              <a:t>Hierarchical Clustering</a:t>
            </a:r>
          </a:p>
        </p:txBody>
      </p:sp>
      <p:sp>
        <p:nvSpPr>
          <p:cNvPr id="424" name="Google Shape;424;p4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25" name="Google Shape;425;p43"/>
          <p:cNvSpPr/>
          <p:nvPr/>
        </p:nvSpPr>
        <p:spPr>
          <a:xfrm>
            <a:off x="546755" y="902872"/>
            <a:ext cx="11261313" cy="30469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dirty="0">
                <a:solidFill>
                  <a:schemeClr val="lt1"/>
                </a:solidFill>
                <a:latin typeface="Calibri"/>
                <a:ea typeface="Calibri"/>
                <a:cs typeface="Calibri"/>
                <a:sym typeface="Calibri"/>
              </a:rPr>
              <a:t>Hierarchical clustering is a </a:t>
            </a:r>
            <a:r>
              <a:rPr lang="en-US" sz="2400" b="1" u="sng" dirty="0">
                <a:solidFill>
                  <a:srgbClr val="FFC000"/>
                </a:solidFill>
                <a:latin typeface="Calibri"/>
                <a:ea typeface="Calibri"/>
                <a:cs typeface="Calibri"/>
                <a:sym typeface="Calibri"/>
              </a:rPr>
              <a:t>connectivity-based clustering </a:t>
            </a:r>
            <a:r>
              <a:rPr lang="en-US" sz="2400" dirty="0">
                <a:solidFill>
                  <a:schemeClr val="lt1"/>
                </a:solidFill>
                <a:latin typeface="Calibri"/>
                <a:ea typeface="Calibri"/>
                <a:cs typeface="Calibri"/>
                <a:sym typeface="Calibri"/>
              </a:rPr>
              <a:t>model that groups the data points together that are close to each other based on the measure of similarity or distance</a:t>
            </a:r>
            <a:endParaRPr dirty="0"/>
          </a:p>
          <a:p>
            <a:pPr marL="0" marR="0" lvl="0" indent="0" algn="just" rtl="0">
              <a:spcBef>
                <a:spcPts val="0"/>
              </a:spcBef>
              <a:spcAft>
                <a:spcPts val="0"/>
              </a:spcAft>
              <a:buNone/>
            </a:pPr>
            <a:endParaRPr sz="2400" dirty="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dirty="0">
                <a:solidFill>
                  <a:schemeClr val="lt1"/>
                </a:solidFill>
                <a:latin typeface="Calibri"/>
                <a:ea typeface="Calibri"/>
                <a:cs typeface="Calibri"/>
                <a:sym typeface="Calibri"/>
              </a:rPr>
              <a:t>Types of Hierarchical Clustering </a:t>
            </a:r>
            <a:endParaRPr dirty="0"/>
          </a:p>
          <a:p>
            <a:pPr marL="914400" marR="0" lvl="1" indent="-457200" algn="just" rtl="0">
              <a:spcBef>
                <a:spcPts val="0"/>
              </a:spcBef>
              <a:spcAft>
                <a:spcPts val="0"/>
              </a:spcAft>
              <a:buClr>
                <a:schemeClr val="lt1"/>
              </a:buClr>
              <a:buSzPts val="2400"/>
              <a:buFont typeface="Calibri"/>
              <a:buAutoNum type="arabicPeriod"/>
            </a:pPr>
            <a:r>
              <a:rPr lang="en-US" sz="2400" b="0" i="0" u="none" strike="noStrike" cap="none" dirty="0">
                <a:solidFill>
                  <a:schemeClr val="lt1"/>
                </a:solidFill>
                <a:latin typeface="Calibri"/>
                <a:ea typeface="Calibri"/>
                <a:cs typeface="Calibri"/>
                <a:sym typeface="Calibri"/>
              </a:rPr>
              <a:t>Agglomerative Clustering</a:t>
            </a:r>
            <a:endParaRPr dirty="0"/>
          </a:p>
          <a:p>
            <a:pPr marL="914400" marR="0" lvl="1" indent="-457200" algn="just" rtl="0">
              <a:spcBef>
                <a:spcPts val="0"/>
              </a:spcBef>
              <a:spcAft>
                <a:spcPts val="0"/>
              </a:spcAft>
              <a:buClr>
                <a:schemeClr val="lt1"/>
              </a:buClr>
              <a:buSzPts val="2400"/>
              <a:buFont typeface="Calibri"/>
              <a:buAutoNum type="arabicPeriod"/>
            </a:pPr>
            <a:r>
              <a:rPr lang="en-US" sz="2400" b="0" i="0" u="none" strike="noStrike" cap="none" dirty="0">
                <a:solidFill>
                  <a:schemeClr val="lt1"/>
                </a:solidFill>
                <a:latin typeface="Calibri"/>
                <a:ea typeface="Calibri"/>
                <a:cs typeface="Calibri"/>
                <a:sym typeface="Calibri"/>
              </a:rPr>
              <a:t>Divisive clustering</a:t>
            </a:r>
            <a:endParaRPr dirty="0"/>
          </a:p>
          <a:p>
            <a:pPr marL="0" marR="0" lvl="0" indent="0" algn="just" rtl="0">
              <a:spcBef>
                <a:spcPts val="0"/>
              </a:spcBef>
              <a:spcAft>
                <a:spcPts val="0"/>
              </a:spcAft>
              <a:buNone/>
            </a:pPr>
            <a:endParaRPr sz="2400" dirty="0">
              <a:solidFill>
                <a:schemeClr val="lt1"/>
              </a:solidFill>
              <a:latin typeface="Calibri"/>
              <a:ea typeface="Calibri"/>
              <a:cs typeface="Calibri"/>
              <a:sym typeface="Calibri"/>
            </a:endParaRPr>
          </a:p>
        </p:txBody>
      </p:sp>
      <p:sp>
        <p:nvSpPr>
          <p:cNvPr id="426" name="Google Shape;426;p43"/>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cxnSp>
        <p:nvCxnSpPr>
          <p:cNvPr id="431" name="Google Shape;431;p44"/>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432" name="Google Shape;432;p44"/>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433" name="Google Shape;433;p4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34" name="Google Shape;434;p44"/>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35" name="Google Shape;435;p44" descr="Lightbox"/>
          <p:cNvPicPr preferRelativeResize="0"/>
          <p:nvPr/>
        </p:nvPicPr>
        <p:blipFill rotWithShape="1">
          <a:blip r:embed="rId3">
            <a:alphaModFix/>
          </a:blip>
          <a:srcRect/>
          <a:stretch/>
        </p:blipFill>
        <p:spPr>
          <a:xfrm>
            <a:off x="2567354" y="3244334"/>
            <a:ext cx="5770928" cy="3527425"/>
          </a:xfrm>
          <a:prstGeom prst="rect">
            <a:avLst/>
          </a:prstGeom>
          <a:noFill/>
          <a:ln>
            <a:noFill/>
          </a:ln>
        </p:spPr>
      </p:pic>
      <p:sp>
        <p:nvSpPr>
          <p:cNvPr id="436" name="Google Shape;436;p44"/>
          <p:cNvSpPr/>
          <p:nvPr/>
        </p:nvSpPr>
        <p:spPr>
          <a:xfrm>
            <a:off x="259077" y="757178"/>
            <a:ext cx="11645708" cy="23083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a:solidFill>
                  <a:schemeClr val="lt1"/>
                </a:solidFill>
                <a:latin typeface="Calibri"/>
                <a:ea typeface="Calibri"/>
                <a:cs typeface="Calibri"/>
                <a:sym typeface="Calibri"/>
              </a:rPr>
              <a:t>To group the datasets into clusters, it follows the bottom-up approach. It means, this algorithm considers each datapoint as a single cluster at the beginning, and then start combining the closest pair of clusters together. It does this until all the clusters are merged into a single cluster that contains all the datasets.</a:t>
            </a:r>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cxnSp>
        <p:nvCxnSpPr>
          <p:cNvPr id="441" name="Google Shape;441;p45"/>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442" name="Google Shape;442;p45"/>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443" name="Google Shape;443;p45"/>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44" name="Google Shape;444;p45"/>
          <p:cNvSpPr/>
          <p:nvPr/>
        </p:nvSpPr>
        <p:spPr>
          <a:xfrm>
            <a:off x="98699" y="632868"/>
            <a:ext cx="11937970" cy="63709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lt1"/>
                </a:solidFill>
                <a:latin typeface="Calibri"/>
                <a:ea typeface="Calibri"/>
                <a:cs typeface="Calibri"/>
                <a:sym typeface="Calibri"/>
              </a:rPr>
              <a:t>The process of Agglomerative nesting typically follows these steps:</a:t>
            </a:r>
            <a:endParaRPr/>
          </a:p>
          <a:p>
            <a:pPr marL="0" marR="0" lvl="0" indent="0" algn="just" rtl="0">
              <a:spcBef>
                <a:spcPts val="0"/>
              </a:spcBef>
              <a:spcAft>
                <a:spcPts val="0"/>
              </a:spcAft>
              <a:buNone/>
            </a:pPr>
            <a:endParaRPr sz="2400">
              <a:solidFill>
                <a:srgbClr val="FFC000"/>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Initialization: </a:t>
            </a:r>
            <a:r>
              <a:rPr lang="en-US" sz="2400">
                <a:solidFill>
                  <a:schemeClr val="lt1"/>
                </a:solidFill>
                <a:latin typeface="Calibri"/>
                <a:ea typeface="Calibri"/>
                <a:cs typeface="Calibri"/>
                <a:sym typeface="Calibri"/>
              </a:rPr>
              <a:t>Start with each data point as its own cluster, treating them as singleton clusters.</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Pairwise Distance Calculation: </a:t>
            </a:r>
            <a:r>
              <a:rPr lang="en-US" sz="2400">
                <a:solidFill>
                  <a:schemeClr val="lt1"/>
                </a:solidFill>
                <a:latin typeface="Calibri"/>
                <a:ea typeface="Calibri"/>
                <a:cs typeface="Calibri"/>
                <a:sym typeface="Calibri"/>
              </a:rPr>
              <a:t>Calculate the pairwise distance between all clusters or data points. The choice of distance metric (e.g., Euclidean distance, Manhattan distance) and linkage criterion (e.g., single-linkage, complete-linkage, average-linkage) determines how the distance between clusters is computed.</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Merge Closest Clusters: </a:t>
            </a:r>
            <a:r>
              <a:rPr lang="en-US" sz="2400">
                <a:solidFill>
                  <a:schemeClr val="lt1"/>
                </a:solidFill>
                <a:latin typeface="Calibri"/>
                <a:ea typeface="Calibri"/>
                <a:cs typeface="Calibri"/>
                <a:sym typeface="Calibri"/>
              </a:rPr>
              <a:t>Identify the two closest clusters based on the distance metric and linkage criterion. Merge these two clusters into a single new cluster.</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Update the Hierarchy: </a:t>
            </a:r>
            <a:r>
              <a:rPr lang="en-US" sz="2400">
                <a:solidFill>
                  <a:schemeClr val="lt1"/>
                </a:solidFill>
                <a:latin typeface="Calibri"/>
                <a:ea typeface="Calibri"/>
                <a:cs typeface="Calibri"/>
                <a:sym typeface="Calibri"/>
              </a:rPr>
              <a:t>Add the newly formed cluster to the hierarchy, indicating that it was created by merging its constituent clusters.</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Repeat: </a:t>
            </a:r>
            <a:r>
              <a:rPr lang="en-US" sz="2400">
                <a:solidFill>
                  <a:schemeClr val="lt1"/>
                </a:solidFill>
                <a:latin typeface="Calibri"/>
                <a:ea typeface="Calibri"/>
                <a:cs typeface="Calibri"/>
                <a:sym typeface="Calibri"/>
              </a:rPr>
              <a:t>Repeat steps 2-4 iteratively until there is only one cluster left, which becomes the root of the hierarchy.</a:t>
            </a:r>
            <a:endParaRPr/>
          </a:p>
        </p:txBody>
      </p:sp>
      <p:sp>
        <p:nvSpPr>
          <p:cNvPr id="445" name="Google Shape;445;p45"/>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cxnSp>
        <p:nvCxnSpPr>
          <p:cNvPr id="450" name="Google Shape;450;p46"/>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451" name="Google Shape;451;p46"/>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452" name="Google Shape;452;p46"/>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53" name="Google Shape;453;p46"/>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4" name="Google Shape;454;p46"/>
          <p:cNvPicPr preferRelativeResize="0"/>
          <p:nvPr/>
        </p:nvPicPr>
        <p:blipFill rotWithShape="1">
          <a:blip r:embed="rId3">
            <a:alphaModFix/>
          </a:blip>
          <a:srcRect/>
          <a:stretch/>
        </p:blipFill>
        <p:spPr>
          <a:xfrm>
            <a:off x="124329" y="2332028"/>
            <a:ext cx="3337849" cy="2758679"/>
          </a:xfrm>
          <a:prstGeom prst="rect">
            <a:avLst/>
          </a:prstGeom>
          <a:noFill/>
          <a:ln>
            <a:noFill/>
          </a:ln>
        </p:spPr>
      </p:pic>
      <p:pic>
        <p:nvPicPr>
          <p:cNvPr id="455" name="Google Shape;455;p46"/>
          <p:cNvPicPr preferRelativeResize="0"/>
          <p:nvPr/>
        </p:nvPicPr>
        <p:blipFill rotWithShape="1">
          <a:blip r:embed="rId4">
            <a:alphaModFix/>
          </a:blip>
          <a:srcRect/>
          <a:stretch/>
        </p:blipFill>
        <p:spPr>
          <a:xfrm>
            <a:off x="4093783" y="2323425"/>
            <a:ext cx="3589331" cy="2872989"/>
          </a:xfrm>
          <a:prstGeom prst="rect">
            <a:avLst/>
          </a:prstGeom>
          <a:noFill/>
          <a:ln>
            <a:noFill/>
          </a:ln>
        </p:spPr>
      </p:pic>
      <p:pic>
        <p:nvPicPr>
          <p:cNvPr id="456" name="Google Shape;456;p46"/>
          <p:cNvPicPr preferRelativeResize="0"/>
          <p:nvPr/>
        </p:nvPicPr>
        <p:blipFill rotWithShape="1">
          <a:blip r:embed="rId5">
            <a:alphaModFix/>
          </a:blip>
          <a:srcRect/>
          <a:stretch/>
        </p:blipFill>
        <p:spPr>
          <a:xfrm>
            <a:off x="8314719" y="2332028"/>
            <a:ext cx="3596952" cy="2872989"/>
          </a:xfrm>
          <a:prstGeom prst="rect">
            <a:avLst/>
          </a:prstGeom>
          <a:noFill/>
          <a:ln>
            <a:noFill/>
          </a:ln>
        </p:spPr>
      </p:pic>
      <p:sp>
        <p:nvSpPr>
          <p:cNvPr id="457" name="Google Shape;457;p46"/>
          <p:cNvSpPr txBox="1"/>
          <p:nvPr/>
        </p:nvSpPr>
        <p:spPr>
          <a:xfrm>
            <a:off x="777957" y="5173722"/>
            <a:ext cx="15012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Single Linkage</a:t>
            </a:r>
            <a:endParaRPr sz="1800">
              <a:solidFill>
                <a:schemeClr val="lt1"/>
              </a:solidFill>
              <a:latin typeface="Calibri"/>
              <a:ea typeface="Calibri"/>
              <a:cs typeface="Calibri"/>
              <a:sym typeface="Calibri"/>
            </a:endParaRPr>
          </a:p>
        </p:txBody>
      </p:sp>
      <p:sp>
        <p:nvSpPr>
          <p:cNvPr id="458" name="Google Shape;458;p46"/>
          <p:cNvSpPr txBox="1"/>
          <p:nvPr/>
        </p:nvSpPr>
        <p:spPr>
          <a:xfrm>
            <a:off x="4881942" y="5255559"/>
            <a:ext cx="17590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Complex Linkage</a:t>
            </a:r>
            <a:endParaRPr sz="1800">
              <a:solidFill>
                <a:schemeClr val="lt1"/>
              </a:solidFill>
              <a:latin typeface="Calibri"/>
              <a:ea typeface="Calibri"/>
              <a:cs typeface="Calibri"/>
              <a:sym typeface="Calibri"/>
            </a:endParaRPr>
          </a:p>
        </p:txBody>
      </p:sp>
      <p:sp>
        <p:nvSpPr>
          <p:cNvPr id="459" name="Google Shape;459;p46"/>
          <p:cNvSpPr txBox="1"/>
          <p:nvPr/>
        </p:nvSpPr>
        <p:spPr>
          <a:xfrm>
            <a:off x="9243753" y="5255559"/>
            <a:ext cx="175189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Centroid Linkage</a:t>
            </a:r>
            <a:endParaRPr sz="1800">
              <a:solidFill>
                <a:schemeClr val="lt1"/>
              </a:solidFill>
              <a:latin typeface="Calibri"/>
              <a:ea typeface="Calibri"/>
              <a:cs typeface="Calibri"/>
              <a:sym typeface="Calibri"/>
            </a:endParaRPr>
          </a:p>
        </p:txBody>
      </p:sp>
      <p:sp>
        <p:nvSpPr>
          <p:cNvPr id="460" name="Google Shape;460;p46"/>
          <p:cNvSpPr/>
          <p:nvPr/>
        </p:nvSpPr>
        <p:spPr>
          <a:xfrm>
            <a:off x="190499" y="818490"/>
            <a:ext cx="1014925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Agglomerative clustering linkage algorithm (Cluster Distance Measure)</a:t>
            </a:r>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cxnSp>
        <p:nvCxnSpPr>
          <p:cNvPr id="465" name="Google Shape;465;p47"/>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466" name="Google Shape;466;p47"/>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467" name="Google Shape;467;p47"/>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68" name="Google Shape;468;p47"/>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47"/>
          <p:cNvSpPr/>
          <p:nvPr/>
        </p:nvSpPr>
        <p:spPr>
          <a:xfrm>
            <a:off x="190499" y="818490"/>
            <a:ext cx="1014925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Agglomerative clustering linkage algorithm (Cluster Distance Measure)</a:t>
            </a:r>
            <a:endParaRPr/>
          </a:p>
        </p:txBody>
      </p:sp>
      <p:pic>
        <p:nvPicPr>
          <p:cNvPr id="470" name="Google Shape;470;p47" descr="https://media.geeksforgeeks.org/wp-content/uploads/20190718124307/average1.png"/>
          <p:cNvPicPr preferRelativeResize="0"/>
          <p:nvPr/>
        </p:nvPicPr>
        <p:blipFill rotWithShape="1">
          <a:blip r:embed="rId3">
            <a:alphaModFix/>
          </a:blip>
          <a:srcRect/>
          <a:stretch/>
        </p:blipFill>
        <p:spPr>
          <a:xfrm>
            <a:off x="259077" y="1510988"/>
            <a:ext cx="3681348" cy="2334356"/>
          </a:xfrm>
          <a:prstGeom prst="rect">
            <a:avLst/>
          </a:prstGeom>
          <a:noFill/>
          <a:ln>
            <a:noFill/>
          </a:ln>
        </p:spPr>
      </p:pic>
      <p:sp>
        <p:nvSpPr>
          <p:cNvPr id="471" name="Google Shape;471;p47"/>
          <p:cNvSpPr txBox="1"/>
          <p:nvPr/>
        </p:nvSpPr>
        <p:spPr>
          <a:xfrm>
            <a:off x="860927" y="4066364"/>
            <a:ext cx="16980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Average Linkage</a:t>
            </a:r>
            <a:endParaRPr sz="1800">
              <a:solidFill>
                <a:schemeClr val="lt1"/>
              </a:solidFill>
              <a:latin typeface="Calibri"/>
              <a:ea typeface="Calibri"/>
              <a:cs typeface="Calibri"/>
              <a:sym typeface="Calibri"/>
            </a:endParaRPr>
          </a:p>
        </p:txBody>
      </p:sp>
      <p:sp>
        <p:nvSpPr>
          <p:cNvPr id="472" name="Google Shape;472;p47"/>
          <p:cNvSpPr txBox="1"/>
          <p:nvPr/>
        </p:nvSpPr>
        <p:spPr>
          <a:xfrm>
            <a:off x="7414659" y="5099234"/>
            <a:ext cx="15833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Ward’s Linkage</a:t>
            </a:r>
            <a:endParaRPr sz="1800">
              <a:solidFill>
                <a:schemeClr val="lt1"/>
              </a:solidFill>
              <a:latin typeface="Calibri"/>
              <a:ea typeface="Calibri"/>
              <a:cs typeface="Calibri"/>
              <a:sym typeface="Calibri"/>
            </a:endParaRPr>
          </a:p>
        </p:txBody>
      </p:sp>
      <p:sp>
        <p:nvSpPr>
          <p:cNvPr id="473" name="Google Shape;473;p47"/>
          <p:cNvSpPr/>
          <p:nvPr/>
        </p:nvSpPr>
        <p:spPr>
          <a:xfrm>
            <a:off x="2099751" y="5615995"/>
            <a:ext cx="719499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lt1"/>
                </a:solidFill>
                <a:latin typeface="Calibri"/>
                <a:ea typeface="Calibri"/>
                <a:cs typeface="Calibri"/>
                <a:sym typeface="Calibri"/>
              </a:rPr>
              <a:t>Ward's method aims to minimize the variance within each cluster when merging two clusters, making it a variance minimization approach.</a:t>
            </a:r>
            <a:endParaRPr dirty="0"/>
          </a:p>
        </p:txBody>
      </p:sp>
      <p:pic>
        <p:nvPicPr>
          <p:cNvPr id="474" name="Google Shape;474;p47" descr="img"/>
          <p:cNvPicPr preferRelativeResize="0"/>
          <p:nvPr/>
        </p:nvPicPr>
        <p:blipFill rotWithShape="1">
          <a:blip r:embed="rId4">
            <a:alphaModFix/>
          </a:blip>
          <a:srcRect/>
          <a:stretch/>
        </p:blipFill>
        <p:spPr>
          <a:xfrm>
            <a:off x="4604405" y="1373667"/>
            <a:ext cx="6799980" cy="3701858"/>
          </a:xfrm>
          <a:prstGeom prst="rect">
            <a:avLst/>
          </a:prstGeom>
          <a:noFill/>
          <a:ln>
            <a:noFill/>
          </a:ln>
        </p:spPr>
      </p:pic>
      <p:sp>
        <p:nvSpPr>
          <p:cNvPr id="475" name="Google Shape;475;p47"/>
          <p:cNvSpPr/>
          <p:nvPr/>
        </p:nvSpPr>
        <p:spPr>
          <a:xfrm>
            <a:off x="5403272" y="6550223"/>
            <a:ext cx="6788728"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u="sng">
                <a:solidFill>
                  <a:schemeClr val="lt1"/>
                </a:solidFill>
                <a:latin typeface="Calibri"/>
                <a:ea typeface="Calibri"/>
                <a:cs typeface="Calibri"/>
                <a:sym typeface="Calibri"/>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Definitive Guide to Hierarchical Clustering with Python and Scikit-Learn (stackabuse.com)</a:t>
            </a:r>
            <a:endParaRPr sz="14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cxnSp>
        <p:nvCxnSpPr>
          <p:cNvPr id="480" name="Google Shape;480;p48"/>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481" name="Google Shape;481;p48"/>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482" name="Google Shape;482;p48"/>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83" name="Google Shape;483;p48"/>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84" name="Google Shape;484;p48" descr="example points | single-link Hierarchical clustering"/>
          <p:cNvPicPr preferRelativeResize="0"/>
          <p:nvPr/>
        </p:nvPicPr>
        <p:blipFill rotWithShape="1">
          <a:blip r:embed="rId3">
            <a:alphaModFix/>
          </a:blip>
          <a:srcRect/>
          <a:stretch/>
        </p:blipFill>
        <p:spPr>
          <a:xfrm>
            <a:off x="917017" y="1510988"/>
            <a:ext cx="2514600" cy="3543300"/>
          </a:xfrm>
          <a:prstGeom prst="rect">
            <a:avLst/>
          </a:prstGeom>
          <a:noFill/>
          <a:ln>
            <a:noFill/>
          </a:ln>
        </p:spPr>
      </p:pic>
      <p:pic>
        <p:nvPicPr>
          <p:cNvPr id="485" name="Google Shape;485;p48" descr="scatter plot x Y | single-link Hierarchical clustering"/>
          <p:cNvPicPr preferRelativeResize="0"/>
          <p:nvPr/>
        </p:nvPicPr>
        <p:blipFill rotWithShape="1">
          <a:blip r:embed="rId4">
            <a:alphaModFix/>
          </a:blip>
          <a:srcRect/>
          <a:stretch/>
        </p:blipFill>
        <p:spPr>
          <a:xfrm>
            <a:off x="5721105" y="1510988"/>
            <a:ext cx="5190148" cy="3543300"/>
          </a:xfrm>
          <a:prstGeom prst="rect">
            <a:avLst/>
          </a:prstGeom>
          <a:noFill/>
          <a:ln>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cxnSp>
        <p:nvCxnSpPr>
          <p:cNvPr id="490" name="Google Shape;490;p49"/>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491" name="Google Shape;491;p49"/>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492" name="Google Shape;492;p49"/>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493" name="Google Shape;493;p49"/>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4" name="Google Shape;494;p49"/>
          <p:cNvSpPr/>
          <p:nvPr/>
        </p:nvSpPr>
        <p:spPr>
          <a:xfrm>
            <a:off x="123886" y="933317"/>
            <a:ext cx="57977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Step2: Calculating the distance matrix in Euclidean method</a:t>
            </a:r>
            <a:endParaRPr/>
          </a:p>
        </p:txBody>
      </p:sp>
      <p:pic>
        <p:nvPicPr>
          <p:cNvPr id="495" name="Google Shape;495;p49" descr="points"/>
          <p:cNvPicPr preferRelativeResize="0"/>
          <p:nvPr/>
        </p:nvPicPr>
        <p:blipFill rotWithShape="1">
          <a:blip r:embed="rId3">
            <a:alphaModFix/>
          </a:blip>
          <a:srcRect/>
          <a:stretch/>
        </p:blipFill>
        <p:spPr>
          <a:xfrm>
            <a:off x="268602" y="1302649"/>
            <a:ext cx="5695950" cy="2133601"/>
          </a:xfrm>
          <a:prstGeom prst="rect">
            <a:avLst/>
          </a:prstGeom>
          <a:noFill/>
          <a:ln>
            <a:noFill/>
          </a:ln>
        </p:spPr>
      </p:pic>
      <p:sp>
        <p:nvSpPr>
          <p:cNvPr id="496" name="Google Shape;496;p49"/>
          <p:cNvSpPr/>
          <p:nvPr/>
        </p:nvSpPr>
        <p:spPr>
          <a:xfrm>
            <a:off x="123886" y="3510824"/>
            <a:ext cx="82958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 3: Look for the least distance and merge those into a cluster</a:t>
            </a:r>
            <a:endParaRPr/>
          </a:p>
        </p:txBody>
      </p:sp>
      <p:pic>
        <p:nvPicPr>
          <p:cNvPr id="497" name="Google Shape;497;p49" descr="look for least distance | single-link Hierarchical clustering"/>
          <p:cNvPicPr preferRelativeResize="0"/>
          <p:nvPr/>
        </p:nvPicPr>
        <p:blipFill rotWithShape="1">
          <a:blip r:embed="rId4">
            <a:alphaModFix/>
          </a:blip>
          <a:srcRect/>
          <a:stretch/>
        </p:blipFill>
        <p:spPr>
          <a:xfrm>
            <a:off x="235202" y="3942937"/>
            <a:ext cx="5686425" cy="2124075"/>
          </a:xfrm>
          <a:prstGeom prst="rect">
            <a:avLst/>
          </a:prstGeom>
          <a:noFill/>
          <a:ln>
            <a:noFill/>
          </a:ln>
        </p:spPr>
      </p:pic>
      <p:sp>
        <p:nvSpPr>
          <p:cNvPr id="498" name="Google Shape;498;p49"/>
          <p:cNvSpPr/>
          <p:nvPr/>
        </p:nvSpPr>
        <p:spPr>
          <a:xfrm>
            <a:off x="6424970" y="933317"/>
            <a:ext cx="547981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 4: Re-compute the distance matrix after forming a cluster</a:t>
            </a:r>
            <a:endParaRPr/>
          </a:p>
        </p:txBody>
      </p:sp>
      <p:sp>
        <p:nvSpPr>
          <p:cNvPr id="499" name="Google Shape;499;p49"/>
          <p:cNvSpPr/>
          <p:nvPr/>
        </p:nvSpPr>
        <p:spPr>
          <a:xfrm>
            <a:off x="6547352" y="1661472"/>
            <a:ext cx="6096000"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Update the distance between the cluster </a:t>
            </a:r>
            <a:r>
              <a:rPr lang="en-US" sz="1800" u="sng">
                <a:solidFill>
                  <a:schemeClr val="lt1"/>
                </a:solidFill>
                <a:latin typeface="Calibri"/>
                <a:ea typeface="Calibri"/>
                <a:cs typeface="Calibri"/>
                <a:sym typeface="Calibri"/>
              </a:rPr>
              <a:t>(P3,P4) to P1</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Min(dist(P3,P4), P1)) -&gt; Min(dist(P3,P1),dist(P4,P1))</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Min(0.59304, 0.46098)</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0.46098</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Update the distance between the cluster</a:t>
            </a:r>
            <a:r>
              <a:rPr lang="en-US" sz="1800" u="sng">
                <a:solidFill>
                  <a:schemeClr val="lt1"/>
                </a:solidFill>
                <a:latin typeface="Calibri"/>
                <a:ea typeface="Calibri"/>
                <a:cs typeface="Calibri"/>
                <a:sym typeface="Calibri"/>
              </a:rPr>
              <a:t> (P3,P4) to P2</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Min(dist(P3,P4), P2) -&gt; Min(dist(P3,P2),dist(P4,P2))</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Min(0.77369, 0.61612)</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0.61612</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Update the distance between the cluster </a:t>
            </a:r>
            <a:r>
              <a:rPr lang="en-US" sz="1800" u="sng">
                <a:solidFill>
                  <a:schemeClr val="lt1"/>
                </a:solidFill>
                <a:latin typeface="Calibri"/>
                <a:ea typeface="Calibri"/>
                <a:cs typeface="Calibri"/>
                <a:sym typeface="Calibri"/>
              </a:rPr>
              <a:t>(P3,P4) to P5</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Min(dist(P3,P4), P5) -&gt; Min(dist(P3,P5),dist(P4,P5))</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Min(0.45222, 0.35847)</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0.35847</a:t>
            </a:r>
            <a:endParaRPr/>
          </a:p>
        </p:txBody>
      </p:sp>
      <p:sp>
        <p:nvSpPr>
          <p:cNvPr id="500" name="Google Shape;500;p49"/>
          <p:cNvSpPr/>
          <p:nvPr/>
        </p:nvSpPr>
        <p:spPr>
          <a:xfrm>
            <a:off x="159952" y="6129793"/>
            <a:ext cx="6096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We see the points P3, P4 has the least distance “0.30232”. So we will first merge those into a cluster.</a:t>
            </a:r>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cxnSp>
        <p:nvCxnSpPr>
          <p:cNvPr id="505" name="Google Shape;505;p50"/>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506" name="Google Shape;506;p50"/>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507" name="Google Shape;507;p50"/>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08" name="Google Shape;508;p50"/>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9" name="Google Shape;509;p50"/>
          <p:cNvSpPr/>
          <p:nvPr/>
        </p:nvSpPr>
        <p:spPr>
          <a:xfrm>
            <a:off x="123886" y="933317"/>
            <a:ext cx="72686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Step4</a:t>
            </a:r>
            <a:endParaRPr sz="1800" b="1">
              <a:solidFill>
                <a:srgbClr val="FFC000"/>
              </a:solidFill>
              <a:latin typeface="Calibri"/>
              <a:ea typeface="Calibri"/>
              <a:cs typeface="Calibri"/>
              <a:sym typeface="Calibri"/>
            </a:endParaRPr>
          </a:p>
        </p:txBody>
      </p:sp>
      <p:sp>
        <p:nvSpPr>
          <p:cNvPr id="510" name="Google Shape;510;p50"/>
          <p:cNvSpPr/>
          <p:nvPr/>
        </p:nvSpPr>
        <p:spPr>
          <a:xfrm>
            <a:off x="123886" y="4306163"/>
            <a:ext cx="550867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Repeat steps 3,4 until we are left with one single cluster.</a:t>
            </a:r>
            <a:endParaRPr/>
          </a:p>
        </p:txBody>
      </p:sp>
      <p:pic>
        <p:nvPicPr>
          <p:cNvPr id="511" name="Google Shape;511;p50" descr="update distance matrix"/>
          <p:cNvPicPr preferRelativeResize="0"/>
          <p:nvPr/>
        </p:nvPicPr>
        <p:blipFill rotWithShape="1">
          <a:blip r:embed="rId3">
            <a:alphaModFix/>
          </a:blip>
          <a:srcRect/>
          <a:stretch/>
        </p:blipFill>
        <p:spPr>
          <a:xfrm>
            <a:off x="259076" y="1302649"/>
            <a:ext cx="4962525" cy="1819276"/>
          </a:xfrm>
          <a:prstGeom prst="rect">
            <a:avLst/>
          </a:prstGeom>
          <a:noFill/>
          <a:ln>
            <a:noFill/>
          </a:ln>
        </p:spPr>
      </p:pic>
      <p:pic>
        <p:nvPicPr>
          <p:cNvPr id="512" name="Google Shape;512;p50" descr="repeat | single-link Hierarchical clustering"/>
          <p:cNvPicPr preferRelativeResize="0"/>
          <p:nvPr/>
        </p:nvPicPr>
        <p:blipFill rotWithShape="1">
          <a:blip r:embed="rId4">
            <a:alphaModFix/>
          </a:blip>
          <a:srcRect/>
          <a:stretch/>
        </p:blipFill>
        <p:spPr>
          <a:xfrm>
            <a:off x="198242" y="4740568"/>
            <a:ext cx="4962525" cy="1819276"/>
          </a:xfrm>
          <a:prstGeom prst="rect">
            <a:avLst/>
          </a:prstGeom>
          <a:noFill/>
          <a:ln>
            <a:noFill/>
          </a:ln>
        </p:spPr>
      </p:pic>
      <p:sp>
        <p:nvSpPr>
          <p:cNvPr id="513" name="Google Shape;513;p50"/>
          <p:cNvSpPr/>
          <p:nvPr/>
        </p:nvSpPr>
        <p:spPr>
          <a:xfrm>
            <a:off x="6264820" y="602011"/>
            <a:ext cx="6096000"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Update the distance between the cluster </a:t>
            </a:r>
            <a:r>
              <a:rPr lang="en-US" sz="1800" u="sng">
                <a:solidFill>
                  <a:schemeClr val="lt1"/>
                </a:solidFill>
                <a:latin typeface="Calibri"/>
                <a:ea typeface="Calibri"/>
                <a:cs typeface="Calibri"/>
                <a:sym typeface="Calibri"/>
              </a:rPr>
              <a:t>(P2,P5) to P1</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Min(dist((P2,P5),P1)) -&gt; Min(dist(P2,P1), dist(P5, P1))</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Min(1.04139, 0.81841)</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0.81841</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Update the distance between the cluster </a:t>
            </a:r>
            <a:r>
              <a:rPr lang="en-US" sz="1800" u="sng">
                <a:solidFill>
                  <a:schemeClr val="lt1"/>
                </a:solidFill>
                <a:latin typeface="Calibri"/>
                <a:ea typeface="Calibri"/>
                <a:cs typeface="Calibri"/>
                <a:sym typeface="Calibri"/>
              </a:rPr>
              <a:t>(P2,P5) to (P3,P4)</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Min(dist((P2,P5), (P3,P4))) -&gt; = Min(dist(P2,(P3,P4)), dist(P5,(P3,P4)))</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Min(dist(0.61612, 0.35847))</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0.35847</a:t>
            </a:r>
            <a:endParaRPr/>
          </a:p>
        </p:txBody>
      </p:sp>
      <p:pic>
        <p:nvPicPr>
          <p:cNvPr id="514" name="Google Shape;514;p50" descr="update distance matrix again | single-link Hierarchical clustering"/>
          <p:cNvPicPr preferRelativeResize="0"/>
          <p:nvPr/>
        </p:nvPicPr>
        <p:blipFill rotWithShape="1">
          <a:blip r:embed="rId5">
            <a:alphaModFix/>
          </a:blip>
          <a:srcRect/>
          <a:stretch/>
        </p:blipFill>
        <p:spPr>
          <a:xfrm>
            <a:off x="6264820" y="4740568"/>
            <a:ext cx="3933825" cy="1819276"/>
          </a:xfrm>
          <a:prstGeom prst="rect">
            <a:avLst/>
          </a:prstGeom>
          <a:noFill/>
          <a:ln>
            <a:noFill/>
          </a:ln>
        </p:spPr>
      </p:pic>
      <p:sp>
        <p:nvSpPr>
          <p:cNvPr id="515" name="Google Shape;515;p50"/>
          <p:cNvSpPr/>
          <p:nvPr/>
        </p:nvSpPr>
        <p:spPr>
          <a:xfrm>
            <a:off x="198242" y="3104313"/>
            <a:ext cx="502335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We see the points P2, P5 has the least distance “0.32388”. So we will group those into a cluster and re-compute the distance matrix.</a:t>
            </a:r>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cxnSp>
        <p:nvCxnSpPr>
          <p:cNvPr id="520" name="Google Shape;520;p51"/>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521" name="Google Shape;521;p51"/>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522" name="Google Shape;522;p5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23" name="Google Shape;523;p51"/>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51"/>
          <p:cNvSpPr/>
          <p:nvPr/>
        </p:nvSpPr>
        <p:spPr>
          <a:xfrm>
            <a:off x="123886" y="933317"/>
            <a:ext cx="81673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After re-comput the distance matrix, we need to again look for the least distance.</a:t>
            </a:r>
            <a:endParaRPr/>
          </a:p>
        </p:txBody>
      </p:sp>
      <p:pic>
        <p:nvPicPr>
          <p:cNvPr id="525" name="Google Shape;525;p51" descr="https://editor.analyticsvidhya.com/uploads/846491_5rw_O4XuWkNjQf1nxxSyLw.png"/>
          <p:cNvPicPr preferRelativeResize="0"/>
          <p:nvPr/>
        </p:nvPicPr>
        <p:blipFill rotWithShape="1">
          <a:blip r:embed="rId3">
            <a:alphaModFix/>
          </a:blip>
          <a:srcRect/>
          <a:stretch/>
        </p:blipFill>
        <p:spPr>
          <a:xfrm>
            <a:off x="273743" y="1403284"/>
            <a:ext cx="3933825" cy="1409700"/>
          </a:xfrm>
          <a:prstGeom prst="rect">
            <a:avLst/>
          </a:prstGeom>
          <a:noFill/>
          <a:ln>
            <a:noFill/>
          </a:ln>
        </p:spPr>
      </p:pic>
      <p:sp>
        <p:nvSpPr>
          <p:cNvPr id="526" name="Google Shape;526;p51"/>
          <p:cNvSpPr/>
          <p:nvPr/>
        </p:nvSpPr>
        <p:spPr>
          <a:xfrm>
            <a:off x="123886" y="5241104"/>
            <a:ext cx="6082691"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Update the distance between the cluster (P3,P4, P2,P5) to P1</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Min(dist(((P3,P4),(P2,P5)), P1))</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Min(0.46098, 0.81841)</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 0.46098</a:t>
            </a:r>
            <a:endParaRPr/>
          </a:p>
        </p:txBody>
      </p:sp>
      <p:pic>
        <p:nvPicPr>
          <p:cNvPr id="527" name="Google Shape;527;p51" descr="find least distance | single-link Hierarchical clustering"/>
          <p:cNvPicPr preferRelativeResize="0"/>
          <p:nvPr/>
        </p:nvPicPr>
        <p:blipFill rotWithShape="1">
          <a:blip r:embed="rId4">
            <a:alphaModFix/>
          </a:blip>
          <a:srcRect/>
          <a:stretch/>
        </p:blipFill>
        <p:spPr>
          <a:xfrm>
            <a:off x="192780" y="4009962"/>
            <a:ext cx="4095750" cy="1076326"/>
          </a:xfrm>
          <a:prstGeom prst="rect">
            <a:avLst/>
          </a:prstGeom>
          <a:noFill/>
          <a:ln>
            <a:noFill/>
          </a:ln>
        </p:spPr>
      </p:pic>
      <p:sp>
        <p:nvSpPr>
          <p:cNvPr id="528" name="Google Shape;528;p51"/>
          <p:cNvSpPr/>
          <p:nvPr/>
        </p:nvSpPr>
        <p:spPr>
          <a:xfrm>
            <a:off x="5817578" y="1674674"/>
            <a:ext cx="60960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Theoretically, below are the clustering steps:</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P3, P4 points have the least distance and are merged</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P2, P5 points have the least distance and are merged</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clusters (P3, P4), (P2, P5) are clustered</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cluster (P3, P4, P2, P5) is merged with the datapoint P1</a:t>
            </a:r>
            <a:endParaRPr/>
          </a:p>
        </p:txBody>
      </p:sp>
      <p:sp>
        <p:nvSpPr>
          <p:cNvPr id="529" name="Google Shape;529;p51"/>
          <p:cNvSpPr/>
          <p:nvPr/>
        </p:nvSpPr>
        <p:spPr>
          <a:xfrm>
            <a:off x="192780" y="2928962"/>
            <a:ext cx="406023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 cluster (P2,P5) has the least distance with the cluster (P3, P4) “0.35847”. So we will cluster them together.</a:t>
            </a:r>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cxnSp>
        <p:nvCxnSpPr>
          <p:cNvPr id="534" name="Google Shape;534;p52"/>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535" name="Google Shape;535;p52"/>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536" name="Google Shape;536;p5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37" name="Google Shape;537;p52"/>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38" name="Google Shape;538;p52" descr="dendrogram with single-link Hierarchical clustering"/>
          <p:cNvPicPr preferRelativeResize="0"/>
          <p:nvPr/>
        </p:nvPicPr>
        <p:blipFill rotWithShape="1">
          <a:blip r:embed="rId3">
            <a:alphaModFix/>
          </a:blip>
          <a:srcRect/>
          <a:stretch/>
        </p:blipFill>
        <p:spPr>
          <a:xfrm>
            <a:off x="1914036" y="1329894"/>
            <a:ext cx="7871802" cy="4050997"/>
          </a:xfrm>
          <a:prstGeom prst="rect">
            <a:avLst/>
          </a:prstGeom>
          <a:noFill/>
          <a:ln>
            <a:noFill/>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cxnSp>
        <p:nvCxnSpPr>
          <p:cNvPr id="543" name="Google Shape;543;p53"/>
          <p:cNvCxnSpPr/>
          <p:nvPr/>
        </p:nvCxnSpPr>
        <p:spPr>
          <a:xfrm>
            <a:off x="259077" y="660300"/>
            <a:ext cx="11777592" cy="0"/>
          </a:xfrm>
          <a:prstGeom prst="straightConnector1">
            <a:avLst/>
          </a:prstGeom>
          <a:noFill/>
          <a:ln w="9525" cap="flat" cmpd="sng">
            <a:solidFill>
              <a:schemeClr val="lt1"/>
            </a:solidFill>
            <a:prstDash val="solid"/>
            <a:miter lim="8000"/>
            <a:headEnd type="none" w="sm" len="sm"/>
            <a:tailEnd type="none" w="sm" len="sm"/>
          </a:ln>
        </p:spPr>
      </p:cxnSp>
      <p:sp>
        <p:nvSpPr>
          <p:cNvPr id="544" name="Google Shape;544;p53"/>
          <p:cNvSpPr txBox="1"/>
          <p:nvPr/>
        </p:nvSpPr>
        <p:spPr>
          <a:xfrm>
            <a:off x="-7166" y="-44463"/>
            <a:ext cx="1230715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Agglomerative Clustering (</a:t>
            </a:r>
            <a:r>
              <a:rPr lang="en-US" sz="3600">
                <a:solidFill>
                  <a:srgbClr val="FFC000"/>
                </a:solidFill>
                <a:latin typeface="Calibri"/>
                <a:ea typeface="Calibri"/>
                <a:cs typeface="Calibri"/>
                <a:sym typeface="Calibri"/>
              </a:rPr>
              <a:t>AG</a:t>
            </a:r>
            <a:r>
              <a:rPr lang="en-US" sz="3600">
                <a:solidFill>
                  <a:schemeClr val="lt1"/>
                </a:solidFill>
                <a:latin typeface="Calibri"/>
                <a:ea typeface="Calibri"/>
                <a:cs typeface="Calibri"/>
                <a:sym typeface="Calibri"/>
              </a:rPr>
              <a:t>glomerative </a:t>
            </a:r>
            <a:r>
              <a:rPr lang="en-US" sz="3600">
                <a:solidFill>
                  <a:srgbClr val="FFC000"/>
                </a:solidFill>
                <a:latin typeface="Calibri"/>
                <a:ea typeface="Calibri"/>
                <a:cs typeface="Calibri"/>
                <a:sym typeface="Calibri"/>
              </a:rPr>
              <a:t>NE</a:t>
            </a:r>
            <a:r>
              <a:rPr lang="en-US" sz="3600">
                <a:solidFill>
                  <a:schemeClr val="lt1"/>
                </a:solidFill>
                <a:latin typeface="Calibri"/>
                <a:ea typeface="Calibri"/>
                <a:cs typeface="Calibri"/>
                <a:sym typeface="Calibri"/>
              </a:rPr>
              <a:t>Sting(</a:t>
            </a:r>
            <a:r>
              <a:rPr lang="en-US" sz="3600">
                <a:solidFill>
                  <a:srgbClr val="FFC000"/>
                </a:solidFill>
                <a:latin typeface="Calibri"/>
                <a:ea typeface="Calibri"/>
                <a:cs typeface="Calibri"/>
                <a:sym typeface="Calibri"/>
              </a:rPr>
              <a:t>AGNES</a:t>
            </a:r>
            <a:r>
              <a:rPr lang="en-US" sz="3600">
                <a:solidFill>
                  <a:schemeClr val="lt1"/>
                </a:solidFill>
                <a:latin typeface="Calibri"/>
                <a:ea typeface="Calibri"/>
                <a:cs typeface="Calibri"/>
                <a:sym typeface="Calibri"/>
              </a:rPr>
              <a:t>)</a:t>
            </a:r>
            <a:r>
              <a:rPr lang="en-US" sz="4400">
                <a:solidFill>
                  <a:schemeClr val="lt1"/>
                </a:solidFill>
                <a:latin typeface="Calibri"/>
                <a:ea typeface="Calibri"/>
                <a:cs typeface="Calibri"/>
                <a:sym typeface="Calibri"/>
              </a:rPr>
              <a:t>)</a:t>
            </a:r>
            <a:endParaRPr sz="4400">
              <a:solidFill>
                <a:schemeClr val="lt1"/>
              </a:solidFill>
              <a:latin typeface="Calibri"/>
              <a:ea typeface="Calibri"/>
              <a:cs typeface="Calibri"/>
              <a:sym typeface="Calibri"/>
            </a:endParaRPr>
          </a:p>
        </p:txBody>
      </p:sp>
      <p:sp>
        <p:nvSpPr>
          <p:cNvPr id="545" name="Google Shape;545;p5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46" name="Google Shape;546;p53"/>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47" name="Google Shape;547;p53"/>
          <p:cNvPicPr preferRelativeResize="0"/>
          <p:nvPr/>
        </p:nvPicPr>
        <p:blipFill rotWithShape="1">
          <a:blip r:embed="rId3">
            <a:alphaModFix/>
          </a:blip>
          <a:srcRect/>
          <a:stretch/>
        </p:blipFill>
        <p:spPr>
          <a:xfrm>
            <a:off x="1784839" y="1217507"/>
            <a:ext cx="8080130" cy="4796431"/>
          </a:xfrm>
          <a:prstGeom prst="rect">
            <a:avLst/>
          </a:prstGeom>
          <a:noFill/>
          <a:ln>
            <a:noFill/>
          </a:ln>
        </p:spPr>
      </p:pic>
      <p:cxnSp>
        <p:nvCxnSpPr>
          <p:cNvPr id="548" name="Google Shape;548;p53"/>
          <p:cNvCxnSpPr/>
          <p:nvPr/>
        </p:nvCxnSpPr>
        <p:spPr>
          <a:xfrm rot="10800000">
            <a:off x="3020291" y="1838036"/>
            <a:ext cx="4525818" cy="0"/>
          </a:xfrm>
          <a:prstGeom prst="straightConnector1">
            <a:avLst/>
          </a:prstGeom>
          <a:noFill/>
          <a:ln w="28575" cap="flat" cmpd="sng">
            <a:solidFill>
              <a:srgbClr val="C00000"/>
            </a:solidFill>
            <a:prstDash val="dash"/>
            <a:miter lim="8000"/>
            <a:headEnd type="none" w="sm" len="sm"/>
            <a:tailEnd type="none" w="sm" len="sm"/>
          </a:ln>
        </p:spPr>
      </p:cxnSp>
      <p:cxnSp>
        <p:nvCxnSpPr>
          <p:cNvPr id="549" name="Google Shape;549;p53"/>
          <p:cNvCxnSpPr/>
          <p:nvPr/>
        </p:nvCxnSpPr>
        <p:spPr>
          <a:xfrm rot="10800000">
            <a:off x="3911600" y="3144981"/>
            <a:ext cx="5620327" cy="4619"/>
          </a:xfrm>
          <a:prstGeom prst="straightConnector1">
            <a:avLst/>
          </a:prstGeom>
          <a:noFill/>
          <a:ln w="28575" cap="flat" cmpd="sng">
            <a:solidFill>
              <a:srgbClr val="C00000"/>
            </a:solidFill>
            <a:prstDash val="dash"/>
            <a:miter lim="8000"/>
            <a:headEnd type="none" w="sm" len="sm"/>
            <a:tailEnd type="none" w="sm" len="sm"/>
          </a:ln>
        </p:spPr>
      </p:cxnSp>
      <p:cxnSp>
        <p:nvCxnSpPr>
          <p:cNvPr id="550" name="Google Shape;550;p53"/>
          <p:cNvCxnSpPr/>
          <p:nvPr/>
        </p:nvCxnSpPr>
        <p:spPr>
          <a:xfrm rot="10800000">
            <a:off x="2225964" y="3311300"/>
            <a:ext cx="7366007" cy="1"/>
          </a:xfrm>
          <a:prstGeom prst="straightConnector1">
            <a:avLst/>
          </a:prstGeom>
          <a:noFill/>
          <a:ln w="28575" cap="flat" cmpd="sng">
            <a:solidFill>
              <a:srgbClr val="C00000"/>
            </a:solidFill>
            <a:prstDash val="dash"/>
            <a:miter lim="8000"/>
            <a:headEnd type="none" w="sm" len="sm"/>
            <a:tailEnd type="none" w="sm" len="sm"/>
          </a:ln>
        </p:spPr>
      </p:cxnSp>
      <p:cxnSp>
        <p:nvCxnSpPr>
          <p:cNvPr id="551" name="Google Shape;551;p53"/>
          <p:cNvCxnSpPr/>
          <p:nvPr/>
        </p:nvCxnSpPr>
        <p:spPr>
          <a:xfrm flipH="1">
            <a:off x="2068947" y="4018350"/>
            <a:ext cx="7796022" cy="1"/>
          </a:xfrm>
          <a:prstGeom prst="straightConnector1">
            <a:avLst/>
          </a:prstGeom>
          <a:noFill/>
          <a:ln w="57150" cap="flat" cmpd="sng">
            <a:solidFill>
              <a:srgbClr val="7030A0"/>
            </a:solidFill>
            <a:prstDash val="dash"/>
            <a:miter lim="8000"/>
            <a:headEnd type="diamond" w="med" len="med"/>
            <a:tailEnd type="diamond" w="med" len="med"/>
          </a:ln>
        </p:spPr>
      </p:cxnSp>
      <p:sp>
        <p:nvSpPr>
          <p:cNvPr id="552" name="Google Shape;552;p53"/>
          <p:cNvSpPr txBox="1"/>
          <p:nvPr/>
        </p:nvSpPr>
        <p:spPr>
          <a:xfrm>
            <a:off x="2519173" y="4053703"/>
            <a:ext cx="3016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rgbClr val="FF0000"/>
                </a:solidFill>
                <a:latin typeface="Calibri"/>
                <a:ea typeface="Calibri"/>
                <a:cs typeface="Calibri"/>
                <a:sym typeface="Calibri"/>
              </a:rPr>
              <a:t>1</a:t>
            </a:r>
            <a:endParaRPr sz="1800" b="1" u="sng">
              <a:solidFill>
                <a:srgbClr val="FF0000"/>
              </a:solidFill>
              <a:latin typeface="Calibri"/>
              <a:ea typeface="Calibri"/>
              <a:cs typeface="Calibri"/>
              <a:sym typeface="Calibri"/>
            </a:endParaRPr>
          </a:p>
        </p:txBody>
      </p:sp>
      <p:sp>
        <p:nvSpPr>
          <p:cNvPr id="553" name="Google Shape;553;p53"/>
          <p:cNvSpPr txBox="1"/>
          <p:nvPr/>
        </p:nvSpPr>
        <p:spPr>
          <a:xfrm>
            <a:off x="3353642" y="4053703"/>
            <a:ext cx="3016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rgbClr val="FF0000"/>
                </a:solidFill>
                <a:latin typeface="Calibri"/>
                <a:ea typeface="Calibri"/>
                <a:cs typeface="Calibri"/>
                <a:sym typeface="Calibri"/>
              </a:rPr>
              <a:t>2</a:t>
            </a:r>
            <a:endParaRPr sz="1800" b="1" u="sng">
              <a:solidFill>
                <a:srgbClr val="FF0000"/>
              </a:solidFill>
              <a:latin typeface="Calibri"/>
              <a:ea typeface="Calibri"/>
              <a:cs typeface="Calibri"/>
              <a:sym typeface="Calibri"/>
            </a:endParaRPr>
          </a:p>
        </p:txBody>
      </p:sp>
      <p:sp>
        <p:nvSpPr>
          <p:cNvPr id="554" name="Google Shape;554;p53"/>
          <p:cNvSpPr txBox="1"/>
          <p:nvPr/>
        </p:nvSpPr>
        <p:spPr>
          <a:xfrm>
            <a:off x="5073288" y="4053703"/>
            <a:ext cx="3016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rgbClr val="FF0000"/>
                </a:solidFill>
                <a:latin typeface="Calibri"/>
                <a:ea typeface="Calibri"/>
                <a:cs typeface="Calibri"/>
                <a:sym typeface="Calibri"/>
              </a:rPr>
              <a:t>3</a:t>
            </a:r>
            <a:endParaRPr sz="1800" b="1" u="sng">
              <a:solidFill>
                <a:srgbClr val="FF0000"/>
              </a:solidFill>
              <a:latin typeface="Calibri"/>
              <a:ea typeface="Calibri"/>
              <a:cs typeface="Calibri"/>
              <a:sym typeface="Calibri"/>
            </a:endParaRPr>
          </a:p>
        </p:txBody>
      </p:sp>
      <p:sp>
        <p:nvSpPr>
          <p:cNvPr id="555" name="Google Shape;555;p53"/>
          <p:cNvSpPr txBox="1"/>
          <p:nvPr/>
        </p:nvSpPr>
        <p:spPr>
          <a:xfrm>
            <a:off x="7469128" y="4053703"/>
            <a:ext cx="3016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rgbClr val="FF0000"/>
                </a:solidFill>
                <a:latin typeface="Calibri"/>
                <a:ea typeface="Calibri"/>
                <a:cs typeface="Calibri"/>
                <a:sym typeface="Calibri"/>
              </a:rPr>
              <a:t>4</a:t>
            </a:r>
            <a:endParaRPr sz="1800" b="1" u="sng">
              <a:solidFill>
                <a:srgbClr val="FF0000"/>
              </a:solidFill>
              <a:latin typeface="Calibri"/>
              <a:ea typeface="Calibri"/>
              <a:cs typeface="Calibri"/>
              <a:sym typeface="Calibri"/>
            </a:endParaRPr>
          </a:p>
        </p:txBody>
      </p:sp>
      <p:sp>
        <p:nvSpPr>
          <p:cNvPr id="556" name="Google Shape;556;p53"/>
          <p:cNvSpPr txBox="1"/>
          <p:nvPr/>
        </p:nvSpPr>
        <p:spPr>
          <a:xfrm>
            <a:off x="9244516" y="4053703"/>
            <a:ext cx="3016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sng">
                <a:solidFill>
                  <a:srgbClr val="FF0000"/>
                </a:solidFill>
                <a:latin typeface="Calibri"/>
                <a:ea typeface="Calibri"/>
                <a:cs typeface="Calibri"/>
                <a:sym typeface="Calibri"/>
              </a:rPr>
              <a:t>5</a:t>
            </a:r>
            <a:endParaRPr sz="1800" b="1" u="sng">
              <a:solidFill>
                <a:srgbClr val="FF0000"/>
              </a:solidFill>
              <a:latin typeface="Calibri"/>
              <a:ea typeface="Calibri"/>
              <a:cs typeface="Calibri"/>
              <a:sym typeface="Calibri"/>
            </a:endParaRPr>
          </a:p>
        </p:txBody>
      </p:sp>
      <p:cxnSp>
        <p:nvCxnSpPr>
          <p:cNvPr id="557" name="Google Shape;557;p53"/>
          <p:cNvCxnSpPr/>
          <p:nvPr/>
        </p:nvCxnSpPr>
        <p:spPr>
          <a:xfrm rot="10800000">
            <a:off x="2378364" y="4688455"/>
            <a:ext cx="7366007" cy="1"/>
          </a:xfrm>
          <a:prstGeom prst="straightConnector1">
            <a:avLst/>
          </a:prstGeom>
          <a:noFill/>
          <a:ln w="28575" cap="flat" cmpd="sng">
            <a:solidFill>
              <a:srgbClr val="C00000"/>
            </a:solidFill>
            <a:prstDash val="dash"/>
            <a:miter lim="8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2"/>
                                        </p:tgtEl>
                                        <p:attrNameLst>
                                          <p:attrName>style.visibility</p:attrName>
                                        </p:attrNameLst>
                                      </p:cBhvr>
                                      <p:to>
                                        <p:strVal val="visible"/>
                                      </p:to>
                                    </p:set>
                                    <p:animEffect transition="in" filter="fade">
                                      <p:cBhvr>
                                        <p:cTn id="27" dur="500"/>
                                        <p:tgtEl>
                                          <p:spTgt spid="552"/>
                                        </p:tgtEl>
                                      </p:cBhvr>
                                    </p:animEffect>
                                  </p:childTnLst>
                                </p:cTn>
                              </p:par>
                              <p:par>
                                <p:cTn id="28" presetID="10" presetClass="entr" presetSubtype="0" fill="hold" nodeType="withEffect">
                                  <p:stCondLst>
                                    <p:cond delay="0"/>
                                  </p:stCondLst>
                                  <p:childTnLst>
                                    <p:set>
                                      <p:cBhvr>
                                        <p:cTn id="29" dur="1" fill="hold">
                                          <p:stCondLst>
                                            <p:cond delay="0"/>
                                          </p:stCondLst>
                                        </p:cTn>
                                        <p:tgtEl>
                                          <p:spTgt spid="553"/>
                                        </p:tgtEl>
                                        <p:attrNameLst>
                                          <p:attrName>style.visibility</p:attrName>
                                        </p:attrNameLst>
                                      </p:cBhvr>
                                      <p:to>
                                        <p:strVal val="visible"/>
                                      </p:to>
                                    </p:set>
                                    <p:animEffect transition="in" filter="fade">
                                      <p:cBhvr>
                                        <p:cTn id="30" dur="500"/>
                                        <p:tgtEl>
                                          <p:spTgt spid="553"/>
                                        </p:tgtEl>
                                      </p:cBhvr>
                                    </p:animEffect>
                                  </p:childTnLst>
                                </p:cTn>
                              </p:par>
                              <p:par>
                                <p:cTn id="31" presetID="10" presetClass="entr" presetSubtype="0" fill="hold" nodeType="withEffect">
                                  <p:stCondLst>
                                    <p:cond delay="0"/>
                                  </p:stCondLst>
                                  <p:childTnLst>
                                    <p:set>
                                      <p:cBhvr>
                                        <p:cTn id="32" dur="1" fill="hold">
                                          <p:stCondLst>
                                            <p:cond delay="0"/>
                                          </p:stCondLst>
                                        </p:cTn>
                                        <p:tgtEl>
                                          <p:spTgt spid="554"/>
                                        </p:tgtEl>
                                        <p:attrNameLst>
                                          <p:attrName>style.visibility</p:attrName>
                                        </p:attrNameLst>
                                      </p:cBhvr>
                                      <p:to>
                                        <p:strVal val="visible"/>
                                      </p:to>
                                    </p:set>
                                    <p:animEffect transition="in" filter="fade">
                                      <p:cBhvr>
                                        <p:cTn id="33" dur="500"/>
                                        <p:tgtEl>
                                          <p:spTgt spid="554"/>
                                        </p:tgtEl>
                                      </p:cBhvr>
                                    </p:animEffect>
                                  </p:childTnLst>
                                </p:cTn>
                              </p:par>
                              <p:par>
                                <p:cTn id="34" presetID="10" presetClass="entr" presetSubtype="0" fill="hold" nodeType="withEffect">
                                  <p:stCondLst>
                                    <p:cond delay="0"/>
                                  </p:stCondLst>
                                  <p:childTnLst>
                                    <p:set>
                                      <p:cBhvr>
                                        <p:cTn id="35" dur="1" fill="hold">
                                          <p:stCondLst>
                                            <p:cond delay="0"/>
                                          </p:stCondLst>
                                        </p:cTn>
                                        <p:tgtEl>
                                          <p:spTgt spid="555"/>
                                        </p:tgtEl>
                                        <p:attrNameLst>
                                          <p:attrName>style.visibility</p:attrName>
                                        </p:attrNameLst>
                                      </p:cBhvr>
                                      <p:to>
                                        <p:strVal val="visible"/>
                                      </p:to>
                                    </p:set>
                                    <p:animEffect transition="in" filter="fade">
                                      <p:cBhvr>
                                        <p:cTn id="36" dur="500"/>
                                        <p:tgtEl>
                                          <p:spTgt spid="555"/>
                                        </p:tgtEl>
                                      </p:cBhvr>
                                    </p:animEffect>
                                  </p:childTnLst>
                                </p:cTn>
                              </p:par>
                              <p:par>
                                <p:cTn id="37" presetID="10" presetClass="entr" presetSubtype="0" fill="hold" nodeType="withEffect">
                                  <p:stCondLst>
                                    <p:cond delay="0"/>
                                  </p:stCondLst>
                                  <p:childTnLst>
                                    <p:set>
                                      <p:cBhvr>
                                        <p:cTn id="38" dur="1" fill="hold">
                                          <p:stCondLst>
                                            <p:cond delay="0"/>
                                          </p:stCondLst>
                                        </p:cTn>
                                        <p:tgtEl>
                                          <p:spTgt spid="556"/>
                                        </p:tgtEl>
                                        <p:attrNameLst>
                                          <p:attrName>style.visibility</p:attrName>
                                        </p:attrNameLst>
                                      </p:cBhvr>
                                      <p:to>
                                        <p:strVal val="visible"/>
                                      </p:to>
                                    </p:set>
                                    <p:animEffect transition="in" filter="fade">
                                      <p:cBhvr>
                                        <p:cTn id="39" dur="500"/>
                                        <p:tgtEl>
                                          <p:spTgt spid="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54"/>
          <p:cNvSpPr txBox="1"/>
          <p:nvPr/>
        </p:nvSpPr>
        <p:spPr>
          <a:xfrm>
            <a:off x="2296425" y="2469391"/>
            <a:ext cx="8649998" cy="116955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a:solidFill>
                  <a:schemeClr val="lt1"/>
                </a:solidFill>
                <a:latin typeface="Calibri"/>
                <a:ea typeface="Calibri"/>
                <a:cs typeface="Calibri"/>
                <a:sym typeface="Calibri"/>
              </a:rPr>
              <a:t>DBSCAN Clustering</a:t>
            </a:r>
            <a:endParaRPr/>
          </a:p>
          <a:p>
            <a:pPr marL="0" marR="0" lvl="0" indent="0" algn="ctr" rtl="0">
              <a:spcBef>
                <a:spcPts val="0"/>
              </a:spcBef>
              <a:spcAft>
                <a:spcPts val="0"/>
              </a:spcAft>
              <a:buNone/>
            </a:pPr>
            <a:r>
              <a:rPr lang="en-US" sz="2600" b="1" u="sng">
                <a:solidFill>
                  <a:srgbClr val="FFC000"/>
                </a:solidFill>
                <a:latin typeface="Calibri"/>
                <a:ea typeface="Calibri"/>
                <a:cs typeface="Calibri"/>
                <a:sym typeface="Calibri"/>
              </a:rPr>
              <a:t>D</a:t>
            </a:r>
            <a:r>
              <a:rPr lang="en-US" sz="2600">
                <a:solidFill>
                  <a:schemeClr val="lt1"/>
                </a:solidFill>
                <a:latin typeface="Calibri"/>
                <a:ea typeface="Calibri"/>
                <a:cs typeface="Calibri"/>
                <a:sym typeface="Calibri"/>
              </a:rPr>
              <a:t>ensity-</a:t>
            </a:r>
            <a:r>
              <a:rPr lang="en-US" sz="2600" b="1" u="sng">
                <a:solidFill>
                  <a:srgbClr val="FFC000"/>
                </a:solidFill>
                <a:latin typeface="Calibri"/>
                <a:ea typeface="Calibri"/>
                <a:cs typeface="Calibri"/>
                <a:sym typeface="Calibri"/>
              </a:rPr>
              <a:t>B</a:t>
            </a:r>
            <a:r>
              <a:rPr lang="en-US" sz="2600">
                <a:solidFill>
                  <a:schemeClr val="lt1"/>
                </a:solidFill>
                <a:latin typeface="Calibri"/>
                <a:ea typeface="Calibri"/>
                <a:cs typeface="Calibri"/>
                <a:sym typeface="Calibri"/>
              </a:rPr>
              <a:t>ased </a:t>
            </a:r>
            <a:r>
              <a:rPr lang="en-US" sz="2600" b="1" u="sng">
                <a:solidFill>
                  <a:srgbClr val="FFC000"/>
                </a:solidFill>
                <a:latin typeface="Calibri"/>
                <a:ea typeface="Calibri"/>
                <a:cs typeface="Calibri"/>
                <a:sym typeface="Calibri"/>
              </a:rPr>
              <a:t>S</a:t>
            </a:r>
            <a:r>
              <a:rPr lang="en-US" sz="2600">
                <a:solidFill>
                  <a:schemeClr val="lt1"/>
                </a:solidFill>
                <a:latin typeface="Calibri"/>
                <a:ea typeface="Calibri"/>
                <a:cs typeface="Calibri"/>
                <a:sym typeface="Calibri"/>
              </a:rPr>
              <a:t>patial </a:t>
            </a:r>
            <a:r>
              <a:rPr lang="en-US" sz="2600" b="1" u="sng">
                <a:solidFill>
                  <a:srgbClr val="FFC000"/>
                </a:solidFill>
                <a:latin typeface="Calibri"/>
                <a:ea typeface="Calibri"/>
                <a:cs typeface="Calibri"/>
                <a:sym typeface="Calibri"/>
              </a:rPr>
              <a:t>C</a:t>
            </a:r>
            <a:r>
              <a:rPr lang="en-US" sz="2600">
                <a:solidFill>
                  <a:schemeClr val="lt1"/>
                </a:solidFill>
                <a:latin typeface="Calibri"/>
                <a:ea typeface="Calibri"/>
                <a:cs typeface="Calibri"/>
                <a:sym typeface="Calibri"/>
              </a:rPr>
              <a:t>lustering Of </a:t>
            </a:r>
            <a:r>
              <a:rPr lang="en-US" sz="2600" b="1" u="sng">
                <a:solidFill>
                  <a:srgbClr val="FFC000"/>
                </a:solidFill>
                <a:latin typeface="Calibri"/>
                <a:ea typeface="Calibri"/>
                <a:cs typeface="Calibri"/>
                <a:sym typeface="Calibri"/>
              </a:rPr>
              <a:t>A</a:t>
            </a:r>
            <a:r>
              <a:rPr lang="en-US" sz="2600">
                <a:solidFill>
                  <a:schemeClr val="lt1"/>
                </a:solidFill>
                <a:latin typeface="Calibri"/>
                <a:ea typeface="Calibri"/>
                <a:cs typeface="Calibri"/>
                <a:sym typeface="Calibri"/>
              </a:rPr>
              <a:t>pplications with </a:t>
            </a:r>
            <a:r>
              <a:rPr lang="en-US" sz="2600" b="1" u="sng">
                <a:solidFill>
                  <a:srgbClr val="FFC000"/>
                </a:solidFill>
                <a:latin typeface="Calibri"/>
                <a:ea typeface="Calibri"/>
                <a:cs typeface="Calibri"/>
                <a:sym typeface="Calibri"/>
              </a:rPr>
              <a:t>N</a:t>
            </a:r>
            <a:r>
              <a:rPr lang="en-US" sz="2600">
                <a:solidFill>
                  <a:schemeClr val="lt1"/>
                </a:solidFill>
                <a:latin typeface="Calibri"/>
                <a:ea typeface="Calibri"/>
                <a:cs typeface="Calibri"/>
                <a:sym typeface="Calibri"/>
              </a:rPr>
              <a:t>oise</a:t>
            </a:r>
            <a:endParaRPr/>
          </a:p>
        </p:txBody>
      </p:sp>
      <p:sp>
        <p:nvSpPr>
          <p:cNvPr id="563" name="Google Shape;563;p5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cxnSp>
        <p:nvCxnSpPr>
          <p:cNvPr id="568" name="Google Shape;568;p55"/>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569" name="Google Shape;569;p55"/>
          <p:cNvSpPr txBox="1"/>
          <p:nvPr/>
        </p:nvSpPr>
        <p:spPr>
          <a:xfrm>
            <a:off x="546756" y="7545"/>
            <a:ext cx="3951274"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What is DBSCAN</a:t>
            </a:r>
            <a:endParaRPr sz="4400">
              <a:solidFill>
                <a:schemeClr val="lt1"/>
              </a:solidFill>
              <a:latin typeface="Calibri"/>
              <a:ea typeface="Calibri"/>
              <a:cs typeface="Calibri"/>
              <a:sym typeface="Calibri"/>
            </a:endParaRPr>
          </a:p>
        </p:txBody>
      </p:sp>
      <p:sp>
        <p:nvSpPr>
          <p:cNvPr id="570" name="Google Shape;570;p55"/>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71" name="Google Shape;571;p55"/>
          <p:cNvSpPr/>
          <p:nvPr/>
        </p:nvSpPr>
        <p:spPr>
          <a:xfrm>
            <a:off x="546755" y="902872"/>
            <a:ext cx="11261313" cy="225106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chemeClr val="lt1"/>
                </a:solidFill>
                <a:latin typeface="Calibri"/>
                <a:ea typeface="Calibri"/>
                <a:cs typeface="Calibri"/>
                <a:sym typeface="Calibri"/>
              </a:rPr>
              <a:t>DBSCAN makes clusters based upon the density of the data points or how close the data is. That said, the points which are outside the dense regions are excluded and treated as noise or outliers. This characteristic of the DBSCAN algorithm makes it a perfect fit for outlier detection and making clusters of arbitrary shape.</a:t>
            </a:r>
            <a:endParaRPr/>
          </a:p>
        </p:txBody>
      </p:sp>
      <p:sp>
        <p:nvSpPr>
          <p:cNvPr id="572" name="Google Shape;572;p55"/>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73" name="Google Shape;573;p55" descr="Lightbox"/>
          <p:cNvPicPr preferRelativeResize="0"/>
          <p:nvPr/>
        </p:nvPicPr>
        <p:blipFill rotWithShape="1">
          <a:blip r:embed="rId3">
            <a:alphaModFix/>
          </a:blip>
          <a:srcRect/>
          <a:stretch/>
        </p:blipFill>
        <p:spPr>
          <a:xfrm>
            <a:off x="3701561" y="3429000"/>
            <a:ext cx="4093634" cy="3147646"/>
          </a:xfrm>
          <a:prstGeom prst="rect">
            <a:avLst/>
          </a:prstGeom>
          <a:noFill/>
          <a:ln>
            <a:noFill/>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cxnSp>
        <p:nvCxnSpPr>
          <p:cNvPr id="578" name="Google Shape;578;p56"/>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579" name="Google Shape;579;p56"/>
          <p:cNvSpPr txBox="1"/>
          <p:nvPr/>
        </p:nvSpPr>
        <p:spPr>
          <a:xfrm>
            <a:off x="546756" y="7545"/>
            <a:ext cx="10305257"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Parameters Required For DBSCAN Algorithm</a:t>
            </a:r>
            <a:endParaRPr/>
          </a:p>
        </p:txBody>
      </p:sp>
      <p:sp>
        <p:nvSpPr>
          <p:cNvPr id="580" name="Google Shape;580;p56"/>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81" name="Google Shape;581;p56"/>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82" name="Google Shape;582;p56" descr="Lightbox"/>
          <p:cNvPicPr preferRelativeResize="0"/>
          <p:nvPr/>
        </p:nvPicPr>
        <p:blipFill rotWithShape="1">
          <a:blip r:embed="rId3">
            <a:alphaModFix/>
          </a:blip>
          <a:srcRect/>
          <a:stretch/>
        </p:blipFill>
        <p:spPr>
          <a:xfrm>
            <a:off x="785611" y="958362"/>
            <a:ext cx="2857500" cy="2857500"/>
          </a:xfrm>
          <a:prstGeom prst="rect">
            <a:avLst/>
          </a:prstGeom>
          <a:noFill/>
          <a:ln>
            <a:noFill/>
          </a:ln>
        </p:spPr>
      </p:pic>
      <p:sp>
        <p:nvSpPr>
          <p:cNvPr id="583" name="Google Shape;583;p56"/>
          <p:cNvSpPr/>
          <p:nvPr/>
        </p:nvSpPr>
        <p:spPr>
          <a:xfrm>
            <a:off x="3927231" y="945174"/>
            <a:ext cx="8037242" cy="449353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b="1">
                <a:solidFill>
                  <a:srgbClr val="FFC000"/>
                </a:solidFill>
                <a:latin typeface="Calibri"/>
                <a:ea typeface="Calibri"/>
                <a:cs typeface="Calibri"/>
                <a:sym typeface="Calibri"/>
              </a:rPr>
              <a:t>eps:</a:t>
            </a:r>
            <a:r>
              <a:rPr lang="en-US" sz="2200">
                <a:solidFill>
                  <a:schemeClr val="lt1"/>
                </a:solidFill>
                <a:latin typeface="Calibri"/>
                <a:ea typeface="Calibri"/>
                <a:cs typeface="Calibri"/>
                <a:sym typeface="Calibri"/>
              </a:rPr>
              <a:t> It defines the neighborhood around a data point </a:t>
            </a:r>
            <a:endParaRPr sz="22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200">
                <a:solidFill>
                  <a:schemeClr val="lt1"/>
                </a:solidFill>
                <a:latin typeface="Calibri"/>
                <a:ea typeface="Calibri"/>
                <a:cs typeface="Calibri"/>
                <a:sym typeface="Calibri"/>
              </a:rPr>
              <a:t>i.e. if the distance between two points is lower or equal to ‘eps’ then they are considered neighbors. If the eps value is chosen too small then a large part of the data will be considered as an outlier. If it is chosen very large then the clusters will merge and the majority of the data points will be in the same clusters. </a:t>
            </a:r>
            <a:r>
              <a:rPr lang="en-US" sz="2200" u="sng">
                <a:solidFill>
                  <a:schemeClr val="lt1"/>
                </a:solidFill>
                <a:latin typeface="Calibri"/>
                <a:ea typeface="Calibri"/>
                <a:cs typeface="Calibri"/>
                <a:sym typeface="Calibri"/>
              </a:rPr>
              <a:t>One way to find the eps value is based on the k-distance graph.</a:t>
            </a:r>
            <a:endParaRPr/>
          </a:p>
          <a:p>
            <a:pPr marL="0" marR="0" lvl="0" indent="0" algn="just" rtl="0">
              <a:spcBef>
                <a:spcPts val="0"/>
              </a:spcBef>
              <a:spcAft>
                <a:spcPts val="0"/>
              </a:spcAft>
              <a:buNone/>
            </a:pPr>
            <a:endParaRPr sz="2200" u="sng">
              <a:solidFill>
                <a:schemeClr val="lt1"/>
              </a:solidFill>
              <a:latin typeface="Calibri"/>
              <a:ea typeface="Calibri"/>
              <a:cs typeface="Calibri"/>
              <a:sym typeface="Calibri"/>
            </a:endParaRPr>
          </a:p>
          <a:p>
            <a:pPr marL="0" marR="0" lvl="0" indent="0" algn="just" rtl="0">
              <a:spcBef>
                <a:spcPts val="0"/>
              </a:spcBef>
              <a:spcAft>
                <a:spcPts val="0"/>
              </a:spcAft>
              <a:buNone/>
            </a:pPr>
            <a:r>
              <a:rPr lang="en-US" sz="2200">
                <a:solidFill>
                  <a:srgbClr val="FFC000"/>
                </a:solidFill>
                <a:latin typeface="Calibri"/>
                <a:ea typeface="Calibri"/>
                <a:cs typeface="Calibri"/>
                <a:sym typeface="Calibri"/>
              </a:rPr>
              <a:t>MinPts: </a:t>
            </a:r>
            <a:r>
              <a:rPr lang="en-US" sz="2200">
                <a:solidFill>
                  <a:schemeClr val="lt1"/>
                </a:solidFill>
                <a:latin typeface="Calibri"/>
                <a:ea typeface="Calibri"/>
                <a:cs typeface="Calibri"/>
                <a:sym typeface="Calibri"/>
              </a:rPr>
              <a:t>Minimum number of neighbors (data points) within eps radius. The larger the dataset, the larger value of MinPts must be chosen. As a general rule, the minimum MinPts can be derived from the number of dimensions D in the dataset as, </a:t>
            </a:r>
            <a:r>
              <a:rPr lang="en-US" sz="2200">
                <a:solidFill>
                  <a:srgbClr val="FFC000"/>
                </a:solidFill>
                <a:latin typeface="Calibri"/>
                <a:ea typeface="Calibri"/>
                <a:cs typeface="Calibri"/>
                <a:sym typeface="Calibri"/>
              </a:rPr>
              <a:t>MinPts &gt;= D+1</a:t>
            </a:r>
            <a:r>
              <a:rPr lang="en-US" sz="2200">
                <a:solidFill>
                  <a:schemeClr val="lt1"/>
                </a:solidFill>
                <a:latin typeface="Calibri"/>
                <a:ea typeface="Calibri"/>
                <a:cs typeface="Calibri"/>
                <a:sym typeface="Calibri"/>
              </a:rPr>
              <a:t>. The minimum value of MinPts must be chosen at least 3.</a:t>
            </a:r>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cxnSp>
        <p:nvCxnSpPr>
          <p:cNvPr id="588" name="Google Shape;588;p57"/>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589" name="Google Shape;589;p57"/>
          <p:cNvSpPr txBox="1"/>
          <p:nvPr/>
        </p:nvSpPr>
        <p:spPr>
          <a:xfrm>
            <a:off x="546756" y="7545"/>
            <a:ext cx="10305257"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Parameters Required For DBSCAN Algorithm</a:t>
            </a:r>
            <a:endParaRPr/>
          </a:p>
        </p:txBody>
      </p:sp>
      <p:sp>
        <p:nvSpPr>
          <p:cNvPr id="590" name="Google Shape;590;p57"/>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591" name="Google Shape;591;p57"/>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92" name="Google Shape;592;p57" descr="Lightbox"/>
          <p:cNvPicPr preferRelativeResize="0"/>
          <p:nvPr/>
        </p:nvPicPr>
        <p:blipFill rotWithShape="1">
          <a:blip r:embed="rId3">
            <a:alphaModFix/>
          </a:blip>
          <a:srcRect/>
          <a:stretch/>
        </p:blipFill>
        <p:spPr>
          <a:xfrm>
            <a:off x="785611" y="958362"/>
            <a:ext cx="2857500" cy="2857500"/>
          </a:xfrm>
          <a:prstGeom prst="rect">
            <a:avLst/>
          </a:prstGeom>
          <a:noFill/>
          <a:ln>
            <a:noFill/>
          </a:ln>
        </p:spPr>
      </p:pic>
      <p:sp>
        <p:nvSpPr>
          <p:cNvPr id="593" name="Google Shape;593;p57"/>
          <p:cNvSpPr/>
          <p:nvPr/>
        </p:nvSpPr>
        <p:spPr>
          <a:xfrm>
            <a:off x="3927231" y="945174"/>
            <a:ext cx="8037242" cy="246221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b="1">
                <a:solidFill>
                  <a:srgbClr val="FFC000"/>
                </a:solidFill>
                <a:latin typeface="Calibri"/>
                <a:ea typeface="Calibri"/>
                <a:cs typeface="Calibri"/>
                <a:sym typeface="Calibri"/>
              </a:rPr>
              <a:t>Core Point:</a:t>
            </a:r>
            <a:r>
              <a:rPr lang="en-US" sz="2200" b="1">
                <a:solidFill>
                  <a:schemeClr val="lt1"/>
                </a:solidFill>
                <a:latin typeface="Calibri"/>
                <a:ea typeface="Calibri"/>
                <a:cs typeface="Calibri"/>
                <a:sym typeface="Calibri"/>
              </a:rPr>
              <a:t> </a:t>
            </a:r>
            <a:r>
              <a:rPr lang="en-US" sz="2200">
                <a:solidFill>
                  <a:schemeClr val="lt1"/>
                </a:solidFill>
                <a:latin typeface="Calibri"/>
                <a:ea typeface="Calibri"/>
                <a:cs typeface="Calibri"/>
                <a:sym typeface="Calibri"/>
              </a:rPr>
              <a:t>A point is a core point if it has more than MinPts points within eps. </a:t>
            </a:r>
            <a:endParaRPr sz="2200">
              <a:solidFill>
                <a:schemeClr val="lt1"/>
              </a:solidFill>
              <a:latin typeface="Calibri"/>
              <a:ea typeface="Calibri"/>
              <a:cs typeface="Calibri"/>
              <a:sym typeface="Calibri"/>
            </a:endParaRPr>
          </a:p>
          <a:p>
            <a:pPr marL="0" marR="0" lvl="0" indent="0" algn="just" rtl="0">
              <a:spcBef>
                <a:spcPts val="0"/>
              </a:spcBef>
              <a:spcAft>
                <a:spcPts val="0"/>
              </a:spcAft>
              <a:buNone/>
            </a:pPr>
            <a:endParaRPr sz="22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200" b="1">
                <a:solidFill>
                  <a:srgbClr val="FFC000"/>
                </a:solidFill>
                <a:latin typeface="Calibri"/>
                <a:ea typeface="Calibri"/>
                <a:cs typeface="Calibri"/>
                <a:sym typeface="Calibri"/>
              </a:rPr>
              <a:t>Border Point: </a:t>
            </a:r>
            <a:r>
              <a:rPr lang="en-US" sz="2200">
                <a:solidFill>
                  <a:schemeClr val="lt1"/>
                </a:solidFill>
                <a:latin typeface="Calibri"/>
                <a:ea typeface="Calibri"/>
                <a:cs typeface="Calibri"/>
                <a:sym typeface="Calibri"/>
              </a:rPr>
              <a:t>A point which has fewer than MinPts within eps but it is in the neighborhood of a core point. </a:t>
            </a:r>
            <a:endParaRPr sz="2200">
              <a:solidFill>
                <a:schemeClr val="lt1"/>
              </a:solidFill>
              <a:latin typeface="Calibri"/>
              <a:ea typeface="Calibri"/>
              <a:cs typeface="Calibri"/>
              <a:sym typeface="Calibri"/>
            </a:endParaRPr>
          </a:p>
          <a:p>
            <a:pPr marL="0" marR="0" lvl="0" indent="0" algn="just" rtl="0">
              <a:spcBef>
                <a:spcPts val="0"/>
              </a:spcBef>
              <a:spcAft>
                <a:spcPts val="0"/>
              </a:spcAft>
              <a:buNone/>
            </a:pPr>
            <a:endParaRPr sz="22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200" b="1">
                <a:solidFill>
                  <a:srgbClr val="FFC000"/>
                </a:solidFill>
                <a:latin typeface="Calibri"/>
                <a:ea typeface="Calibri"/>
                <a:cs typeface="Calibri"/>
                <a:sym typeface="Calibri"/>
              </a:rPr>
              <a:t>Noise or outlier: </a:t>
            </a:r>
            <a:r>
              <a:rPr lang="en-US" sz="2200">
                <a:solidFill>
                  <a:schemeClr val="lt1"/>
                </a:solidFill>
                <a:latin typeface="Calibri"/>
                <a:ea typeface="Calibri"/>
                <a:cs typeface="Calibri"/>
                <a:sym typeface="Calibri"/>
              </a:rPr>
              <a:t>A point which is not a core point or border point.</a:t>
            </a:r>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5" y="1"/>
            <a:ext cx="10515600" cy="494522"/>
          </a:xfrm>
        </p:spPr>
        <p:txBody>
          <a:bodyPr>
            <a:normAutofit fontScale="90000"/>
          </a:bodyPr>
          <a:lstStyle/>
          <a:p>
            <a:r>
              <a:rPr lang="en-US" dirty="0" smtClean="0"/>
              <a:t>DBSCAN Example</a:t>
            </a:r>
            <a:endParaRPr lang="en-IN" dirty="0"/>
          </a:p>
        </p:txBody>
      </p:sp>
      <p:pic>
        <p:nvPicPr>
          <p:cNvPr id="4" name="Picture 3"/>
          <p:cNvPicPr>
            <a:picLocks noChangeAspect="1"/>
          </p:cNvPicPr>
          <p:nvPr/>
        </p:nvPicPr>
        <p:blipFill>
          <a:blip r:embed="rId2"/>
          <a:stretch>
            <a:fillRect/>
          </a:stretch>
        </p:blipFill>
        <p:spPr>
          <a:xfrm>
            <a:off x="0" y="507382"/>
            <a:ext cx="5667659" cy="2160599"/>
          </a:xfrm>
          <a:prstGeom prst="rect">
            <a:avLst/>
          </a:prstGeom>
        </p:spPr>
      </p:pic>
      <p:pic>
        <p:nvPicPr>
          <p:cNvPr id="5" name="Picture 4"/>
          <p:cNvPicPr>
            <a:picLocks noChangeAspect="1"/>
          </p:cNvPicPr>
          <p:nvPr/>
        </p:nvPicPr>
        <p:blipFill>
          <a:blip r:embed="rId3"/>
          <a:stretch>
            <a:fillRect/>
          </a:stretch>
        </p:blipFill>
        <p:spPr>
          <a:xfrm>
            <a:off x="0" y="2667981"/>
            <a:ext cx="3353091" cy="3033023"/>
          </a:xfrm>
          <a:prstGeom prst="rect">
            <a:avLst/>
          </a:prstGeom>
        </p:spPr>
      </p:pic>
      <p:pic>
        <p:nvPicPr>
          <p:cNvPr id="6" name="Picture 5"/>
          <p:cNvPicPr>
            <a:picLocks noChangeAspect="1"/>
          </p:cNvPicPr>
          <p:nvPr/>
        </p:nvPicPr>
        <p:blipFill>
          <a:blip r:embed="rId4"/>
          <a:stretch>
            <a:fillRect/>
          </a:stretch>
        </p:blipFill>
        <p:spPr>
          <a:xfrm>
            <a:off x="5767894" y="1"/>
            <a:ext cx="4781051" cy="1082134"/>
          </a:xfrm>
          <a:prstGeom prst="rect">
            <a:avLst/>
          </a:prstGeom>
        </p:spPr>
      </p:pic>
      <p:pic>
        <p:nvPicPr>
          <p:cNvPr id="7" name="Picture 6"/>
          <p:cNvPicPr>
            <a:picLocks noChangeAspect="1"/>
          </p:cNvPicPr>
          <p:nvPr/>
        </p:nvPicPr>
        <p:blipFill>
          <a:blip r:embed="rId5"/>
          <a:stretch>
            <a:fillRect/>
          </a:stretch>
        </p:blipFill>
        <p:spPr>
          <a:xfrm>
            <a:off x="5767894" y="1082135"/>
            <a:ext cx="4176122" cy="1470787"/>
          </a:xfrm>
          <a:prstGeom prst="rect">
            <a:avLst/>
          </a:prstGeom>
        </p:spPr>
      </p:pic>
      <p:pic>
        <p:nvPicPr>
          <p:cNvPr id="8" name="Picture 7"/>
          <p:cNvPicPr>
            <a:picLocks noChangeAspect="1"/>
          </p:cNvPicPr>
          <p:nvPr/>
        </p:nvPicPr>
        <p:blipFill>
          <a:blip r:embed="rId6"/>
          <a:stretch>
            <a:fillRect/>
          </a:stretch>
        </p:blipFill>
        <p:spPr>
          <a:xfrm>
            <a:off x="5767894" y="2561464"/>
            <a:ext cx="4214225" cy="3246055"/>
          </a:xfrm>
          <a:prstGeom prst="rect">
            <a:avLst/>
          </a:prstGeom>
        </p:spPr>
      </p:pic>
      <p:pic>
        <p:nvPicPr>
          <p:cNvPr id="9" name="Picture 8"/>
          <p:cNvPicPr>
            <a:picLocks noChangeAspect="1"/>
          </p:cNvPicPr>
          <p:nvPr/>
        </p:nvPicPr>
        <p:blipFill>
          <a:blip r:embed="rId7"/>
          <a:stretch>
            <a:fillRect/>
          </a:stretch>
        </p:blipFill>
        <p:spPr>
          <a:xfrm>
            <a:off x="5825049" y="5807519"/>
            <a:ext cx="4157070" cy="1005927"/>
          </a:xfrm>
          <a:prstGeom prst="rect">
            <a:avLst/>
          </a:prstGeom>
        </p:spPr>
      </p:pic>
    </p:spTree>
    <p:extLst>
      <p:ext uri="{BB962C8B-B14F-4D97-AF65-F5344CB8AC3E}">
        <p14:creationId xmlns:p14="http://schemas.microsoft.com/office/powerpoint/2010/main" val="4830326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5" y="1"/>
            <a:ext cx="10515600" cy="494522"/>
          </a:xfrm>
        </p:spPr>
        <p:txBody>
          <a:bodyPr>
            <a:normAutofit fontScale="90000"/>
          </a:bodyPr>
          <a:lstStyle/>
          <a:p>
            <a:r>
              <a:rPr lang="en-US" dirty="0" smtClean="0"/>
              <a:t>DBSCAN Example</a:t>
            </a:r>
            <a:endParaRPr lang="en-IN" dirty="0"/>
          </a:p>
        </p:txBody>
      </p:sp>
      <p:pic>
        <p:nvPicPr>
          <p:cNvPr id="3" name="Picture 2"/>
          <p:cNvPicPr>
            <a:picLocks noChangeAspect="1"/>
          </p:cNvPicPr>
          <p:nvPr/>
        </p:nvPicPr>
        <p:blipFill>
          <a:blip r:embed="rId2"/>
          <a:stretch>
            <a:fillRect/>
          </a:stretch>
        </p:blipFill>
        <p:spPr>
          <a:xfrm>
            <a:off x="259943" y="706887"/>
            <a:ext cx="6560735" cy="2212907"/>
          </a:xfrm>
          <a:prstGeom prst="rect">
            <a:avLst/>
          </a:prstGeom>
        </p:spPr>
      </p:pic>
      <p:pic>
        <p:nvPicPr>
          <p:cNvPr id="10" name="Picture 9"/>
          <p:cNvPicPr>
            <a:picLocks noChangeAspect="1"/>
          </p:cNvPicPr>
          <p:nvPr/>
        </p:nvPicPr>
        <p:blipFill>
          <a:blip r:embed="rId3"/>
          <a:stretch>
            <a:fillRect/>
          </a:stretch>
        </p:blipFill>
        <p:spPr>
          <a:xfrm>
            <a:off x="259943" y="3132158"/>
            <a:ext cx="6560735" cy="3224573"/>
          </a:xfrm>
          <a:prstGeom prst="rect">
            <a:avLst/>
          </a:prstGeom>
        </p:spPr>
      </p:pic>
    </p:spTree>
    <p:extLst>
      <p:ext uri="{BB962C8B-B14F-4D97-AF65-F5344CB8AC3E}">
        <p14:creationId xmlns:p14="http://schemas.microsoft.com/office/powerpoint/2010/main" val="167729717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cxnSp>
        <p:nvCxnSpPr>
          <p:cNvPr id="598" name="Google Shape;598;p58"/>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599" name="Google Shape;599;p58"/>
          <p:cNvSpPr txBox="1"/>
          <p:nvPr/>
        </p:nvSpPr>
        <p:spPr>
          <a:xfrm>
            <a:off x="546756" y="7545"/>
            <a:ext cx="2122119"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Example</a:t>
            </a:r>
            <a:endParaRPr sz="4400">
              <a:solidFill>
                <a:schemeClr val="lt1"/>
              </a:solidFill>
              <a:latin typeface="Calibri"/>
              <a:ea typeface="Calibri"/>
              <a:cs typeface="Calibri"/>
              <a:sym typeface="Calibri"/>
            </a:endParaRPr>
          </a:p>
        </p:txBody>
      </p:sp>
      <p:sp>
        <p:nvSpPr>
          <p:cNvPr id="600" name="Google Shape;600;p58"/>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01" name="Google Shape;601;p58"/>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602" name="Google Shape;602;p58"/>
          <p:cNvGraphicFramePr/>
          <p:nvPr/>
        </p:nvGraphicFramePr>
        <p:xfrm>
          <a:off x="1726775" y="1451048"/>
          <a:ext cx="8525075" cy="4821050"/>
        </p:xfrm>
        <a:graphic>
          <a:graphicData uri="http://schemas.openxmlformats.org/drawingml/2006/table">
            <a:tbl>
              <a:tblPr firstRow="1" bandRow="1">
                <a:noFill/>
                <a:tableStyleId>{3F061DAE-B09F-43A1-B523-6D36B2647786}</a:tableStyleId>
              </a:tblPr>
              <a:tblGrid>
                <a:gridCol w="655775">
                  <a:extLst>
                    <a:ext uri="{9D8B030D-6E8A-4147-A177-3AD203B41FA5}">
                      <a16:colId xmlns:a16="http://schemas.microsoft.com/office/drawing/2014/main" val="20000"/>
                    </a:ext>
                  </a:extLst>
                </a:gridCol>
                <a:gridCol w="655775">
                  <a:extLst>
                    <a:ext uri="{9D8B030D-6E8A-4147-A177-3AD203B41FA5}">
                      <a16:colId xmlns:a16="http://schemas.microsoft.com/office/drawing/2014/main" val="20001"/>
                    </a:ext>
                  </a:extLst>
                </a:gridCol>
                <a:gridCol w="655775">
                  <a:extLst>
                    <a:ext uri="{9D8B030D-6E8A-4147-A177-3AD203B41FA5}">
                      <a16:colId xmlns:a16="http://schemas.microsoft.com/office/drawing/2014/main" val="20002"/>
                    </a:ext>
                  </a:extLst>
                </a:gridCol>
                <a:gridCol w="655775">
                  <a:extLst>
                    <a:ext uri="{9D8B030D-6E8A-4147-A177-3AD203B41FA5}">
                      <a16:colId xmlns:a16="http://schemas.microsoft.com/office/drawing/2014/main" val="20003"/>
                    </a:ext>
                  </a:extLst>
                </a:gridCol>
                <a:gridCol w="655775">
                  <a:extLst>
                    <a:ext uri="{9D8B030D-6E8A-4147-A177-3AD203B41FA5}">
                      <a16:colId xmlns:a16="http://schemas.microsoft.com/office/drawing/2014/main" val="20004"/>
                    </a:ext>
                  </a:extLst>
                </a:gridCol>
                <a:gridCol w="655775">
                  <a:extLst>
                    <a:ext uri="{9D8B030D-6E8A-4147-A177-3AD203B41FA5}">
                      <a16:colId xmlns:a16="http://schemas.microsoft.com/office/drawing/2014/main" val="20005"/>
                    </a:ext>
                  </a:extLst>
                </a:gridCol>
                <a:gridCol w="655775">
                  <a:extLst>
                    <a:ext uri="{9D8B030D-6E8A-4147-A177-3AD203B41FA5}">
                      <a16:colId xmlns:a16="http://schemas.microsoft.com/office/drawing/2014/main" val="20006"/>
                    </a:ext>
                  </a:extLst>
                </a:gridCol>
                <a:gridCol w="655775">
                  <a:extLst>
                    <a:ext uri="{9D8B030D-6E8A-4147-A177-3AD203B41FA5}">
                      <a16:colId xmlns:a16="http://schemas.microsoft.com/office/drawing/2014/main" val="20007"/>
                    </a:ext>
                  </a:extLst>
                </a:gridCol>
                <a:gridCol w="655775">
                  <a:extLst>
                    <a:ext uri="{9D8B030D-6E8A-4147-A177-3AD203B41FA5}">
                      <a16:colId xmlns:a16="http://schemas.microsoft.com/office/drawing/2014/main" val="20008"/>
                    </a:ext>
                  </a:extLst>
                </a:gridCol>
                <a:gridCol w="655775">
                  <a:extLst>
                    <a:ext uri="{9D8B030D-6E8A-4147-A177-3AD203B41FA5}">
                      <a16:colId xmlns:a16="http://schemas.microsoft.com/office/drawing/2014/main" val="20009"/>
                    </a:ext>
                  </a:extLst>
                </a:gridCol>
                <a:gridCol w="655775">
                  <a:extLst>
                    <a:ext uri="{9D8B030D-6E8A-4147-A177-3AD203B41FA5}">
                      <a16:colId xmlns:a16="http://schemas.microsoft.com/office/drawing/2014/main" val="20010"/>
                    </a:ext>
                  </a:extLst>
                </a:gridCol>
                <a:gridCol w="655775">
                  <a:extLst>
                    <a:ext uri="{9D8B030D-6E8A-4147-A177-3AD203B41FA5}">
                      <a16:colId xmlns:a16="http://schemas.microsoft.com/office/drawing/2014/main" val="20011"/>
                    </a:ext>
                  </a:extLst>
                </a:gridCol>
                <a:gridCol w="655775">
                  <a:extLst>
                    <a:ext uri="{9D8B030D-6E8A-4147-A177-3AD203B41FA5}">
                      <a16:colId xmlns:a16="http://schemas.microsoft.com/office/drawing/2014/main" val="20012"/>
                    </a:ext>
                  </a:extLst>
                </a:gridCol>
              </a:tblGrid>
              <a:tr h="370850">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P1</a:t>
                      </a:r>
                      <a:endParaRPr sz="1800"/>
                    </a:p>
                  </a:txBody>
                  <a:tcPr marL="91450" marR="91450" marT="45725" marB="45725"/>
                </a:tc>
                <a:tc>
                  <a:txBody>
                    <a:bodyPr/>
                    <a:lstStyle/>
                    <a:p>
                      <a:pPr marL="0" marR="0" lvl="0" indent="0" algn="l" rtl="0">
                        <a:spcBef>
                          <a:spcPts val="0"/>
                        </a:spcBef>
                        <a:spcAft>
                          <a:spcPts val="0"/>
                        </a:spcAft>
                        <a:buNone/>
                      </a:pPr>
                      <a:r>
                        <a:rPr lang="en-US" sz="1800"/>
                        <a:t>P2</a:t>
                      </a:r>
                      <a:endParaRPr sz="1800"/>
                    </a:p>
                  </a:txBody>
                  <a:tcPr marL="91450" marR="91450" marT="45725" marB="45725"/>
                </a:tc>
                <a:tc>
                  <a:txBody>
                    <a:bodyPr/>
                    <a:lstStyle/>
                    <a:p>
                      <a:pPr marL="0" marR="0" lvl="0" indent="0" algn="l" rtl="0">
                        <a:spcBef>
                          <a:spcPts val="0"/>
                        </a:spcBef>
                        <a:spcAft>
                          <a:spcPts val="0"/>
                        </a:spcAft>
                        <a:buNone/>
                      </a:pPr>
                      <a:r>
                        <a:rPr lang="en-US" sz="1800"/>
                        <a:t>P3</a:t>
                      </a:r>
                      <a:endParaRPr sz="1800"/>
                    </a:p>
                  </a:txBody>
                  <a:tcPr marL="91450" marR="91450" marT="45725" marB="45725"/>
                </a:tc>
                <a:tc>
                  <a:txBody>
                    <a:bodyPr/>
                    <a:lstStyle/>
                    <a:p>
                      <a:pPr marL="0" marR="0" lvl="0" indent="0" algn="l" rtl="0">
                        <a:spcBef>
                          <a:spcPts val="0"/>
                        </a:spcBef>
                        <a:spcAft>
                          <a:spcPts val="0"/>
                        </a:spcAft>
                        <a:buNone/>
                      </a:pPr>
                      <a:r>
                        <a:rPr lang="en-US" sz="1800"/>
                        <a:t>P4</a:t>
                      </a:r>
                      <a:endParaRPr sz="1800"/>
                    </a:p>
                  </a:txBody>
                  <a:tcPr marL="91450" marR="91450" marT="45725" marB="45725"/>
                </a:tc>
                <a:tc>
                  <a:txBody>
                    <a:bodyPr/>
                    <a:lstStyle/>
                    <a:p>
                      <a:pPr marL="0" marR="0" lvl="0" indent="0" algn="l" rtl="0">
                        <a:spcBef>
                          <a:spcPts val="0"/>
                        </a:spcBef>
                        <a:spcAft>
                          <a:spcPts val="0"/>
                        </a:spcAft>
                        <a:buNone/>
                      </a:pPr>
                      <a:r>
                        <a:rPr lang="en-US" sz="1800"/>
                        <a:t>P5</a:t>
                      </a:r>
                      <a:endParaRPr sz="1800"/>
                    </a:p>
                  </a:txBody>
                  <a:tcPr marL="91450" marR="91450" marT="45725" marB="45725"/>
                </a:tc>
                <a:tc>
                  <a:txBody>
                    <a:bodyPr/>
                    <a:lstStyle/>
                    <a:p>
                      <a:pPr marL="0" marR="0" lvl="0" indent="0" algn="l" rtl="0">
                        <a:spcBef>
                          <a:spcPts val="0"/>
                        </a:spcBef>
                        <a:spcAft>
                          <a:spcPts val="0"/>
                        </a:spcAft>
                        <a:buNone/>
                      </a:pPr>
                      <a:r>
                        <a:rPr lang="en-US" sz="1800"/>
                        <a:t>P6</a:t>
                      </a:r>
                      <a:endParaRPr sz="1800"/>
                    </a:p>
                  </a:txBody>
                  <a:tcPr marL="91450" marR="91450" marT="45725" marB="45725"/>
                </a:tc>
                <a:tc>
                  <a:txBody>
                    <a:bodyPr/>
                    <a:lstStyle/>
                    <a:p>
                      <a:pPr marL="0" marR="0" lvl="0" indent="0" algn="l" rtl="0">
                        <a:spcBef>
                          <a:spcPts val="0"/>
                        </a:spcBef>
                        <a:spcAft>
                          <a:spcPts val="0"/>
                        </a:spcAft>
                        <a:buNone/>
                      </a:pPr>
                      <a:r>
                        <a:rPr lang="en-US" sz="1800"/>
                        <a:t>P7</a:t>
                      </a:r>
                      <a:endParaRPr sz="1800"/>
                    </a:p>
                  </a:txBody>
                  <a:tcPr marL="91450" marR="91450" marT="45725" marB="45725"/>
                </a:tc>
                <a:tc>
                  <a:txBody>
                    <a:bodyPr/>
                    <a:lstStyle/>
                    <a:p>
                      <a:pPr marL="0" marR="0" lvl="0" indent="0" algn="l" rtl="0">
                        <a:spcBef>
                          <a:spcPts val="0"/>
                        </a:spcBef>
                        <a:spcAft>
                          <a:spcPts val="0"/>
                        </a:spcAft>
                        <a:buNone/>
                      </a:pPr>
                      <a:r>
                        <a:rPr lang="en-US" sz="1800"/>
                        <a:t>P8</a:t>
                      </a:r>
                      <a:endParaRPr sz="1800"/>
                    </a:p>
                  </a:txBody>
                  <a:tcPr marL="91450" marR="91450" marT="45725" marB="45725"/>
                </a:tc>
                <a:tc>
                  <a:txBody>
                    <a:bodyPr/>
                    <a:lstStyle/>
                    <a:p>
                      <a:pPr marL="0" marR="0" lvl="0" indent="0" algn="l" rtl="0">
                        <a:spcBef>
                          <a:spcPts val="0"/>
                        </a:spcBef>
                        <a:spcAft>
                          <a:spcPts val="0"/>
                        </a:spcAft>
                        <a:buNone/>
                      </a:pPr>
                      <a:r>
                        <a:rPr lang="en-US" sz="1800"/>
                        <a:t>P9</a:t>
                      </a:r>
                      <a:endParaRPr sz="1800"/>
                    </a:p>
                  </a:txBody>
                  <a:tcPr marL="91450" marR="91450" marT="45725" marB="45725"/>
                </a:tc>
                <a:tc>
                  <a:txBody>
                    <a:bodyPr/>
                    <a:lstStyle/>
                    <a:p>
                      <a:pPr marL="0" marR="0" lvl="0" indent="0" algn="l" rtl="0">
                        <a:spcBef>
                          <a:spcPts val="0"/>
                        </a:spcBef>
                        <a:spcAft>
                          <a:spcPts val="0"/>
                        </a:spcAft>
                        <a:buNone/>
                      </a:pPr>
                      <a:r>
                        <a:rPr lang="en-US" sz="1800"/>
                        <a:t>P10</a:t>
                      </a:r>
                      <a:endParaRPr sz="1800"/>
                    </a:p>
                  </a:txBody>
                  <a:tcPr marL="91450" marR="91450" marT="45725" marB="45725"/>
                </a:tc>
                <a:tc>
                  <a:txBody>
                    <a:bodyPr/>
                    <a:lstStyle/>
                    <a:p>
                      <a:pPr marL="0" marR="0" lvl="0" indent="0" algn="l" rtl="0">
                        <a:spcBef>
                          <a:spcPts val="0"/>
                        </a:spcBef>
                        <a:spcAft>
                          <a:spcPts val="0"/>
                        </a:spcAft>
                        <a:buNone/>
                      </a:pPr>
                      <a:r>
                        <a:rPr lang="en-US" sz="1800"/>
                        <a:t>P11</a:t>
                      </a:r>
                      <a:endParaRPr sz="1800"/>
                    </a:p>
                  </a:txBody>
                  <a:tcPr marL="91450" marR="91450" marT="45725" marB="45725"/>
                </a:tc>
                <a:tc>
                  <a:txBody>
                    <a:bodyPr/>
                    <a:lstStyle/>
                    <a:p>
                      <a:pPr marL="0" marR="0" lvl="0" indent="0" algn="l" rtl="0">
                        <a:spcBef>
                          <a:spcPts val="0"/>
                        </a:spcBef>
                        <a:spcAft>
                          <a:spcPts val="0"/>
                        </a:spcAft>
                        <a:buNone/>
                      </a:pPr>
                      <a:r>
                        <a:rPr lang="en-US" sz="1800"/>
                        <a:t>P12</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P1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P2</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P3</a:t>
                      </a:r>
                      <a:endParaRPr sz="1800"/>
                    </a:p>
                  </a:txBody>
                  <a:tcPr marL="91450" marR="91450" marT="45725" marB="45725"/>
                </a:tc>
                <a:tc>
                  <a:txBody>
                    <a:bodyPr/>
                    <a:lstStyle/>
                    <a:p>
                      <a:pPr marL="0" marR="0" lvl="0" indent="0" algn="l" rtl="0">
                        <a:spcBef>
                          <a:spcPts val="0"/>
                        </a:spcBef>
                        <a:spcAft>
                          <a:spcPts val="0"/>
                        </a:spcAft>
                        <a:buNone/>
                      </a:pPr>
                      <a:r>
                        <a:rPr lang="en-US" sz="1800"/>
                        <a:t>2.83</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P4</a:t>
                      </a:r>
                      <a:endParaRPr sz="1800"/>
                    </a:p>
                  </a:txBody>
                  <a:tcPr marL="91450" marR="91450" marT="45725" marB="45725"/>
                </a:tc>
                <a:tc>
                  <a:txBody>
                    <a:bodyPr/>
                    <a:lstStyle/>
                    <a:p>
                      <a:pPr marL="0" marR="0" lvl="0" indent="0" algn="l" rtl="0">
                        <a:spcBef>
                          <a:spcPts val="0"/>
                        </a:spcBef>
                        <a:spcAft>
                          <a:spcPts val="0"/>
                        </a:spcAft>
                        <a:buNone/>
                      </a:pPr>
                      <a:r>
                        <a:rPr lang="en-US" sz="1800"/>
                        <a:t>4.24</a:t>
                      </a:r>
                      <a:endParaRPr sz="1800"/>
                    </a:p>
                  </a:txBody>
                  <a:tcPr marL="91450" marR="91450" marT="45725" marB="45725"/>
                </a:tc>
                <a:tc>
                  <a:txBody>
                    <a:bodyPr/>
                    <a:lstStyle/>
                    <a:p>
                      <a:pPr marL="0" marR="0" lvl="0" indent="0" algn="l" rtl="0">
                        <a:spcBef>
                          <a:spcPts val="0"/>
                        </a:spcBef>
                        <a:spcAft>
                          <a:spcPts val="0"/>
                        </a:spcAft>
                        <a:buNone/>
                      </a:pPr>
                      <a:r>
                        <a:rPr lang="en-US" sz="1800"/>
                        <a:t>2.83</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P5</a:t>
                      </a:r>
                      <a:endParaRPr sz="1800"/>
                    </a:p>
                  </a:txBody>
                  <a:tcPr marL="91450" marR="91450" marT="45725" marB="45725"/>
                </a:tc>
                <a:tc>
                  <a:txBody>
                    <a:bodyPr/>
                    <a:lstStyle/>
                    <a:p>
                      <a:pPr marL="0" marR="0" lvl="0" indent="0" algn="l" rtl="0">
                        <a:spcBef>
                          <a:spcPts val="0"/>
                        </a:spcBef>
                        <a:spcAft>
                          <a:spcPts val="0"/>
                        </a:spcAft>
                        <a:buNone/>
                      </a:pPr>
                      <a:r>
                        <a:rPr lang="en-US" sz="1800"/>
                        <a:t>5.66</a:t>
                      </a:r>
                      <a:endParaRPr sz="1800"/>
                    </a:p>
                  </a:txBody>
                  <a:tcPr marL="91450" marR="91450" marT="45725" marB="45725"/>
                </a:tc>
                <a:tc>
                  <a:txBody>
                    <a:bodyPr/>
                    <a:lstStyle/>
                    <a:p>
                      <a:pPr marL="0" marR="0" lvl="0" indent="0" algn="l" rtl="0">
                        <a:spcBef>
                          <a:spcPts val="0"/>
                        </a:spcBef>
                        <a:spcAft>
                          <a:spcPts val="0"/>
                        </a:spcAft>
                        <a:buNone/>
                      </a:pPr>
                      <a:r>
                        <a:rPr lang="en-US" sz="1800"/>
                        <a:t>4.24</a:t>
                      </a:r>
                      <a:endParaRPr sz="1800"/>
                    </a:p>
                  </a:txBody>
                  <a:tcPr marL="91450" marR="91450" marT="45725" marB="45725"/>
                </a:tc>
                <a:tc>
                  <a:txBody>
                    <a:bodyPr/>
                    <a:lstStyle/>
                    <a:p>
                      <a:pPr marL="0" marR="0" lvl="0" indent="0" algn="l" rtl="0">
                        <a:spcBef>
                          <a:spcPts val="0"/>
                        </a:spcBef>
                        <a:spcAft>
                          <a:spcPts val="0"/>
                        </a:spcAft>
                        <a:buNone/>
                      </a:pPr>
                      <a:r>
                        <a:rPr lang="en-US" sz="1800"/>
                        <a:t>2.83</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P6</a:t>
                      </a:r>
                      <a:endParaRPr sz="1800"/>
                    </a:p>
                  </a:txBody>
                  <a:tcPr marL="91450" marR="91450" marT="45725" marB="45725"/>
                </a:tc>
                <a:tc>
                  <a:txBody>
                    <a:bodyPr/>
                    <a:lstStyle/>
                    <a:p>
                      <a:pPr marL="0" marR="0" lvl="0" indent="0" algn="l" rtl="0">
                        <a:spcBef>
                          <a:spcPts val="0"/>
                        </a:spcBef>
                        <a:spcAft>
                          <a:spcPts val="0"/>
                        </a:spcAft>
                        <a:buNone/>
                      </a:pPr>
                      <a:r>
                        <a:rPr lang="en-US" sz="1800"/>
                        <a:t>5.83</a:t>
                      </a:r>
                      <a:endParaRPr sz="1800"/>
                    </a:p>
                  </a:txBody>
                  <a:tcPr marL="91450" marR="91450" marT="45725" marB="45725"/>
                </a:tc>
                <a:tc>
                  <a:txBody>
                    <a:bodyPr/>
                    <a:lstStyle/>
                    <a:p>
                      <a:pPr marL="0" marR="0" lvl="0" indent="0" algn="l" rtl="0">
                        <a:spcBef>
                          <a:spcPts val="0"/>
                        </a:spcBef>
                        <a:spcAft>
                          <a:spcPts val="0"/>
                        </a:spcAft>
                        <a:buNone/>
                      </a:pPr>
                      <a:r>
                        <a:rPr lang="en-US" sz="1800"/>
                        <a:t>4.47</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P7</a:t>
                      </a:r>
                      <a:endParaRPr sz="1800"/>
                    </a:p>
                  </a:txBody>
                  <a:tcPr marL="91450" marR="91450" marT="45725" marB="45725"/>
                </a:tc>
                <a:tc>
                  <a:txBody>
                    <a:bodyPr/>
                    <a:lstStyle/>
                    <a:p>
                      <a:pPr marL="0" marR="0" lvl="0" indent="0" algn="l" rtl="0">
                        <a:spcBef>
                          <a:spcPts val="0"/>
                        </a:spcBef>
                        <a:spcAft>
                          <a:spcPts val="0"/>
                        </a:spcAft>
                        <a:buNone/>
                      </a:pPr>
                      <a:r>
                        <a:rPr lang="en-US" sz="1800"/>
                        <a:t>6.40</a:t>
                      </a:r>
                      <a:endParaRPr sz="1800"/>
                    </a:p>
                  </a:txBody>
                  <a:tcPr marL="91450" marR="91450" marT="45725" marB="45725"/>
                </a:tc>
                <a:tc>
                  <a:txBody>
                    <a:bodyPr/>
                    <a:lstStyle/>
                    <a:p>
                      <a:pPr marL="0" marR="0" lvl="0" indent="0" algn="l" rtl="0">
                        <a:spcBef>
                          <a:spcPts val="0"/>
                        </a:spcBef>
                        <a:spcAft>
                          <a:spcPts val="0"/>
                        </a:spcAft>
                        <a:buNone/>
                      </a:pPr>
                      <a:r>
                        <a:rPr lang="en-US" sz="1800"/>
                        <a:t>5.00</a:t>
                      </a:r>
                      <a:endParaRPr sz="1800"/>
                    </a:p>
                  </a:txBody>
                  <a:tcPr marL="91450" marR="91450" marT="45725" marB="45725"/>
                </a:tc>
                <a:tc>
                  <a:txBody>
                    <a:bodyPr/>
                    <a:lstStyle/>
                    <a:p>
                      <a:pPr marL="0" marR="0" lvl="0" indent="0" algn="l" rtl="0">
                        <a:spcBef>
                          <a:spcPts val="0"/>
                        </a:spcBef>
                        <a:spcAft>
                          <a:spcPts val="0"/>
                        </a:spcAft>
                        <a:buNone/>
                      </a:pPr>
                      <a:r>
                        <a:rPr lang="en-US" sz="1800"/>
                        <a:t>3.61</a:t>
                      </a:r>
                      <a:endParaRPr sz="1800"/>
                    </a:p>
                  </a:txBody>
                  <a:tcPr marL="91450" marR="91450" marT="45725" marB="45725"/>
                </a:tc>
                <a:tc>
                  <a:txBody>
                    <a:bodyPr/>
                    <a:lstStyle/>
                    <a:p>
                      <a:pPr marL="0" marR="0" lvl="0" indent="0" algn="l" rtl="0">
                        <a:spcBef>
                          <a:spcPts val="0"/>
                        </a:spcBef>
                        <a:spcAft>
                          <a:spcPts val="0"/>
                        </a:spcAft>
                        <a:buNone/>
                      </a:pPr>
                      <a:r>
                        <a:rPr lang="en-US" sz="1800"/>
                        <a:t>2.24</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c>
                  <a:txBody>
                    <a:bodyPr/>
                    <a:lstStyle/>
                    <a:p>
                      <a:pPr marL="0" marR="0" lvl="0" indent="0" algn="l" rtl="0">
                        <a:spcBef>
                          <a:spcPts val="0"/>
                        </a:spcBef>
                        <a:spcAft>
                          <a:spcPts val="0"/>
                        </a:spcAft>
                        <a:buNone/>
                      </a:pPr>
                      <a:r>
                        <a:rPr lang="en-US" sz="1800"/>
                        <a:t>1.00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t>P8</a:t>
                      </a:r>
                      <a:endParaRPr sz="1800"/>
                    </a:p>
                  </a:txBody>
                  <a:tcPr marL="91450" marR="91450" marT="45725" marB="45725"/>
                </a:tc>
                <a:tc>
                  <a:txBody>
                    <a:bodyPr/>
                    <a:lstStyle/>
                    <a:p>
                      <a:pPr marL="0" marR="0" lvl="0" indent="0" algn="l" rtl="0">
                        <a:spcBef>
                          <a:spcPts val="0"/>
                        </a:spcBef>
                        <a:spcAft>
                          <a:spcPts val="0"/>
                        </a:spcAft>
                        <a:buNone/>
                      </a:pPr>
                      <a:r>
                        <a:rPr lang="en-US" sz="1800"/>
                        <a:t>5.83</a:t>
                      </a:r>
                      <a:endParaRPr sz="1800"/>
                    </a:p>
                  </a:txBody>
                  <a:tcPr marL="91450" marR="91450" marT="45725" marB="45725"/>
                </a:tc>
                <a:tc>
                  <a:txBody>
                    <a:bodyPr/>
                    <a:lstStyle/>
                    <a:p>
                      <a:pPr marL="0" marR="0" lvl="0" indent="0" algn="l" rtl="0">
                        <a:spcBef>
                          <a:spcPts val="0"/>
                        </a:spcBef>
                        <a:spcAft>
                          <a:spcPts val="0"/>
                        </a:spcAft>
                        <a:buNone/>
                      </a:pPr>
                      <a:r>
                        <a:rPr lang="en-US" sz="1800"/>
                        <a:t>4.47</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2.83</a:t>
                      </a:r>
                      <a:endParaRPr sz="1800"/>
                    </a:p>
                  </a:txBody>
                  <a:tcPr marL="91450" marR="91450" marT="45725" marB="45725"/>
                </a:tc>
                <a:tc>
                  <a:txBody>
                    <a:bodyPr/>
                    <a:lstStyle/>
                    <a:p>
                      <a:pPr marL="0" marR="0" lvl="0" indent="0" algn="l" rtl="0">
                        <a:spcBef>
                          <a:spcPts val="0"/>
                        </a:spcBef>
                        <a:spcAft>
                          <a:spcPts val="0"/>
                        </a:spcAft>
                        <a:buNone/>
                      </a:pPr>
                      <a:r>
                        <a:rPr lang="en-US" sz="1800"/>
                        <a:t>2.24</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t>P9</a:t>
                      </a:r>
                      <a:endParaRPr sz="1800"/>
                    </a:p>
                  </a:txBody>
                  <a:tcPr marL="91450" marR="91450" marT="45725" marB="45725"/>
                </a:tc>
                <a:tc>
                  <a:txBody>
                    <a:bodyPr/>
                    <a:lstStyle/>
                    <a:p>
                      <a:pPr marL="0" marR="0" lvl="0" indent="0" algn="l" rtl="0">
                        <a:spcBef>
                          <a:spcPts val="0"/>
                        </a:spcBef>
                        <a:spcAft>
                          <a:spcPts val="0"/>
                        </a:spcAft>
                        <a:buNone/>
                      </a:pPr>
                      <a:r>
                        <a:rPr lang="en-US" sz="1800"/>
                        <a:t>4.00</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2.83</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4.00</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4.12</a:t>
                      </a:r>
                      <a:endParaRPr sz="1800"/>
                    </a:p>
                  </a:txBody>
                  <a:tcPr marL="91450" marR="91450" marT="45725" marB="45725"/>
                </a:tc>
                <a:tc>
                  <a:txBody>
                    <a:bodyPr/>
                    <a:lstStyle/>
                    <a:p>
                      <a:pPr marL="0" marR="0" lvl="0" indent="0" algn="l" rtl="0">
                        <a:spcBef>
                          <a:spcPts val="0"/>
                        </a:spcBef>
                        <a:spcAft>
                          <a:spcPts val="0"/>
                        </a:spcAft>
                        <a:buNone/>
                      </a:pPr>
                      <a:r>
                        <a:rPr lang="en-US" sz="1800"/>
                        <a:t>5.10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spcBef>
                          <a:spcPts val="0"/>
                        </a:spcBef>
                        <a:spcAft>
                          <a:spcPts val="0"/>
                        </a:spcAft>
                        <a:buNone/>
                      </a:pPr>
                      <a:r>
                        <a:rPr lang="en-US" sz="1800"/>
                        <a:t>P10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4.47</a:t>
                      </a:r>
                      <a:endParaRPr sz="1800"/>
                    </a:p>
                  </a:txBody>
                  <a:tcPr marL="91450" marR="91450" marT="45725" marB="45725"/>
                </a:tc>
                <a:tc>
                  <a:txBody>
                    <a:bodyPr/>
                    <a:lstStyle/>
                    <a:p>
                      <a:pPr marL="0" marR="0" lvl="0" indent="0" algn="l" rtl="0">
                        <a:spcBef>
                          <a:spcPts val="0"/>
                        </a:spcBef>
                        <a:spcAft>
                          <a:spcPts val="0"/>
                        </a:spcAft>
                        <a:buNone/>
                      </a:pPr>
                      <a:r>
                        <a:rPr lang="en-US" sz="1800"/>
                        <a:t>5.83</a:t>
                      </a:r>
                      <a:endParaRPr sz="1800"/>
                    </a:p>
                  </a:txBody>
                  <a:tcPr marL="91450" marR="91450" marT="45725" marB="45725"/>
                </a:tc>
                <a:tc>
                  <a:txBody>
                    <a:bodyPr/>
                    <a:lstStyle/>
                    <a:p>
                      <a:pPr marL="0" marR="0" lvl="0" indent="0" algn="l" rtl="0">
                        <a:spcBef>
                          <a:spcPts val="0"/>
                        </a:spcBef>
                        <a:spcAft>
                          <a:spcPts val="0"/>
                        </a:spcAft>
                        <a:buNone/>
                      </a:pPr>
                      <a:r>
                        <a:rPr lang="en-US" sz="1800"/>
                        <a:t>5.66</a:t>
                      </a:r>
                      <a:endParaRPr sz="1800"/>
                    </a:p>
                  </a:txBody>
                  <a:tcPr marL="91450" marR="91450" marT="45725" marB="45725"/>
                </a:tc>
                <a:tc>
                  <a:txBody>
                    <a:bodyPr/>
                    <a:lstStyle/>
                    <a:p>
                      <a:pPr marL="0" marR="0" lvl="0" indent="0" algn="l" rtl="0">
                        <a:spcBef>
                          <a:spcPts val="0"/>
                        </a:spcBef>
                        <a:spcAft>
                          <a:spcPts val="0"/>
                        </a:spcAft>
                        <a:buNone/>
                      </a:pPr>
                      <a:r>
                        <a:rPr lang="en-US" sz="1800"/>
                        <a:t>6.40</a:t>
                      </a:r>
                      <a:endParaRPr sz="1800"/>
                    </a:p>
                  </a:txBody>
                  <a:tcPr marL="91450" marR="91450" marT="45725" marB="45725"/>
                </a:tc>
                <a:tc>
                  <a:txBody>
                    <a:bodyPr/>
                    <a:lstStyle/>
                    <a:p>
                      <a:pPr marL="0" marR="0" lvl="0" indent="0" algn="l" rtl="0">
                        <a:spcBef>
                          <a:spcPts val="0"/>
                        </a:spcBef>
                        <a:spcAft>
                          <a:spcPts val="0"/>
                        </a:spcAft>
                        <a:buNone/>
                      </a:pPr>
                      <a:r>
                        <a:rPr lang="en-US" sz="1800"/>
                        <a:t>6.32</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10"/>
                  </a:ext>
                </a:extLst>
              </a:tr>
              <a:tr h="370850">
                <a:tc>
                  <a:txBody>
                    <a:bodyPr/>
                    <a:lstStyle/>
                    <a:p>
                      <a:pPr marL="0" marR="0" lvl="0" indent="0" algn="l" rtl="0">
                        <a:spcBef>
                          <a:spcPts val="0"/>
                        </a:spcBef>
                        <a:spcAft>
                          <a:spcPts val="0"/>
                        </a:spcAft>
                        <a:buNone/>
                      </a:pPr>
                      <a:r>
                        <a:rPr lang="en-US" sz="1800"/>
                        <a:t>P11</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4.47</a:t>
                      </a:r>
                      <a:endParaRPr sz="1800"/>
                    </a:p>
                  </a:txBody>
                  <a:tcPr marL="91450" marR="91450" marT="45725" marB="45725"/>
                </a:tc>
                <a:tc>
                  <a:txBody>
                    <a:bodyPr/>
                    <a:lstStyle/>
                    <a:p>
                      <a:pPr marL="0" marR="0" lvl="0" indent="0" algn="l" rtl="0">
                        <a:spcBef>
                          <a:spcPts val="0"/>
                        </a:spcBef>
                        <a:spcAft>
                          <a:spcPts val="0"/>
                        </a:spcAft>
                        <a:buNone/>
                      </a:pPr>
                      <a:r>
                        <a:rPr lang="en-US" sz="1800"/>
                        <a:t>4.24</a:t>
                      </a:r>
                      <a:endParaRPr sz="1800"/>
                    </a:p>
                  </a:txBody>
                  <a:tcPr marL="91450" marR="91450" marT="45725" marB="45725"/>
                </a:tc>
                <a:tc>
                  <a:txBody>
                    <a:bodyPr/>
                    <a:lstStyle/>
                    <a:p>
                      <a:pPr marL="0" marR="0" lvl="0" indent="0" algn="l" rtl="0">
                        <a:spcBef>
                          <a:spcPts val="0"/>
                        </a:spcBef>
                        <a:spcAft>
                          <a:spcPts val="0"/>
                        </a:spcAft>
                        <a:buNone/>
                      </a:pPr>
                      <a:r>
                        <a:rPr lang="en-US" sz="1800"/>
                        <a:t>5.00</a:t>
                      </a:r>
                      <a:endParaRPr sz="1800"/>
                    </a:p>
                  </a:txBody>
                  <a:tcPr marL="91450" marR="91450" marT="45725" marB="45725"/>
                </a:tc>
                <a:tc>
                  <a:txBody>
                    <a:bodyPr/>
                    <a:lstStyle/>
                    <a:p>
                      <a:pPr marL="0" marR="0" lvl="0" indent="0" algn="l" rtl="0">
                        <a:spcBef>
                          <a:spcPts val="0"/>
                        </a:spcBef>
                        <a:spcAft>
                          <a:spcPts val="0"/>
                        </a:spcAft>
                        <a:buNone/>
                      </a:pPr>
                      <a:r>
                        <a:rPr lang="en-US" sz="1800"/>
                        <a:t>5.10</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11"/>
                  </a:ext>
                </a:extLst>
              </a:tr>
              <a:tr h="370850">
                <a:tc>
                  <a:txBody>
                    <a:bodyPr/>
                    <a:lstStyle/>
                    <a:p>
                      <a:pPr marL="0" marR="0" lvl="0" indent="0" algn="l" rtl="0">
                        <a:spcBef>
                          <a:spcPts val="0"/>
                        </a:spcBef>
                        <a:spcAft>
                          <a:spcPts val="0"/>
                        </a:spcAft>
                        <a:buNone/>
                      </a:pPr>
                      <a:r>
                        <a:rPr lang="en-US" sz="1800"/>
                        <a:t>P12</a:t>
                      </a:r>
                      <a:endParaRPr sz="1800"/>
                    </a:p>
                  </a:txBody>
                  <a:tcPr marL="91450" marR="91450" marT="45725" marB="45725"/>
                </a:tc>
                <a:tc>
                  <a:txBody>
                    <a:bodyPr/>
                    <a:lstStyle/>
                    <a:p>
                      <a:pPr marL="0" marR="0" lvl="0" indent="0" algn="l" rtl="0">
                        <a:spcBef>
                          <a:spcPts val="0"/>
                        </a:spcBef>
                        <a:spcAft>
                          <a:spcPts val="0"/>
                        </a:spcAft>
                        <a:buNone/>
                      </a:pPr>
                      <a:r>
                        <a:rPr lang="en-US" sz="1800"/>
                        <a:t>3.16</a:t>
                      </a:r>
                      <a:endParaRPr sz="1800"/>
                    </a:p>
                  </a:txBody>
                  <a:tcPr marL="91450" marR="91450" marT="45725" marB="45725"/>
                </a:tc>
                <a:tc>
                  <a:txBody>
                    <a:bodyPr/>
                    <a:lstStyle/>
                    <a:p>
                      <a:pPr marL="0" marR="0" lvl="0" indent="0" algn="l" rtl="0">
                        <a:spcBef>
                          <a:spcPts val="0"/>
                        </a:spcBef>
                        <a:spcAft>
                          <a:spcPts val="0"/>
                        </a:spcAft>
                        <a:buNone/>
                      </a:pPr>
                      <a:r>
                        <a:rPr lang="en-US" sz="1800"/>
                        <a:t>2.83</a:t>
                      </a:r>
                      <a:endParaRPr sz="1800"/>
                    </a:p>
                  </a:txBody>
                  <a:tcPr marL="91450" marR="91450" marT="45725" marB="45725"/>
                </a:tc>
                <a:tc>
                  <a:txBody>
                    <a:bodyPr/>
                    <a:lstStyle/>
                    <a:p>
                      <a:pPr marL="0" marR="0" lvl="0" indent="0" algn="l" rtl="0">
                        <a:spcBef>
                          <a:spcPts val="0"/>
                        </a:spcBef>
                        <a:spcAft>
                          <a:spcPts val="0"/>
                        </a:spcAft>
                        <a:buNone/>
                      </a:pPr>
                      <a:r>
                        <a:rPr lang="en-US" sz="1800"/>
                        <a:t>4.00</a:t>
                      </a:r>
                      <a:endParaRPr sz="1800"/>
                    </a:p>
                  </a:txBody>
                  <a:tcPr marL="91450" marR="91450" marT="45725" marB="45725"/>
                </a:tc>
                <a:tc>
                  <a:txBody>
                    <a:bodyPr/>
                    <a:lstStyle/>
                    <a:p>
                      <a:pPr marL="0" marR="0" lvl="0" indent="0" algn="l" rtl="0">
                        <a:spcBef>
                          <a:spcPts val="0"/>
                        </a:spcBef>
                        <a:spcAft>
                          <a:spcPts val="0"/>
                        </a:spcAft>
                        <a:buNone/>
                      </a:pPr>
                      <a:r>
                        <a:rPr lang="en-US" sz="1800"/>
                        <a:t>4.00</a:t>
                      </a:r>
                      <a:endParaRPr sz="1800"/>
                    </a:p>
                  </a:txBody>
                  <a:tcPr marL="91450" marR="91450" marT="45725" marB="45725"/>
                </a:tc>
                <a:tc>
                  <a:txBody>
                    <a:bodyPr/>
                    <a:lstStyle/>
                    <a:p>
                      <a:pPr marL="0" marR="0" lvl="0" indent="0" algn="l" rtl="0">
                        <a:spcBef>
                          <a:spcPts val="0"/>
                        </a:spcBef>
                        <a:spcAft>
                          <a:spcPts val="0"/>
                        </a:spcAft>
                        <a:buNone/>
                      </a:pPr>
                      <a:r>
                        <a:rPr lang="en-US" sz="1800"/>
                        <a:t>5.10</a:t>
                      </a:r>
                      <a:endParaRPr sz="1800"/>
                    </a:p>
                  </a:txBody>
                  <a:tcPr marL="91450" marR="91450" marT="45725" marB="45725"/>
                </a:tc>
                <a:tc>
                  <a:txBody>
                    <a:bodyPr/>
                    <a:lstStyle/>
                    <a:p>
                      <a:pPr marL="0" marR="0" lvl="0" indent="0" algn="l" rtl="0">
                        <a:spcBef>
                          <a:spcPts val="0"/>
                        </a:spcBef>
                        <a:spcAft>
                          <a:spcPts val="0"/>
                        </a:spcAft>
                        <a:buNone/>
                      </a:pPr>
                      <a:r>
                        <a:rPr lang="en-US" sz="1800"/>
                        <a:t>4.47</a:t>
                      </a:r>
                      <a:endParaRPr sz="1800"/>
                    </a:p>
                  </a:txBody>
                  <a:tcPr marL="91450" marR="91450" marT="45725" marB="45725"/>
                </a:tc>
                <a:tc>
                  <a:txBody>
                    <a:bodyPr/>
                    <a:lstStyle/>
                    <a:p>
                      <a:pPr marL="0" marR="0" lvl="0" indent="0" algn="l" rtl="0">
                        <a:spcBef>
                          <a:spcPts val="0"/>
                        </a:spcBef>
                        <a:spcAft>
                          <a:spcPts val="0"/>
                        </a:spcAft>
                        <a:buNone/>
                      </a:pPr>
                      <a:r>
                        <a:rPr lang="en-US" sz="1800"/>
                        <a:t>5.39</a:t>
                      </a:r>
                      <a:endParaRPr sz="1800"/>
                    </a:p>
                  </a:txBody>
                  <a:tcPr marL="91450" marR="91450" marT="45725" marB="45725"/>
                </a:tc>
                <a:tc>
                  <a:txBody>
                    <a:bodyPr/>
                    <a:lstStyle/>
                    <a:p>
                      <a:pPr marL="0" marR="0" lvl="0" indent="0" algn="l" rtl="0">
                        <a:spcBef>
                          <a:spcPts val="0"/>
                        </a:spcBef>
                        <a:spcAft>
                          <a:spcPts val="0"/>
                        </a:spcAft>
                        <a:buNone/>
                      </a:pPr>
                      <a:r>
                        <a:rPr lang="en-US" sz="1800"/>
                        <a:t>6.00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2.00</a:t>
                      </a:r>
                      <a:endParaRPr sz="1800"/>
                    </a:p>
                  </a:txBody>
                  <a:tcPr marL="91450" marR="91450" marT="45725" marB="45725"/>
                </a:tc>
                <a:tc>
                  <a:txBody>
                    <a:bodyPr/>
                    <a:lstStyle/>
                    <a:p>
                      <a:pPr marL="0" marR="0" lvl="0" indent="0" algn="l" rtl="0">
                        <a:spcBef>
                          <a:spcPts val="0"/>
                        </a:spcBef>
                        <a:spcAft>
                          <a:spcPts val="0"/>
                        </a:spcAft>
                        <a:buNone/>
                      </a:pPr>
                      <a:r>
                        <a:rPr lang="en-US" sz="1800"/>
                        <a:t>1.41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12"/>
                  </a:ext>
                </a:extLst>
              </a:tr>
            </a:tbl>
          </a:graphicData>
        </a:graphic>
      </p:graphicFrame>
      <p:graphicFrame>
        <p:nvGraphicFramePr>
          <p:cNvPr id="603" name="Google Shape;603;p58"/>
          <p:cNvGraphicFramePr/>
          <p:nvPr/>
        </p:nvGraphicFramePr>
        <p:xfrm>
          <a:off x="303149" y="1168427"/>
          <a:ext cx="1300275" cy="5090290"/>
        </p:xfrm>
        <a:graphic>
          <a:graphicData uri="http://schemas.openxmlformats.org/drawingml/2006/table">
            <a:tbl>
              <a:tblPr firstRow="1" bandRow="1">
                <a:noFill/>
                <a:tableStyleId>{3F061DAE-B09F-43A1-B523-6D36B2647786}</a:tableStyleId>
              </a:tblPr>
              <a:tblGrid>
                <a:gridCol w="1300275">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Data Points: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P1: (3, 7)</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P2: (4, 6) </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P3: (5, 5)</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P4: (6, 4) </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P5: (7, 3)</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P6: (6, 2) </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P7: (7, 2) </a:t>
                      </a:r>
                      <a:endParaRPr sz="1800"/>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P8: (8, 4) </a:t>
                      </a:r>
                      <a:endParaRPr/>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t>P9: (3, 3) </a:t>
                      </a:r>
                      <a:endParaRPr sz="1800"/>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P10: (2, 6) </a:t>
                      </a:r>
                      <a:endParaRPr/>
                    </a:p>
                  </a:txBody>
                  <a:tcPr marL="91450" marR="91450" marT="45725" marB="45725"/>
                </a:tc>
                <a:extLst>
                  <a:ext uri="{0D108BD9-81ED-4DB2-BD59-A6C34878D82A}">
                    <a16:rowId xmlns:a16="http://schemas.microsoft.com/office/drawing/2014/main" val="10010"/>
                  </a:ext>
                </a:extLst>
              </a:tr>
              <a:tr h="370850">
                <a:tc>
                  <a:txBody>
                    <a:bodyPr/>
                    <a:lstStyle/>
                    <a:p>
                      <a:pPr marL="0" marR="0" lvl="0" indent="0" algn="l" rtl="0">
                        <a:spcBef>
                          <a:spcPts val="0"/>
                        </a:spcBef>
                        <a:spcAft>
                          <a:spcPts val="0"/>
                        </a:spcAft>
                        <a:buNone/>
                      </a:pPr>
                      <a:r>
                        <a:rPr lang="en-US" sz="1800"/>
                        <a:t>P11: (3, 5) </a:t>
                      </a:r>
                      <a:endParaRPr sz="1800"/>
                    </a:p>
                  </a:txBody>
                  <a:tcPr marL="91450" marR="91450" marT="45725" marB="45725"/>
                </a:tc>
                <a:extLst>
                  <a:ext uri="{0D108BD9-81ED-4DB2-BD59-A6C34878D82A}">
                    <a16:rowId xmlns:a16="http://schemas.microsoft.com/office/drawing/2014/main" val="10011"/>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P12: (2, 4)</a:t>
                      </a:r>
                      <a:endParaRPr/>
                    </a:p>
                  </a:txBody>
                  <a:tcPr marL="91450" marR="91450" marT="45725" marB="45725"/>
                </a:tc>
                <a:extLst>
                  <a:ext uri="{0D108BD9-81ED-4DB2-BD59-A6C34878D82A}">
                    <a16:rowId xmlns:a16="http://schemas.microsoft.com/office/drawing/2014/main" val="10012"/>
                  </a:ext>
                </a:extLst>
              </a:tr>
            </a:tbl>
          </a:graphicData>
        </a:graphic>
      </p:graphicFrame>
      <p:graphicFrame>
        <p:nvGraphicFramePr>
          <p:cNvPr id="604" name="Google Shape;604;p58"/>
          <p:cNvGraphicFramePr/>
          <p:nvPr/>
        </p:nvGraphicFramePr>
        <p:xfrm>
          <a:off x="10375061" y="1444185"/>
          <a:ext cx="1816950" cy="4821050"/>
        </p:xfrm>
        <a:graphic>
          <a:graphicData uri="http://schemas.openxmlformats.org/drawingml/2006/table">
            <a:tbl>
              <a:tblPr firstRow="1" bandRow="1">
                <a:noFill/>
                <a:tableStyleId>{3F061DAE-B09F-43A1-B523-6D36B2647786}</a:tableStyleId>
              </a:tblPr>
              <a:tblGrid>
                <a:gridCol w="181695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1800"/>
                        <a:buFont typeface="Calibri"/>
                        <a:buNone/>
                      </a:pP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P1: P2,P10</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P2: P1, P3, P11</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P3: P2,P4</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P4: P3,P5</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P5: P4,P6,P7,P8</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P6: P5,P7</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P7: P5,P6</a:t>
                      </a:r>
                      <a:endParaRPr sz="1800"/>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P8: P5</a:t>
                      </a:r>
                      <a:endParaRPr/>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t>P9: P12 </a:t>
                      </a:r>
                      <a:endParaRPr sz="1800"/>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P10: P1,P11 </a:t>
                      </a:r>
                      <a:endParaRPr/>
                    </a:p>
                  </a:txBody>
                  <a:tcPr marL="91450" marR="91450" marT="45725" marB="45725"/>
                </a:tc>
                <a:extLst>
                  <a:ext uri="{0D108BD9-81ED-4DB2-BD59-A6C34878D82A}">
                    <a16:rowId xmlns:a16="http://schemas.microsoft.com/office/drawing/2014/main" val="10010"/>
                  </a:ext>
                </a:extLst>
              </a:tr>
              <a:tr h="370850">
                <a:tc>
                  <a:txBody>
                    <a:bodyPr/>
                    <a:lstStyle/>
                    <a:p>
                      <a:pPr marL="0" marR="0" lvl="0" indent="0" algn="l" rtl="0">
                        <a:spcBef>
                          <a:spcPts val="0"/>
                        </a:spcBef>
                        <a:spcAft>
                          <a:spcPts val="0"/>
                        </a:spcAft>
                        <a:buNone/>
                      </a:pPr>
                      <a:r>
                        <a:rPr lang="en-US" sz="1800"/>
                        <a:t>P11: P2,P10,P12</a:t>
                      </a:r>
                      <a:endParaRPr sz="1800"/>
                    </a:p>
                  </a:txBody>
                  <a:tcPr marL="91450" marR="91450" marT="45725" marB="45725"/>
                </a:tc>
                <a:extLst>
                  <a:ext uri="{0D108BD9-81ED-4DB2-BD59-A6C34878D82A}">
                    <a16:rowId xmlns:a16="http://schemas.microsoft.com/office/drawing/2014/main" val="10011"/>
                  </a:ext>
                </a:extLst>
              </a:tr>
              <a:tr h="370850">
                <a:tc>
                  <a:txBody>
                    <a:bodyPr/>
                    <a:lstStyle/>
                    <a:p>
                      <a:pPr marL="0" marR="0" lvl="0" indent="0" algn="l" rtl="0">
                        <a:lnSpc>
                          <a:spcPct val="100000"/>
                        </a:lnSpc>
                        <a:spcBef>
                          <a:spcPts val="0"/>
                        </a:spcBef>
                        <a:spcAft>
                          <a:spcPts val="0"/>
                        </a:spcAft>
                        <a:buClr>
                          <a:schemeClr val="dk1"/>
                        </a:buClr>
                        <a:buSzPts val="1800"/>
                        <a:buFont typeface="Calibri"/>
                        <a:buNone/>
                      </a:pPr>
                      <a:r>
                        <a:rPr lang="en-US" sz="1800"/>
                        <a:t>P12: P9,P11</a:t>
                      </a:r>
                      <a:endParaRPr/>
                    </a:p>
                  </a:txBody>
                  <a:tcPr marL="91450" marR="91450" marT="45725" marB="45725"/>
                </a:tc>
                <a:extLst>
                  <a:ext uri="{0D108BD9-81ED-4DB2-BD59-A6C34878D82A}">
                    <a16:rowId xmlns:a16="http://schemas.microsoft.com/office/drawing/2014/main" val="10012"/>
                  </a:ext>
                </a:extLst>
              </a:tr>
            </a:tbl>
          </a:graphicData>
        </a:graphic>
      </p:graphicFrame>
      <p:sp>
        <p:nvSpPr>
          <p:cNvPr id="605" name="Google Shape;605;p58"/>
          <p:cNvSpPr txBox="1"/>
          <p:nvPr/>
        </p:nvSpPr>
        <p:spPr>
          <a:xfrm>
            <a:off x="1726775" y="996461"/>
            <a:ext cx="3624955"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rgbClr val="FFC000"/>
                </a:solidFill>
                <a:latin typeface="Calibri"/>
                <a:ea typeface="Calibri"/>
                <a:cs typeface="Calibri"/>
                <a:sym typeface="Calibri"/>
              </a:rPr>
              <a:t>MinPts=4    Epsilon= 1.9</a:t>
            </a:r>
            <a:endParaRPr sz="2600" b="1">
              <a:solidFill>
                <a:srgbClr val="FFC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9"/>
          <p:cNvSpPr txBox="1"/>
          <p:nvPr/>
        </p:nvSpPr>
        <p:spPr>
          <a:xfrm>
            <a:off x="546756" y="7545"/>
            <a:ext cx="2122119"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Example</a:t>
            </a:r>
            <a:endParaRPr sz="4400">
              <a:solidFill>
                <a:schemeClr val="lt1"/>
              </a:solidFill>
              <a:latin typeface="Calibri"/>
              <a:ea typeface="Calibri"/>
              <a:cs typeface="Calibri"/>
              <a:sym typeface="Calibri"/>
            </a:endParaRPr>
          </a:p>
        </p:txBody>
      </p:sp>
      <p:sp>
        <p:nvSpPr>
          <p:cNvPr id="611" name="Google Shape;611;p59"/>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12" name="Google Shape;612;p59"/>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613" name="Google Shape;613;p59"/>
          <p:cNvGraphicFramePr/>
          <p:nvPr/>
        </p:nvGraphicFramePr>
        <p:xfrm>
          <a:off x="2914639" y="730805"/>
          <a:ext cx="2465300" cy="5943730"/>
        </p:xfrm>
        <a:graphic>
          <a:graphicData uri="http://schemas.openxmlformats.org/drawingml/2006/table">
            <a:tbl>
              <a:tblPr firstRow="1" bandRow="1">
                <a:noFill/>
                <a:tableStyleId>{3F061DAE-B09F-43A1-B523-6D36B2647786}</a:tableStyleId>
              </a:tblPr>
              <a:tblGrid>
                <a:gridCol w="24653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2400"/>
                        <a:buFont typeface="Calibri"/>
                        <a:buNone/>
                      </a:pPr>
                      <a:endParaRPr sz="24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400"/>
                        <a:t>P1: P2,P10</a:t>
                      </a:r>
                      <a:endParaRPr sz="24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400"/>
                        <a:t>P2: P1, P3, P11</a:t>
                      </a:r>
                      <a:endParaRPr/>
                    </a:p>
                  </a:txBody>
                  <a:tcPr marL="91450" marR="91450" marT="45725" marB="45725">
                    <a:solidFill>
                      <a:srgbClr val="FFC000"/>
                    </a:solid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400"/>
                        <a:t>P3: P2,P4</a:t>
                      </a:r>
                      <a:endParaRPr sz="24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2400"/>
                        <a:t>P4: P3,P5</a:t>
                      </a:r>
                      <a:endParaRPr sz="24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2400"/>
                        <a:t>P5: P4,P6,P7,P8</a:t>
                      </a:r>
                      <a:endParaRPr sz="2400"/>
                    </a:p>
                  </a:txBody>
                  <a:tcPr marL="91450" marR="91450" marT="45725" marB="45725">
                    <a:solidFill>
                      <a:srgbClr val="FFC000"/>
                    </a:solidFill>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400"/>
                        <a:t>P6: P5,P7</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2400"/>
                        <a:t>P7: P5,P6</a:t>
                      </a:r>
                      <a:endParaRPr sz="2400"/>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400"/>
                        <a:t>P8: P5</a:t>
                      </a:r>
                      <a:endParaRPr/>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2400"/>
                        <a:t>P9: P12 </a:t>
                      </a:r>
                      <a:endParaRPr sz="2400"/>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400"/>
                        <a:t>P10: P1,P11 </a:t>
                      </a:r>
                      <a:endParaRPr/>
                    </a:p>
                  </a:txBody>
                  <a:tcPr marL="91450" marR="91450" marT="45725" marB="45725"/>
                </a:tc>
                <a:extLst>
                  <a:ext uri="{0D108BD9-81ED-4DB2-BD59-A6C34878D82A}">
                    <a16:rowId xmlns:a16="http://schemas.microsoft.com/office/drawing/2014/main" val="10010"/>
                  </a:ext>
                </a:extLst>
              </a:tr>
              <a:tr h="370850">
                <a:tc>
                  <a:txBody>
                    <a:bodyPr/>
                    <a:lstStyle/>
                    <a:p>
                      <a:pPr marL="0" marR="0" lvl="0" indent="0" algn="l" rtl="0">
                        <a:spcBef>
                          <a:spcPts val="0"/>
                        </a:spcBef>
                        <a:spcAft>
                          <a:spcPts val="0"/>
                        </a:spcAft>
                        <a:buNone/>
                      </a:pPr>
                      <a:r>
                        <a:rPr lang="en-US" sz="2400"/>
                        <a:t>P11: P2,P10,P12</a:t>
                      </a:r>
                      <a:endParaRPr sz="2400"/>
                    </a:p>
                  </a:txBody>
                  <a:tcPr marL="91450" marR="91450" marT="45725" marB="45725">
                    <a:solidFill>
                      <a:srgbClr val="FFC000"/>
                    </a:solidFill>
                  </a:tcPr>
                </a:tc>
                <a:extLst>
                  <a:ext uri="{0D108BD9-81ED-4DB2-BD59-A6C34878D82A}">
                    <a16:rowId xmlns:a16="http://schemas.microsoft.com/office/drawing/2014/main" val="10011"/>
                  </a:ext>
                </a:extLst>
              </a:tr>
              <a:tr h="370850">
                <a:tc>
                  <a:txBody>
                    <a:bodyPr/>
                    <a:lstStyle/>
                    <a:p>
                      <a:pPr marL="0" marR="0" lvl="0" indent="0" algn="l" rtl="0">
                        <a:lnSpc>
                          <a:spcPct val="100000"/>
                        </a:lnSpc>
                        <a:spcBef>
                          <a:spcPts val="0"/>
                        </a:spcBef>
                        <a:spcAft>
                          <a:spcPts val="0"/>
                        </a:spcAft>
                        <a:buClr>
                          <a:schemeClr val="dk1"/>
                        </a:buClr>
                        <a:buSzPts val="2400"/>
                        <a:buFont typeface="Calibri"/>
                        <a:buNone/>
                      </a:pPr>
                      <a:r>
                        <a:rPr lang="en-US" sz="2400"/>
                        <a:t>P12: P9,P11</a:t>
                      </a:r>
                      <a:endParaRPr/>
                    </a:p>
                  </a:txBody>
                  <a:tcPr marL="91450" marR="91450" marT="45725" marB="45725"/>
                </a:tc>
                <a:extLst>
                  <a:ext uri="{0D108BD9-81ED-4DB2-BD59-A6C34878D82A}">
                    <a16:rowId xmlns:a16="http://schemas.microsoft.com/office/drawing/2014/main" val="10012"/>
                  </a:ext>
                </a:extLst>
              </a:tr>
            </a:tbl>
          </a:graphicData>
        </a:graphic>
      </p:graphicFrame>
      <p:graphicFrame>
        <p:nvGraphicFramePr>
          <p:cNvPr id="614" name="Google Shape;614;p59"/>
          <p:cNvGraphicFramePr/>
          <p:nvPr/>
        </p:nvGraphicFramePr>
        <p:xfrm>
          <a:off x="5600042" y="730805"/>
          <a:ext cx="4221825" cy="5943600"/>
        </p:xfrm>
        <a:graphic>
          <a:graphicData uri="http://schemas.openxmlformats.org/drawingml/2006/table">
            <a:tbl>
              <a:tblPr firstRow="1" bandRow="1">
                <a:noFill/>
                <a:tableStyleId>{3F061DAE-B09F-43A1-B523-6D36B2647786}</a:tableStyleId>
              </a:tblPr>
              <a:tblGrid>
                <a:gridCol w="1103075">
                  <a:extLst>
                    <a:ext uri="{9D8B030D-6E8A-4147-A177-3AD203B41FA5}">
                      <a16:colId xmlns:a16="http://schemas.microsoft.com/office/drawing/2014/main" val="20000"/>
                    </a:ext>
                  </a:extLst>
                </a:gridCol>
                <a:gridCol w="1355275">
                  <a:extLst>
                    <a:ext uri="{9D8B030D-6E8A-4147-A177-3AD203B41FA5}">
                      <a16:colId xmlns:a16="http://schemas.microsoft.com/office/drawing/2014/main" val="20001"/>
                    </a:ext>
                  </a:extLst>
                </a:gridCol>
                <a:gridCol w="1763475">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None/>
                      </a:pPr>
                      <a:r>
                        <a:rPr lang="en-US" sz="2200"/>
                        <a:t>Points</a:t>
                      </a:r>
                      <a:endParaRPr sz="2200"/>
                    </a:p>
                  </a:txBody>
                  <a:tcPr marL="91450" marR="91450" marT="45725" marB="45725"/>
                </a:tc>
                <a:tc gridSpan="2">
                  <a:txBody>
                    <a:bodyPr/>
                    <a:lstStyle/>
                    <a:p>
                      <a:pPr marL="0" marR="0" lvl="0" indent="0" algn="ctr" rtl="0">
                        <a:spcBef>
                          <a:spcPts val="0"/>
                        </a:spcBef>
                        <a:spcAft>
                          <a:spcPts val="0"/>
                        </a:spcAft>
                        <a:buNone/>
                      </a:pPr>
                      <a:r>
                        <a:rPr lang="en-US" sz="2200"/>
                        <a:t>Status</a:t>
                      </a:r>
                      <a:endParaRPr sz="2200"/>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None/>
                      </a:pPr>
                      <a:r>
                        <a:rPr lang="en-US" sz="2200"/>
                        <a:t>P1</a:t>
                      </a:r>
                      <a:endParaRPr sz="2200"/>
                    </a:p>
                  </a:txBody>
                  <a:tcPr marL="91450" marR="91450" marT="45725" marB="45725"/>
                </a:tc>
                <a:tc>
                  <a:txBody>
                    <a:bodyPr/>
                    <a:lstStyle/>
                    <a:p>
                      <a:pPr marL="0" marR="0" lvl="0" indent="0" algn="l" rtl="0">
                        <a:spcBef>
                          <a:spcPts val="0"/>
                        </a:spcBef>
                        <a:spcAft>
                          <a:spcPts val="0"/>
                        </a:spcAft>
                        <a:buNone/>
                      </a:pPr>
                      <a:r>
                        <a:rPr lang="en-US" sz="2200"/>
                        <a:t>Noise</a:t>
                      </a:r>
                      <a:endParaRPr sz="2200"/>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None/>
                      </a:pPr>
                      <a:r>
                        <a:rPr lang="en-US" sz="2200"/>
                        <a:t>P2</a:t>
                      </a:r>
                      <a:endParaRPr sz="2200"/>
                    </a:p>
                  </a:txBody>
                  <a:tcPr marL="91450" marR="91450" marT="45725" marB="45725">
                    <a:solidFill>
                      <a:srgbClr val="FFC000"/>
                    </a:solidFill>
                  </a:tcPr>
                </a:tc>
                <a:tc>
                  <a:txBody>
                    <a:bodyPr/>
                    <a:lstStyle/>
                    <a:p>
                      <a:pPr marL="0" marR="0" lvl="0" indent="0" algn="l" rtl="0">
                        <a:spcBef>
                          <a:spcPts val="0"/>
                        </a:spcBef>
                        <a:spcAft>
                          <a:spcPts val="0"/>
                        </a:spcAft>
                        <a:buNone/>
                      </a:pPr>
                      <a:r>
                        <a:rPr lang="en-US" sz="2200"/>
                        <a:t>Core</a:t>
                      </a:r>
                      <a:endParaRPr sz="2200"/>
                    </a:p>
                  </a:txBody>
                  <a:tcPr marL="91450" marR="91450" marT="45725" marB="45725">
                    <a:solidFill>
                      <a:srgbClr val="FFC000"/>
                    </a:solidFill>
                  </a:tcPr>
                </a:tc>
                <a:tc>
                  <a:txBody>
                    <a:bodyPr/>
                    <a:lstStyle/>
                    <a:p>
                      <a:pPr marL="0" marR="0" lvl="0" indent="0" algn="l" rtl="0">
                        <a:spcBef>
                          <a:spcPts val="0"/>
                        </a:spcBef>
                        <a:spcAft>
                          <a:spcPts val="0"/>
                        </a:spcAft>
                        <a:buNone/>
                      </a:pPr>
                      <a:endParaRPr sz="2200"/>
                    </a:p>
                  </a:txBody>
                  <a:tcPr marL="91450" marR="91450" marT="45725" marB="45725">
                    <a:solidFill>
                      <a:srgbClr val="FFC000"/>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None/>
                      </a:pPr>
                      <a:r>
                        <a:rPr lang="en-US" sz="2200"/>
                        <a:t>P3</a:t>
                      </a:r>
                      <a:endParaRPr sz="2200"/>
                    </a:p>
                  </a:txBody>
                  <a:tcPr marL="91450" marR="91450" marT="45725" marB="45725"/>
                </a:tc>
                <a:tc>
                  <a:txBody>
                    <a:bodyPr/>
                    <a:lstStyle/>
                    <a:p>
                      <a:pPr marL="0" marR="0" lvl="0" indent="0" algn="l" rtl="0">
                        <a:spcBef>
                          <a:spcPts val="0"/>
                        </a:spcBef>
                        <a:spcAft>
                          <a:spcPts val="0"/>
                        </a:spcAft>
                        <a:buNone/>
                      </a:pPr>
                      <a:r>
                        <a:rPr lang="en-US" sz="2200"/>
                        <a:t>Noise</a:t>
                      </a:r>
                      <a:endParaRPr sz="2200"/>
                    </a:p>
                  </a:txBody>
                  <a:tcPr marL="91450" marR="91450" marT="45725" marB="45725"/>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Border</a:t>
                      </a:r>
                      <a:endParaRPr/>
                    </a:p>
                  </a:txBody>
                  <a:tcPr marL="91450" marR="91450" marT="45725" marB="45725">
                    <a:solidFill>
                      <a:srgbClr val="00B050"/>
                    </a:solidFill>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None/>
                      </a:pPr>
                      <a:r>
                        <a:rPr lang="en-US" sz="2200"/>
                        <a:t>P4</a:t>
                      </a:r>
                      <a:endParaRPr sz="2200"/>
                    </a:p>
                  </a:txBody>
                  <a:tcPr marL="91450" marR="91450" marT="45725" marB="45725"/>
                </a:tc>
                <a:tc>
                  <a:txBody>
                    <a:bodyPr/>
                    <a:lstStyle/>
                    <a:p>
                      <a:pPr marL="0" marR="0" lvl="0" indent="0" algn="l" rtl="0">
                        <a:spcBef>
                          <a:spcPts val="0"/>
                        </a:spcBef>
                        <a:spcAft>
                          <a:spcPts val="0"/>
                        </a:spcAft>
                        <a:buNone/>
                      </a:pPr>
                      <a:r>
                        <a:rPr lang="en-US" sz="2200"/>
                        <a:t>Noise</a:t>
                      </a:r>
                      <a:endParaRPr sz="2200"/>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None/>
                      </a:pPr>
                      <a:r>
                        <a:rPr lang="en-US" sz="2200"/>
                        <a:t>P5</a:t>
                      </a:r>
                      <a:endParaRPr sz="2200"/>
                    </a:p>
                  </a:txBody>
                  <a:tcPr marL="91450" marR="91450" marT="45725" marB="45725">
                    <a:solidFill>
                      <a:srgbClr val="FFC000"/>
                    </a:solidFill>
                  </a:tcPr>
                </a:tc>
                <a:tc>
                  <a:txBody>
                    <a:bodyPr/>
                    <a:lstStyle/>
                    <a:p>
                      <a:pPr marL="0" marR="0" lvl="0" indent="0" algn="l" rtl="0">
                        <a:spcBef>
                          <a:spcPts val="0"/>
                        </a:spcBef>
                        <a:spcAft>
                          <a:spcPts val="0"/>
                        </a:spcAft>
                        <a:buNone/>
                      </a:pPr>
                      <a:r>
                        <a:rPr lang="en-US" sz="2200"/>
                        <a:t>Core</a:t>
                      </a:r>
                      <a:endParaRPr sz="2200"/>
                    </a:p>
                  </a:txBody>
                  <a:tcPr marL="91450" marR="91450" marT="45725" marB="45725">
                    <a:solidFill>
                      <a:srgbClr val="FFC000"/>
                    </a:solidFill>
                  </a:tcPr>
                </a:tc>
                <a:tc>
                  <a:txBody>
                    <a:bodyPr/>
                    <a:lstStyle/>
                    <a:p>
                      <a:pPr marL="0" marR="0" lvl="0" indent="0" algn="l" rtl="0">
                        <a:spcBef>
                          <a:spcPts val="0"/>
                        </a:spcBef>
                        <a:spcAft>
                          <a:spcPts val="0"/>
                        </a:spcAft>
                        <a:buNone/>
                      </a:pPr>
                      <a:endParaRPr sz="2200"/>
                    </a:p>
                  </a:txBody>
                  <a:tcPr marL="91450" marR="91450" marT="45725" marB="45725">
                    <a:solidFill>
                      <a:srgbClr val="FFC000"/>
                    </a:solidFill>
                  </a:tcPr>
                </a:tc>
                <a:extLst>
                  <a:ext uri="{0D108BD9-81ED-4DB2-BD59-A6C34878D82A}">
                    <a16:rowId xmlns:a16="http://schemas.microsoft.com/office/drawing/2014/main" val="10005"/>
                  </a:ext>
                </a:extLst>
              </a:tr>
              <a:tr h="457200">
                <a:tc>
                  <a:txBody>
                    <a:bodyPr/>
                    <a:lstStyle/>
                    <a:p>
                      <a:pPr marL="0" marR="0" lvl="0" indent="0" algn="l" rtl="0">
                        <a:spcBef>
                          <a:spcPts val="0"/>
                        </a:spcBef>
                        <a:spcAft>
                          <a:spcPts val="0"/>
                        </a:spcAft>
                        <a:buNone/>
                      </a:pPr>
                      <a:r>
                        <a:rPr lang="en-US" sz="2200"/>
                        <a:t>P6</a:t>
                      </a:r>
                      <a:endParaRPr sz="2200"/>
                    </a:p>
                  </a:txBody>
                  <a:tcPr marL="91450" marR="91450" marT="45725" marB="45725"/>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Noise</a:t>
                      </a:r>
                      <a:endParaRPr/>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06"/>
                  </a:ext>
                </a:extLst>
              </a:tr>
              <a:tr h="457200">
                <a:tc>
                  <a:txBody>
                    <a:bodyPr/>
                    <a:lstStyle/>
                    <a:p>
                      <a:pPr marL="0" marR="0" lvl="0" indent="0" algn="l" rtl="0">
                        <a:spcBef>
                          <a:spcPts val="0"/>
                        </a:spcBef>
                        <a:spcAft>
                          <a:spcPts val="0"/>
                        </a:spcAft>
                        <a:buNone/>
                      </a:pPr>
                      <a:r>
                        <a:rPr lang="en-US" sz="2200"/>
                        <a:t>P7</a:t>
                      </a:r>
                      <a:endParaRPr sz="2200"/>
                    </a:p>
                  </a:txBody>
                  <a:tcPr marL="91450" marR="91450" marT="45725" marB="45725"/>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Noise</a:t>
                      </a:r>
                      <a:endParaRPr/>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07"/>
                  </a:ext>
                </a:extLst>
              </a:tr>
              <a:tr h="457200">
                <a:tc>
                  <a:txBody>
                    <a:bodyPr/>
                    <a:lstStyle/>
                    <a:p>
                      <a:pPr marL="0" marR="0" lvl="0" indent="0" algn="l" rtl="0">
                        <a:spcBef>
                          <a:spcPts val="0"/>
                        </a:spcBef>
                        <a:spcAft>
                          <a:spcPts val="0"/>
                        </a:spcAft>
                        <a:buNone/>
                      </a:pPr>
                      <a:r>
                        <a:rPr lang="en-US" sz="2200"/>
                        <a:t>P8</a:t>
                      </a:r>
                      <a:endParaRPr sz="2200"/>
                    </a:p>
                  </a:txBody>
                  <a:tcPr marL="91450" marR="91450" marT="45725" marB="45725"/>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Noise</a:t>
                      </a:r>
                      <a:endParaRPr/>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08"/>
                  </a:ext>
                </a:extLst>
              </a:tr>
              <a:tr h="457200">
                <a:tc>
                  <a:txBody>
                    <a:bodyPr/>
                    <a:lstStyle/>
                    <a:p>
                      <a:pPr marL="0" marR="0" lvl="0" indent="0" algn="l" rtl="0">
                        <a:spcBef>
                          <a:spcPts val="0"/>
                        </a:spcBef>
                        <a:spcAft>
                          <a:spcPts val="0"/>
                        </a:spcAft>
                        <a:buNone/>
                      </a:pPr>
                      <a:r>
                        <a:rPr lang="en-US" sz="2200"/>
                        <a:t>P9</a:t>
                      </a:r>
                      <a:endParaRPr sz="2200"/>
                    </a:p>
                  </a:txBody>
                  <a:tcPr marL="91450" marR="91450" marT="45725" marB="45725">
                    <a:solidFill>
                      <a:srgbClr val="FF0000"/>
                    </a:solidFill>
                  </a:tcPr>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Noise</a:t>
                      </a:r>
                      <a:endParaRPr/>
                    </a:p>
                  </a:txBody>
                  <a:tcPr marL="91450" marR="91450" marT="45725" marB="45725">
                    <a:solidFill>
                      <a:srgbClr val="FF0000"/>
                    </a:solidFill>
                  </a:tcPr>
                </a:tc>
                <a:tc>
                  <a:txBody>
                    <a:bodyPr/>
                    <a:lstStyle/>
                    <a:p>
                      <a:pPr marL="0" marR="0" lvl="0" indent="0" algn="l" rtl="0">
                        <a:spcBef>
                          <a:spcPts val="0"/>
                        </a:spcBef>
                        <a:spcAft>
                          <a:spcPts val="0"/>
                        </a:spcAft>
                        <a:buNone/>
                      </a:pPr>
                      <a:endParaRPr sz="2200"/>
                    </a:p>
                  </a:txBody>
                  <a:tcPr marL="91450" marR="91450" marT="45725" marB="45725">
                    <a:solidFill>
                      <a:srgbClr val="FF0000"/>
                    </a:solidFill>
                  </a:tcPr>
                </a:tc>
                <a:extLst>
                  <a:ext uri="{0D108BD9-81ED-4DB2-BD59-A6C34878D82A}">
                    <a16:rowId xmlns:a16="http://schemas.microsoft.com/office/drawing/2014/main" val="10009"/>
                  </a:ext>
                </a:extLst>
              </a:tr>
              <a:tr h="457200">
                <a:tc>
                  <a:txBody>
                    <a:bodyPr/>
                    <a:lstStyle/>
                    <a:p>
                      <a:pPr marL="0" marR="0" lvl="0" indent="0" algn="l" rtl="0">
                        <a:spcBef>
                          <a:spcPts val="0"/>
                        </a:spcBef>
                        <a:spcAft>
                          <a:spcPts val="0"/>
                        </a:spcAft>
                        <a:buNone/>
                      </a:pPr>
                      <a:r>
                        <a:rPr lang="en-US" sz="2200"/>
                        <a:t>P10</a:t>
                      </a:r>
                      <a:endParaRPr sz="2200"/>
                    </a:p>
                  </a:txBody>
                  <a:tcPr marL="91450" marR="91450" marT="45725" marB="45725"/>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Noise</a:t>
                      </a:r>
                      <a:endParaRPr/>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10"/>
                  </a:ext>
                </a:extLst>
              </a:tr>
              <a:tr h="457200">
                <a:tc>
                  <a:txBody>
                    <a:bodyPr/>
                    <a:lstStyle/>
                    <a:p>
                      <a:pPr marL="0" marR="0" lvl="0" indent="0" algn="l" rtl="0">
                        <a:spcBef>
                          <a:spcPts val="0"/>
                        </a:spcBef>
                        <a:spcAft>
                          <a:spcPts val="0"/>
                        </a:spcAft>
                        <a:buNone/>
                      </a:pPr>
                      <a:r>
                        <a:rPr lang="en-US" sz="2200"/>
                        <a:t>P11</a:t>
                      </a:r>
                      <a:endParaRPr sz="2200"/>
                    </a:p>
                  </a:txBody>
                  <a:tcPr marL="91450" marR="91450" marT="45725" marB="45725">
                    <a:solidFill>
                      <a:srgbClr val="FFC000"/>
                    </a:solidFill>
                  </a:tcPr>
                </a:tc>
                <a:tc>
                  <a:txBody>
                    <a:bodyPr/>
                    <a:lstStyle/>
                    <a:p>
                      <a:pPr marL="0" marR="0" lvl="0" indent="0" algn="l" rtl="0">
                        <a:spcBef>
                          <a:spcPts val="0"/>
                        </a:spcBef>
                        <a:spcAft>
                          <a:spcPts val="0"/>
                        </a:spcAft>
                        <a:buNone/>
                      </a:pPr>
                      <a:r>
                        <a:rPr lang="en-US" sz="2200"/>
                        <a:t>Core</a:t>
                      </a:r>
                      <a:endParaRPr sz="2200"/>
                    </a:p>
                  </a:txBody>
                  <a:tcPr marL="91450" marR="91450" marT="45725" marB="45725">
                    <a:solidFill>
                      <a:srgbClr val="FFC000"/>
                    </a:solidFill>
                  </a:tcPr>
                </a:tc>
                <a:tc>
                  <a:txBody>
                    <a:bodyPr/>
                    <a:lstStyle/>
                    <a:p>
                      <a:pPr marL="0" marR="0" lvl="0" indent="0" algn="l" rtl="0">
                        <a:spcBef>
                          <a:spcPts val="0"/>
                        </a:spcBef>
                        <a:spcAft>
                          <a:spcPts val="0"/>
                        </a:spcAft>
                        <a:buNone/>
                      </a:pPr>
                      <a:endParaRPr sz="2200"/>
                    </a:p>
                  </a:txBody>
                  <a:tcPr marL="91450" marR="91450" marT="45725" marB="45725">
                    <a:solidFill>
                      <a:srgbClr val="FFC000"/>
                    </a:solidFill>
                  </a:tcPr>
                </a:tc>
                <a:extLst>
                  <a:ext uri="{0D108BD9-81ED-4DB2-BD59-A6C34878D82A}">
                    <a16:rowId xmlns:a16="http://schemas.microsoft.com/office/drawing/2014/main" val="10011"/>
                  </a:ext>
                </a:extLst>
              </a:tr>
              <a:tr h="457200">
                <a:tc>
                  <a:txBody>
                    <a:bodyPr/>
                    <a:lstStyle/>
                    <a:p>
                      <a:pPr marL="0" marR="0" lvl="0" indent="0" algn="l" rtl="0">
                        <a:spcBef>
                          <a:spcPts val="0"/>
                        </a:spcBef>
                        <a:spcAft>
                          <a:spcPts val="0"/>
                        </a:spcAft>
                        <a:buNone/>
                      </a:pPr>
                      <a:r>
                        <a:rPr lang="en-US" sz="2200"/>
                        <a:t>P12</a:t>
                      </a:r>
                      <a:endParaRPr sz="2200"/>
                    </a:p>
                  </a:txBody>
                  <a:tcPr marL="91450" marR="91450" marT="45725" marB="45725"/>
                </a:tc>
                <a:tc>
                  <a:txBody>
                    <a:bodyPr/>
                    <a:lstStyle/>
                    <a:p>
                      <a:pPr marL="0" marR="0" lvl="0" indent="0" algn="l" rtl="0">
                        <a:lnSpc>
                          <a:spcPct val="100000"/>
                        </a:lnSpc>
                        <a:spcBef>
                          <a:spcPts val="0"/>
                        </a:spcBef>
                        <a:spcAft>
                          <a:spcPts val="0"/>
                        </a:spcAft>
                        <a:buClr>
                          <a:schemeClr val="dk1"/>
                        </a:buClr>
                        <a:buSzPts val="2200"/>
                        <a:buFont typeface="Calibri"/>
                        <a:buNone/>
                      </a:pPr>
                      <a:r>
                        <a:rPr lang="en-US" sz="2200"/>
                        <a:t>Noise</a:t>
                      </a:r>
                      <a:endParaRPr/>
                    </a:p>
                  </a:txBody>
                  <a:tcPr marL="91450" marR="91450" marT="45725" marB="45725"/>
                </a:tc>
                <a:tc>
                  <a:txBody>
                    <a:bodyPr/>
                    <a:lstStyle/>
                    <a:p>
                      <a:pPr marL="0" marR="0" lvl="0" indent="0" algn="l" rtl="0">
                        <a:spcBef>
                          <a:spcPts val="0"/>
                        </a:spcBef>
                        <a:spcAft>
                          <a:spcPts val="0"/>
                        </a:spcAft>
                        <a:buNone/>
                      </a:pPr>
                      <a:r>
                        <a:rPr lang="en-US" sz="2200"/>
                        <a:t>Border</a:t>
                      </a:r>
                      <a:endParaRPr sz="2200"/>
                    </a:p>
                  </a:txBody>
                  <a:tcPr marL="91450" marR="91450" marT="45725" marB="45725">
                    <a:solidFill>
                      <a:srgbClr val="00B050"/>
                    </a:solidFill>
                  </a:tcPr>
                </a:tc>
                <a:extLst>
                  <a:ext uri="{0D108BD9-81ED-4DB2-BD59-A6C34878D82A}">
                    <a16:rowId xmlns:a16="http://schemas.microsoft.com/office/drawing/2014/main" val="10012"/>
                  </a:ext>
                </a:extLst>
              </a:tr>
            </a:tbl>
          </a:graphicData>
        </a:graphic>
      </p:graphicFrame>
      <p:sp>
        <p:nvSpPr>
          <p:cNvPr id="615" name="Google Shape;615;p59"/>
          <p:cNvSpPr txBox="1"/>
          <p:nvPr/>
        </p:nvSpPr>
        <p:spPr>
          <a:xfrm>
            <a:off x="3201466" y="146043"/>
            <a:ext cx="3624955"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rgbClr val="FFC000"/>
                </a:solidFill>
                <a:latin typeface="Calibri"/>
                <a:ea typeface="Calibri"/>
                <a:cs typeface="Calibri"/>
                <a:sym typeface="Calibri"/>
              </a:rPr>
              <a:t>MinPts=4    Epsilon= 1.9</a:t>
            </a:r>
            <a:endParaRPr sz="2600" b="1">
              <a:solidFill>
                <a:srgbClr val="FFC0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0"/>
          <p:cNvSpPr txBox="1"/>
          <p:nvPr/>
        </p:nvSpPr>
        <p:spPr>
          <a:xfrm>
            <a:off x="546756" y="7545"/>
            <a:ext cx="253234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Exercise</a:t>
            </a:r>
            <a:endParaRPr sz="4400">
              <a:solidFill>
                <a:schemeClr val="lt1"/>
              </a:solidFill>
              <a:latin typeface="Calibri"/>
              <a:ea typeface="Calibri"/>
              <a:cs typeface="Calibri"/>
              <a:sym typeface="Calibri"/>
            </a:endParaRPr>
          </a:p>
        </p:txBody>
      </p:sp>
      <p:sp>
        <p:nvSpPr>
          <p:cNvPr id="621" name="Google Shape;621;p60"/>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22" name="Google Shape;622;p60"/>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3" name="Google Shape;623;p60"/>
          <p:cNvSpPr/>
          <p:nvPr/>
        </p:nvSpPr>
        <p:spPr>
          <a:xfrm>
            <a:off x="546756" y="1018080"/>
            <a:ext cx="10989462" cy="212365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b="1" dirty="0">
                <a:solidFill>
                  <a:schemeClr val="lt1"/>
                </a:solidFill>
                <a:latin typeface="Calibri"/>
                <a:ea typeface="Calibri"/>
                <a:cs typeface="Calibri"/>
                <a:sym typeface="Calibri"/>
              </a:rPr>
              <a:t>Points on a line: S = {0.0, 0.4, 0.9, 5.0, 5.2, 8.5}, ε = 0.5, </a:t>
            </a:r>
            <a:r>
              <a:rPr lang="en-US" sz="2200" b="1" dirty="0" err="1">
                <a:solidFill>
                  <a:schemeClr val="lt1"/>
                </a:solidFill>
                <a:latin typeface="Calibri"/>
                <a:ea typeface="Calibri"/>
                <a:cs typeface="Calibri"/>
                <a:sym typeface="Calibri"/>
              </a:rPr>
              <a:t>minPts</a:t>
            </a:r>
            <a:r>
              <a:rPr lang="en-US" sz="2200" b="1" dirty="0">
                <a:solidFill>
                  <a:schemeClr val="lt1"/>
                </a:solidFill>
                <a:latin typeface="Calibri"/>
                <a:ea typeface="Calibri"/>
                <a:cs typeface="Calibri"/>
                <a:sym typeface="Calibri"/>
              </a:rPr>
              <a:t> = 2.</a:t>
            </a:r>
            <a:endParaRPr dirty="0"/>
          </a:p>
          <a:p>
            <a:pPr marL="457200" marR="0" lvl="0" indent="-457200" algn="l" rtl="0">
              <a:lnSpc>
                <a:spcPct val="150000"/>
              </a:lnSpc>
              <a:spcBef>
                <a:spcPts val="0"/>
              </a:spcBef>
              <a:spcAft>
                <a:spcPts val="0"/>
              </a:spcAft>
              <a:buClr>
                <a:schemeClr val="lt1"/>
              </a:buClr>
              <a:buSzPts val="2200"/>
              <a:buFont typeface="Calibri"/>
              <a:buAutoNum type="alphaLcParenBoth"/>
            </a:pPr>
            <a:r>
              <a:rPr lang="en-US" sz="2200" b="1" dirty="0">
                <a:solidFill>
                  <a:schemeClr val="lt1"/>
                </a:solidFill>
                <a:latin typeface="Calibri"/>
                <a:ea typeface="Calibri"/>
                <a:cs typeface="Calibri"/>
                <a:sym typeface="Calibri"/>
              </a:rPr>
              <a:t>For each point, list its ε-neighborhood.</a:t>
            </a:r>
            <a:endParaRPr dirty="0"/>
          </a:p>
          <a:p>
            <a:pPr marL="457200" marR="0" lvl="0" indent="-457200" algn="l" rtl="0">
              <a:lnSpc>
                <a:spcPct val="150000"/>
              </a:lnSpc>
              <a:spcBef>
                <a:spcPts val="0"/>
              </a:spcBef>
              <a:spcAft>
                <a:spcPts val="0"/>
              </a:spcAft>
              <a:buClr>
                <a:schemeClr val="lt1"/>
              </a:buClr>
              <a:buSzPts val="2200"/>
              <a:buFont typeface="Calibri"/>
              <a:buAutoNum type="alphaLcParenBoth"/>
            </a:pPr>
            <a:r>
              <a:rPr lang="en-US" sz="2200" b="1" dirty="0">
                <a:solidFill>
                  <a:schemeClr val="lt1"/>
                </a:solidFill>
                <a:latin typeface="Calibri"/>
                <a:ea typeface="Calibri"/>
                <a:cs typeface="Calibri"/>
                <a:sym typeface="Calibri"/>
              </a:rPr>
              <a:t>Label each point core / border / noise.</a:t>
            </a:r>
            <a:endParaRPr dirty="0"/>
          </a:p>
          <a:p>
            <a:pPr marL="457200" marR="0" lvl="0" indent="-457200" algn="l" rtl="0">
              <a:lnSpc>
                <a:spcPct val="150000"/>
              </a:lnSpc>
              <a:spcBef>
                <a:spcPts val="0"/>
              </a:spcBef>
              <a:spcAft>
                <a:spcPts val="0"/>
              </a:spcAft>
              <a:buClr>
                <a:schemeClr val="lt1"/>
              </a:buClr>
              <a:buSzPts val="2200"/>
              <a:buFont typeface="Calibri"/>
              <a:buAutoNum type="alphaLcParenBoth"/>
            </a:pPr>
            <a:r>
              <a:rPr lang="en-US" sz="2200" b="1" dirty="0">
                <a:solidFill>
                  <a:schemeClr val="lt1"/>
                </a:solidFill>
                <a:latin typeface="Calibri"/>
                <a:ea typeface="Calibri"/>
                <a:cs typeface="Calibri"/>
                <a:sym typeface="Calibri"/>
              </a:rPr>
              <a:t>List the final clusters.</a:t>
            </a:r>
            <a:endParaRPr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61"/>
          <p:cNvSpPr txBox="1"/>
          <p:nvPr/>
        </p:nvSpPr>
        <p:spPr>
          <a:xfrm>
            <a:off x="546756" y="7545"/>
            <a:ext cx="2618024"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Solution:   </a:t>
            </a:r>
            <a:endParaRPr sz="4400">
              <a:solidFill>
                <a:schemeClr val="lt1"/>
              </a:solidFill>
              <a:latin typeface="Calibri"/>
              <a:ea typeface="Calibri"/>
              <a:cs typeface="Calibri"/>
              <a:sym typeface="Calibri"/>
            </a:endParaRPr>
          </a:p>
        </p:txBody>
      </p:sp>
      <p:sp>
        <p:nvSpPr>
          <p:cNvPr id="629" name="Google Shape;629;p6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30" name="Google Shape;630;p61"/>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1" name="Google Shape;631;p61"/>
          <p:cNvSpPr/>
          <p:nvPr/>
        </p:nvSpPr>
        <p:spPr>
          <a:xfrm>
            <a:off x="129309" y="644258"/>
            <a:ext cx="11896436" cy="6123536"/>
          </a:xfrm>
          <a:prstGeom prst="rect">
            <a:avLst/>
          </a:prstGeom>
          <a:noFill/>
          <a:ln>
            <a:noFill/>
          </a:ln>
        </p:spPr>
        <p:txBody>
          <a:bodyPr spcFirstLastPara="1" wrap="square" lIns="91425" tIns="45700" rIns="91425" bIns="45700" anchor="ctr" anchorCtr="0">
            <a:spAutoFit/>
          </a:bodyPr>
          <a:lstStyle/>
          <a:p>
            <a:pPr marL="0" marR="0" lvl="0" indent="-139700" algn="l" rtl="0">
              <a:lnSpc>
                <a:spcPct val="150000"/>
              </a:lnSpc>
              <a:spcBef>
                <a:spcPts val="0"/>
              </a:spcBef>
              <a:spcAft>
                <a:spcPts val="0"/>
              </a:spcAft>
              <a:buClr>
                <a:schemeClr val="lt1"/>
              </a:buClr>
              <a:buSzPts val="2200"/>
              <a:buFont typeface="Arial"/>
              <a:buChar char="•"/>
            </a:pPr>
            <a:r>
              <a:rPr lang="en-US" sz="2200" b="0" i="0" u="none" strike="noStrike" cap="none">
                <a:solidFill>
                  <a:schemeClr val="lt1"/>
                </a:solidFill>
                <a:latin typeface="Arial"/>
                <a:ea typeface="Arial"/>
                <a:cs typeface="Arial"/>
                <a:sym typeface="Arial"/>
              </a:rPr>
              <a:t>For </a:t>
            </a:r>
            <a:r>
              <a:rPr lang="en-US" sz="2200" b="1" i="0" u="none" strike="noStrike" cap="none">
                <a:solidFill>
                  <a:schemeClr val="lt1"/>
                </a:solidFill>
                <a:latin typeface="Arial"/>
                <a:ea typeface="Arial"/>
                <a:cs typeface="Arial"/>
                <a:sym typeface="Arial"/>
              </a:rPr>
              <a:t>0.0</a:t>
            </a:r>
            <a:r>
              <a:rPr lang="en-US" sz="2200" b="0" i="0" u="none" strike="noStrike" cap="none">
                <a:solidFill>
                  <a:schemeClr val="lt1"/>
                </a:solidFill>
                <a:latin typeface="Arial"/>
                <a:ea typeface="Arial"/>
                <a:cs typeface="Arial"/>
                <a:sym typeface="Arial"/>
              </a:rPr>
              <a:t>: distances → |0.0−0.4|=0.4 ≤ 0.5; others &gt; 0.5</a:t>
            </a:r>
            <a:br>
              <a:rPr lang="en-US" sz="2200" b="0" i="0" u="none" strike="noStrike" cap="none">
                <a:solidFill>
                  <a:schemeClr val="lt1"/>
                </a:solidFill>
                <a:latin typeface="Arial"/>
                <a:ea typeface="Arial"/>
                <a:cs typeface="Arial"/>
                <a:sym typeface="Arial"/>
              </a:rPr>
            </a:br>
            <a:r>
              <a:rPr lang="en-US" sz="2200" b="0" i="0" u="none" strike="noStrike" cap="none">
                <a:solidFill>
                  <a:schemeClr val="lt1"/>
                </a:solidFill>
                <a:latin typeface="Arial"/>
                <a:ea typeface="Arial"/>
                <a:cs typeface="Arial"/>
                <a:sym typeface="Arial"/>
              </a:rPr>
              <a:t>Nε(0.0)={0.0, 0.4} (size 2)</a:t>
            </a:r>
            <a:endParaRPr/>
          </a:p>
          <a:p>
            <a:pPr marL="0" marR="0" lvl="0" indent="-139700" algn="l" rtl="0">
              <a:lnSpc>
                <a:spcPct val="150000"/>
              </a:lnSpc>
              <a:spcBef>
                <a:spcPts val="0"/>
              </a:spcBef>
              <a:spcAft>
                <a:spcPts val="0"/>
              </a:spcAft>
              <a:buClr>
                <a:schemeClr val="lt1"/>
              </a:buClr>
              <a:buSzPts val="2200"/>
              <a:buFont typeface="Arial"/>
              <a:buChar char="•"/>
            </a:pPr>
            <a:r>
              <a:rPr lang="en-US" sz="2200" b="0" i="0" u="none" strike="noStrike" cap="none">
                <a:solidFill>
                  <a:schemeClr val="lt1"/>
                </a:solidFill>
                <a:latin typeface="Arial"/>
                <a:ea typeface="Arial"/>
                <a:cs typeface="Arial"/>
                <a:sym typeface="Arial"/>
              </a:rPr>
              <a:t>For </a:t>
            </a:r>
            <a:r>
              <a:rPr lang="en-US" sz="2200" b="1" i="0" u="none" strike="noStrike" cap="none">
                <a:solidFill>
                  <a:schemeClr val="lt1"/>
                </a:solidFill>
                <a:latin typeface="Arial"/>
                <a:ea typeface="Arial"/>
                <a:cs typeface="Arial"/>
                <a:sym typeface="Arial"/>
              </a:rPr>
              <a:t>0.4</a:t>
            </a:r>
            <a:r>
              <a:rPr lang="en-US" sz="2200" b="0" i="0" u="none" strike="noStrike" cap="none">
                <a:solidFill>
                  <a:schemeClr val="lt1"/>
                </a:solidFill>
                <a:latin typeface="Arial"/>
                <a:ea typeface="Arial"/>
                <a:cs typeface="Arial"/>
                <a:sym typeface="Arial"/>
              </a:rPr>
              <a:t>: |0.4−0.0|=0.4 ≤ 0.5, |0.4−0.9|=0.5 ≤ 0.5; others &gt; 0.5</a:t>
            </a:r>
            <a:br>
              <a:rPr lang="en-US" sz="2200" b="0" i="0" u="none" strike="noStrike" cap="none">
                <a:solidFill>
                  <a:schemeClr val="lt1"/>
                </a:solidFill>
                <a:latin typeface="Arial"/>
                <a:ea typeface="Arial"/>
                <a:cs typeface="Arial"/>
                <a:sym typeface="Arial"/>
              </a:rPr>
            </a:br>
            <a:r>
              <a:rPr lang="en-US" sz="2200" b="0" i="0" u="none" strike="noStrike" cap="none">
                <a:solidFill>
                  <a:schemeClr val="lt1"/>
                </a:solidFill>
                <a:latin typeface="Arial"/>
                <a:ea typeface="Arial"/>
                <a:cs typeface="Arial"/>
                <a:sym typeface="Arial"/>
              </a:rPr>
              <a:t>Nε(0.4)={0.0, 0.4, 0.9} (size 3)</a:t>
            </a:r>
            <a:endParaRPr/>
          </a:p>
          <a:p>
            <a:pPr marL="0" marR="0" lvl="0" indent="-139700" algn="l" rtl="0">
              <a:lnSpc>
                <a:spcPct val="150000"/>
              </a:lnSpc>
              <a:spcBef>
                <a:spcPts val="0"/>
              </a:spcBef>
              <a:spcAft>
                <a:spcPts val="0"/>
              </a:spcAft>
              <a:buClr>
                <a:schemeClr val="lt1"/>
              </a:buClr>
              <a:buSzPts val="2200"/>
              <a:buFont typeface="Arial"/>
              <a:buChar char="•"/>
            </a:pPr>
            <a:r>
              <a:rPr lang="en-US" sz="2200" b="0" i="0" u="none" strike="noStrike" cap="none">
                <a:solidFill>
                  <a:schemeClr val="lt1"/>
                </a:solidFill>
                <a:latin typeface="Arial"/>
                <a:ea typeface="Arial"/>
                <a:cs typeface="Arial"/>
                <a:sym typeface="Arial"/>
              </a:rPr>
              <a:t>For </a:t>
            </a:r>
            <a:r>
              <a:rPr lang="en-US" sz="2200" b="1" i="0" u="none" strike="noStrike" cap="none">
                <a:solidFill>
                  <a:schemeClr val="lt1"/>
                </a:solidFill>
                <a:latin typeface="Arial"/>
                <a:ea typeface="Arial"/>
                <a:cs typeface="Arial"/>
                <a:sym typeface="Arial"/>
              </a:rPr>
              <a:t>0.9</a:t>
            </a:r>
            <a:r>
              <a:rPr lang="en-US" sz="2200" b="0" i="0" u="none" strike="noStrike" cap="none">
                <a:solidFill>
                  <a:schemeClr val="lt1"/>
                </a:solidFill>
                <a:latin typeface="Arial"/>
                <a:ea typeface="Arial"/>
                <a:cs typeface="Arial"/>
                <a:sym typeface="Arial"/>
              </a:rPr>
              <a:t>: |0.9−0.4|=0.5 ≤ 0.5; others &gt; 0.5</a:t>
            </a:r>
            <a:br>
              <a:rPr lang="en-US" sz="2200" b="0" i="0" u="none" strike="noStrike" cap="none">
                <a:solidFill>
                  <a:schemeClr val="lt1"/>
                </a:solidFill>
                <a:latin typeface="Arial"/>
                <a:ea typeface="Arial"/>
                <a:cs typeface="Arial"/>
                <a:sym typeface="Arial"/>
              </a:rPr>
            </a:br>
            <a:r>
              <a:rPr lang="en-US" sz="2200" b="0" i="0" u="none" strike="noStrike" cap="none">
                <a:solidFill>
                  <a:schemeClr val="lt1"/>
                </a:solidFill>
                <a:latin typeface="Arial"/>
                <a:ea typeface="Arial"/>
                <a:cs typeface="Arial"/>
                <a:sym typeface="Arial"/>
              </a:rPr>
              <a:t>Nε(0.9)={0.4, 0.9} (size 2)</a:t>
            </a:r>
            <a:endParaRPr/>
          </a:p>
          <a:p>
            <a:pPr marL="0" marR="0" lvl="0" indent="-139700" algn="l" rtl="0">
              <a:lnSpc>
                <a:spcPct val="150000"/>
              </a:lnSpc>
              <a:spcBef>
                <a:spcPts val="0"/>
              </a:spcBef>
              <a:spcAft>
                <a:spcPts val="0"/>
              </a:spcAft>
              <a:buClr>
                <a:schemeClr val="lt1"/>
              </a:buClr>
              <a:buSzPts val="2200"/>
              <a:buFont typeface="Arial"/>
              <a:buChar char="•"/>
            </a:pPr>
            <a:r>
              <a:rPr lang="en-US" sz="2200" b="0" i="0" u="none" strike="noStrike" cap="none">
                <a:solidFill>
                  <a:schemeClr val="lt1"/>
                </a:solidFill>
                <a:latin typeface="Arial"/>
                <a:ea typeface="Arial"/>
                <a:cs typeface="Arial"/>
                <a:sym typeface="Arial"/>
              </a:rPr>
              <a:t>For </a:t>
            </a:r>
            <a:r>
              <a:rPr lang="en-US" sz="2200" b="1" i="0" u="none" strike="noStrike" cap="none">
                <a:solidFill>
                  <a:schemeClr val="lt1"/>
                </a:solidFill>
                <a:latin typeface="Arial"/>
                <a:ea typeface="Arial"/>
                <a:cs typeface="Arial"/>
                <a:sym typeface="Arial"/>
              </a:rPr>
              <a:t>5.0</a:t>
            </a:r>
            <a:r>
              <a:rPr lang="en-US" sz="2200" b="0" i="0" u="none" strike="noStrike" cap="none">
                <a:solidFill>
                  <a:schemeClr val="lt1"/>
                </a:solidFill>
                <a:latin typeface="Arial"/>
                <a:ea typeface="Arial"/>
                <a:cs typeface="Arial"/>
                <a:sym typeface="Arial"/>
              </a:rPr>
              <a:t>: |5.0−5.2|=0.2 ≤ 0.5; others &gt; 0.5</a:t>
            </a:r>
            <a:br>
              <a:rPr lang="en-US" sz="2200" b="0" i="0" u="none" strike="noStrike" cap="none">
                <a:solidFill>
                  <a:schemeClr val="lt1"/>
                </a:solidFill>
                <a:latin typeface="Arial"/>
                <a:ea typeface="Arial"/>
                <a:cs typeface="Arial"/>
                <a:sym typeface="Arial"/>
              </a:rPr>
            </a:br>
            <a:r>
              <a:rPr lang="en-US" sz="2200" b="0" i="0" u="none" strike="noStrike" cap="none">
                <a:solidFill>
                  <a:schemeClr val="lt1"/>
                </a:solidFill>
                <a:latin typeface="Arial"/>
                <a:ea typeface="Arial"/>
                <a:cs typeface="Arial"/>
                <a:sym typeface="Arial"/>
              </a:rPr>
              <a:t>Nε(5.0)={5.0, 5.2} (size 2)</a:t>
            </a:r>
            <a:endParaRPr/>
          </a:p>
          <a:p>
            <a:pPr marL="0" marR="0" lvl="0" indent="-139700" algn="l" rtl="0">
              <a:lnSpc>
                <a:spcPct val="150000"/>
              </a:lnSpc>
              <a:spcBef>
                <a:spcPts val="0"/>
              </a:spcBef>
              <a:spcAft>
                <a:spcPts val="0"/>
              </a:spcAft>
              <a:buClr>
                <a:schemeClr val="lt1"/>
              </a:buClr>
              <a:buSzPts val="2200"/>
              <a:buFont typeface="Arial"/>
              <a:buChar char="•"/>
            </a:pPr>
            <a:r>
              <a:rPr lang="en-US" sz="2200" b="0" i="0" u="none" strike="noStrike" cap="none">
                <a:solidFill>
                  <a:schemeClr val="lt1"/>
                </a:solidFill>
                <a:latin typeface="Arial"/>
                <a:ea typeface="Arial"/>
                <a:cs typeface="Arial"/>
                <a:sym typeface="Arial"/>
              </a:rPr>
              <a:t>For </a:t>
            </a:r>
            <a:r>
              <a:rPr lang="en-US" sz="2200" b="1" i="0" u="none" strike="noStrike" cap="none">
                <a:solidFill>
                  <a:schemeClr val="lt1"/>
                </a:solidFill>
                <a:latin typeface="Arial"/>
                <a:ea typeface="Arial"/>
                <a:cs typeface="Arial"/>
                <a:sym typeface="Arial"/>
              </a:rPr>
              <a:t>5.2</a:t>
            </a:r>
            <a:r>
              <a:rPr lang="en-US" sz="2200" b="0" i="0" u="none" strike="noStrike" cap="none">
                <a:solidFill>
                  <a:schemeClr val="lt1"/>
                </a:solidFill>
                <a:latin typeface="Arial"/>
                <a:ea typeface="Arial"/>
                <a:cs typeface="Arial"/>
                <a:sym typeface="Arial"/>
              </a:rPr>
              <a:t>: |5.2−5.0|=0.2 ≤ 0.5; others &gt; 0.5</a:t>
            </a:r>
            <a:br>
              <a:rPr lang="en-US" sz="2200" b="0" i="0" u="none" strike="noStrike" cap="none">
                <a:solidFill>
                  <a:schemeClr val="lt1"/>
                </a:solidFill>
                <a:latin typeface="Arial"/>
                <a:ea typeface="Arial"/>
                <a:cs typeface="Arial"/>
                <a:sym typeface="Arial"/>
              </a:rPr>
            </a:br>
            <a:r>
              <a:rPr lang="en-US" sz="2200" b="0" i="0" u="none" strike="noStrike" cap="none">
                <a:solidFill>
                  <a:schemeClr val="lt1"/>
                </a:solidFill>
                <a:latin typeface="Arial"/>
                <a:ea typeface="Arial"/>
                <a:cs typeface="Arial"/>
                <a:sym typeface="Arial"/>
              </a:rPr>
              <a:t>Nε(5.2)={5.0, 5.2} (size 2)</a:t>
            </a:r>
            <a:endParaRPr/>
          </a:p>
          <a:p>
            <a:pPr marL="0" marR="0" lvl="0" indent="-139700" algn="l" rtl="0">
              <a:lnSpc>
                <a:spcPct val="150000"/>
              </a:lnSpc>
              <a:spcBef>
                <a:spcPts val="0"/>
              </a:spcBef>
              <a:spcAft>
                <a:spcPts val="0"/>
              </a:spcAft>
              <a:buClr>
                <a:schemeClr val="lt1"/>
              </a:buClr>
              <a:buSzPts val="2200"/>
              <a:buFont typeface="Arial"/>
              <a:buChar char="•"/>
            </a:pPr>
            <a:r>
              <a:rPr lang="en-US" sz="2200" b="0" i="0" u="none" strike="noStrike" cap="none">
                <a:solidFill>
                  <a:schemeClr val="lt1"/>
                </a:solidFill>
                <a:latin typeface="Arial"/>
                <a:ea typeface="Arial"/>
                <a:cs typeface="Arial"/>
                <a:sym typeface="Arial"/>
              </a:rPr>
              <a:t>For </a:t>
            </a:r>
            <a:r>
              <a:rPr lang="en-US" sz="2200" b="1" i="0" u="none" strike="noStrike" cap="none">
                <a:solidFill>
                  <a:schemeClr val="lt1"/>
                </a:solidFill>
                <a:latin typeface="Arial"/>
                <a:ea typeface="Arial"/>
                <a:cs typeface="Arial"/>
                <a:sym typeface="Arial"/>
              </a:rPr>
              <a:t>8.5</a:t>
            </a:r>
            <a:r>
              <a:rPr lang="en-US" sz="2200" b="0" i="0" u="none" strike="noStrike" cap="none">
                <a:solidFill>
                  <a:schemeClr val="lt1"/>
                </a:solidFill>
                <a:latin typeface="Arial"/>
                <a:ea typeface="Arial"/>
                <a:cs typeface="Arial"/>
                <a:sym typeface="Arial"/>
              </a:rPr>
              <a:t>: all distances &gt; 0.5</a:t>
            </a:r>
            <a:br>
              <a:rPr lang="en-US" sz="2200" b="0" i="0" u="none" strike="noStrike" cap="none">
                <a:solidFill>
                  <a:schemeClr val="lt1"/>
                </a:solidFill>
                <a:latin typeface="Arial"/>
                <a:ea typeface="Arial"/>
                <a:cs typeface="Arial"/>
                <a:sym typeface="Arial"/>
              </a:rPr>
            </a:br>
            <a:r>
              <a:rPr lang="en-US" sz="2200" b="0" i="0" u="none" strike="noStrike" cap="none">
                <a:solidFill>
                  <a:schemeClr val="lt1"/>
                </a:solidFill>
                <a:latin typeface="Arial"/>
                <a:ea typeface="Arial"/>
                <a:cs typeface="Arial"/>
                <a:sym typeface="Arial"/>
              </a:rPr>
              <a:t>Nε(8.5)={8.5} (size 1)</a:t>
            </a:r>
            <a:endParaRPr/>
          </a:p>
        </p:txBody>
      </p:sp>
      <p:sp>
        <p:nvSpPr>
          <p:cNvPr id="632" name="Google Shape;632;p61"/>
          <p:cNvSpPr/>
          <p:nvPr/>
        </p:nvSpPr>
        <p:spPr>
          <a:xfrm>
            <a:off x="3010331" y="73697"/>
            <a:ext cx="6475491" cy="58907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a:solidFill>
                  <a:srgbClr val="FFC000"/>
                </a:solidFill>
                <a:latin typeface="Calibri"/>
                <a:ea typeface="Calibri"/>
                <a:cs typeface="Calibri"/>
                <a:sym typeface="Calibri"/>
              </a:rPr>
              <a:t>S = {0.0, 0.4, 0.9, 5.0, 5.2, 8.5}, ε = 0.5, minPts =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62"/>
          <p:cNvSpPr txBox="1"/>
          <p:nvPr/>
        </p:nvSpPr>
        <p:spPr>
          <a:xfrm>
            <a:off x="546756" y="7545"/>
            <a:ext cx="208262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Solution</a:t>
            </a:r>
            <a:endParaRPr sz="4400">
              <a:solidFill>
                <a:schemeClr val="lt1"/>
              </a:solidFill>
              <a:latin typeface="Calibri"/>
              <a:ea typeface="Calibri"/>
              <a:cs typeface="Calibri"/>
              <a:sym typeface="Calibri"/>
            </a:endParaRPr>
          </a:p>
        </p:txBody>
      </p:sp>
      <p:sp>
        <p:nvSpPr>
          <p:cNvPr id="638" name="Google Shape;638;p6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39" name="Google Shape;639;p62"/>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0" name="Google Shape;640;p62"/>
          <p:cNvSpPr/>
          <p:nvPr/>
        </p:nvSpPr>
        <p:spPr>
          <a:xfrm>
            <a:off x="546756" y="1007289"/>
            <a:ext cx="5796780" cy="3139321"/>
          </a:xfrm>
          <a:prstGeom prst="rect">
            <a:avLst/>
          </a:prstGeom>
          <a:noFill/>
          <a:ln>
            <a:noFill/>
          </a:ln>
        </p:spPr>
        <p:txBody>
          <a:bodyPr spcFirstLastPara="1" wrap="square" lIns="91425" tIns="45700" rIns="91425" bIns="45700" anchor="ctr" anchorCtr="0">
            <a:spAutoFit/>
          </a:bodyPr>
          <a:lstStyle/>
          <a:p>
            <a:pPr marL="0" marR="0" lvl="0" indent="-139700" algn="l" rtl="0">
              <a:lnSpc>
                <a:spcPct val="150000"/>
              </a:lnSpc>
              <a:spcBef>
                <a:spcPts val="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0.0</a:t>
            </a:r>
            <a:r>
              <a:rPr lang="en-US" sz="2200" b="0" i="0" u="none" strike="noStrike" cap="none">
                <a:solidFill>
                  <a:schemeClr val="lt1"/>
                </a:solidFill>
                <a:latin typeface="Arial"/>
                <a:ea typeface="Arial"/>
                <a:cs typeface="Arial"/>
                <a:sym typeface="Arial"/>
              </a:rPr>
              <a:t> (size 2) → </a:t>
            </a:r>
            <a:r>
              <a:rPr lang="en-US" sz="2200" b="1" i="0" u="none" strike="noStrike" cap="none">
                <a:solidFill>
                  <a:schemeClr val="lt1"/>
                </a:solidFill>
                <a:latin typeface="Arial"/>
                <a:ea typeface="Arial"/>
                <a:cs typeface="Arial"/>
                <a:sym typeface="Arial"/>
              </a:rPr>
              <a:t>core</a:t>
            </a:r>
            <a:endParaRPr sz="2200" b="0" i="0" u="none" strike="noStrike" cap="none">
              <a:solidFill>
                <a:schemeClr val="lt1"/>
              </a:solidFill>
              <a:latin typeface="Arial"/>
              <a:ea typeface="Arial"/>
              <a:cs typeface="Arial"/>
              <a:sym typeface="Arial"/>
            </a:endParaRPr>
          </a:p>
          <a:p>
            <a:pPr marL="0" marR="0" lvl="0" indent="-139700" algn="l" rtl="0">
              <a:lnSpc>
                <a:spcPct val="150000"/>
              </a:lnSpc>
              <a:spcBef>
                <a:spcPts val="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0.4</a:t>
            </a:r>
            <a:r>
              <a:rPr lang="en-US" sz="2200" b="0" i="0" u="none" strike="noStrike" cap="none">
                <a:solidFill>
                  <a:schemeClr val="lt1"/>
                </a:solidFill>
                <a:latin typeface="Arial"/>
                <a:ea typeface="Arial"/>
                <a:cs typeface="Arial"/>
                <a:sym typeface="Arial"/>
              </a:rPr>
              <a:t> (size 3) → </a:t>
            </a:r>
            <a:r>
              <a:rPr lang="en-US" sz="2200" b="1" i="0" u="none" strike="noStrike" cap="none">
                <a:solidFill>
                  <a:schemeClr val="lt1"/>
                </a:solidFill>
                <a:latin typeface="Arial"/>
                <a:ea typeface="Arial"/>
                <a:cs typeface="Arial"/>
                <a:sym typeface="Arial"/>
              </a:rPr>
              <a:t>core</a:t>
            </a:r>
            <a:endParaRPr sz="2200" b="0" i="0" u="none" strike="noStrike" cap="none">
              <a:solidFill>
                <a:schemeClr val="lt1"/>
              </a:solidFill>
              <a:latin typeface="Arial"/>
              <a:ea typeface="Arial"/>
              <a:cs typeface="Arial"/>
              <a:sym typeface="Arial"/>
            </a:endParaRPr>
          </a:p>
          <a:p>
            <a:pPr marL="0" marR="0" lvl="0" indent="-139700" algn="l" rtl="0">
              <a:lnSpc>
                <a:spcPct val="150000"/>
              </a:lnSpc>
              <a:spcBef>
                <a:spcPts val="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0.9</a:t>
            </a:r>
            <a:r>
              <a:rPr lang="en-US" sz="2200" b="0" i="0" u="none" strike="noStrike" cap="none">
                <a:solidFill>
                  <a:schemeClr val="lt1"/>
                </a:solidFill>
                <a:latin typeface="Arial"/>
                <a:ea typeface="Arial"/>
                <a:cs typeface="Arial"/>
                <a:sym typeface="Arial"/>
              </a:rPr>
              <a:t> (size 2) → </a:t>
            </a:r>
            <a:r>
              <a:rPr lang="en-US" sz="2200" b="1" i="0" u="none" strike="noStrike" cap="none">
                <a:solidFill>
                  <a:schemeClr val="lt1"/>
                </a:solidFill>
                <a:latin typeface="Arial"/>
                <a:ea typeface="Arial"/>
                <a:cs typeface="Arial"/>
                <a:sym typeface="Arial"/>
              </a:rPr>
              <a:t>core</a:t>
            </a:r>
            <a:endParaRPr sz="2200" b="0" i="0" u="none" strike="noStrike" cap="none">
              <a:solidFill>
                <a:schemeClr val="lt1"/>
              </a:solidFill>
              <a:latin typeface="Arial"/>
              <a:ea typeface="Arial"/>
              <a:cs typeface="Arial"/>
              <a:sym typeface="Arial"/>
            </a:endParaRPr>
          </a:p>
          <a:p>
            <a:pPr marL="0" marR="0" lvl="0" indent="-139700" algn="l" rtl="0">
              <a:lnSpc>
                <a:spcPct val="150000"/>
              </a:lnSpc>
              <a:spcBef>
                <a:spcPts val="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5.0</a:t>
            </a:r>
            <a:r>
              <a:rPr lang="en-US" sz="2200" b="0" i="0" u="none" strike="noStrike" cap="none">
                <a:solidFill>
                  <a:schemeClr val="lt1"/>
                </a:solidFill>
                <a:latin typeface="Arial"/>
                <a:ea typeface="Arial"/>
                <a:cs typeface="Arial"/>
                <a:sym typeface="Arial"/>
              </a:rPr>
              <a:t> (size 2) → </a:t>
            </a:r>
            <a:r>
              <a:rPr lang="en-US" sz="2200" b="1" i="0" u="none" strike="noStrike" cap="none">
                <a:solidFill>
                  <a:schemeClr val="lt1"/>
                </a:solidFill>
                <a:latin typeface="Arial"/>
                <a:ea typeface="Arial"/>
                <a:cs typeface="Arial"/>
                <a:sym typeface="Arial"/>
              </a:rPr>
              <a:t>core</a:t>
            </a:r>
            <a:endParaRPr sz="2200" b="0" i="0" u="none" strike="noStrike" cap="none">
              <a:solidFill>
                <a:schemeClr val="lt1"/>
              </a:solidFill>
              <a:latin typeface="Arial"/>
              <a:ea typeface="Arial"/>
              <a:cs typeface="Arial"/>
              <a:sym typeface="Arial"/>
            </a:endParaRPr>
          </a:p>
          <a:p>
            <a:pPr marL="0" marR="0" lvl="0" indent="-139700" algn="l" rtl="0">
              <a:lnSpc>
                <a:spcPct val="150000"/>
              </a:lnSpc>
              <a:spcBef>
                <a:spcPts val="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5.2</a:t>
            </a:r>
            <a:r>
              <a:rPr lang="en-US" sz="2200" b="0" i="0" u="none" strike="noStrike" cap="none">
                <a:solidFill>
                  <a:schemeClr val="lt1"/>
                </a:solidFill>
                <a:latin typeface="Arial"/>
                <a:ea typeface="Arial"/>
                <a:cs typeface="Arial"/>
                <a:sym typeface="Arial"/>
              </a:rPr>
              <a:t> (size 2) → </a:t>
            </a:r>
            <a:r>
              <a:rPr lang="en-US" sz="2200" b="1" i="0" u="none" strike="noStrike" cap="none">
                <a:solidFill>
                  <a:schemeClr val="lt1"/>
                </a:solidFill>
                <a:latin typeface="Arial"/>
                <a:ea typeface="Arial"/>
                <a:cs typeface="Arial"/>
                <a:sym typeface="Arial"/>
              </a:rPr>
              <a:t>core</a:t>
            </a:r>
            <a:endParaRPr sz="2200" b="0" i="0" u="none" strike="noStrike" cap="none">
              <a:solidFill>
                <a:schemeClr val="lt1"/>
              </a:solidFill>
              <a:latin typeface="Arial"/>
              <a:ea typeface="Arial"/>
              <a:cs typeface="Arial"/>
              <a:sym typeface="Arial"/>
            </a:endParaRPr>
          </a:p>
          <a:p>
            <a:pPr marL="0" marR="0" lvl="0" indent="-139700" algn="l" rtl="0">
              <a:lnSpc>
                <a:spcPct val="150000"/>
              </a:lnSpc>
              <a:spcBef>
                <a:spcPts val="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8.5</a:t>
            </a:r>
            <a:r>
              <a:rPr lang="en-US" sz="2200" b="0" i="0" u="none" strike="noStrike" cap="none">
                <a:solidFill>
                  <a:schemeClr val="lt1"/>
                </a:solidFill>
                <a:latin typeface="Arial"/>
                <a:ea typeface="Arial"/>
                <a:cs typeface="Arial"/>
                <a:sym typeface="Arial"/>
              </a:rPr>
              <a:t> (size 1) → </a:t>
            </a:r>
            <a:r>
              <a:rPr lang="en-US" sz="2200" b="1" i="0" u="none" strike="noStrike" cap="none">
                <a:solidFill>
                  <a:schemeClr val="lt1"/>
                </a:solidFill>
                <a:latin typeface="Arial"/>
                <a:ea typeface="Arial"/>
                <a:cs typeface="Arial"/>
                <a:sym typeface="Arial"/>
              </a:rPr>
              <a:t>noise</a:t>
            </a:r>
            <a:r>
              <a:rPr lang="en-US" sz="2200" b="0" i="0" u="none" strike="noStrike" cap="none">
                <a:solidFill>
                  <a:schemeClr val="lt1"/>
                </a:solidFill>
                <a:latin typeface="Arial"/>
                <a:ea typeface="Arial"/>
                <a:cs typeface="Arial"/>
                <a:sym typeface="Arial"/>
              </a:rPr>
              <a:t> (not within of any core)</a:t>
            </a:r>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63"/>
          <p:cNvSpPr txBox="1"/>
          <p:nvPr/>
        </p:nvSpPr>
        <p:spPr>
          <a:xfrm>
            <a:off x="2296425" y="2469391"/>
            <a:ext cx="8649998"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FFC000"/>
                </a:solidFill>
                <a:latin typeface="Calibri"/>
                <a:ea typeface="Calibri"/>
                <a:cs typeface="Calibri"/>
                <a:sym typeface="Calibri"/>
              </a:rPr>
              <a:t>P</a:t>
            </a:r>
            <a:r>
              <a:rPr lang="en-US" sz="3600" b="1">
                <a:solidFill>
                  <a:schemeClr val="lt1"/>
                </a:solidFill>
                <a:latin typeface="Calibri"/>
                <a:ea typeface="Calibri"/>
                <a:cs typeface="Calibri"/>
                <a:sym typeface="Calibri"/>
              </a:rPr>
              <a:t>rincipal </a:t>
            </a:r>
            <a:r>
              <a:rPr lang="en-US" sz="3600" b="1">
                <a:solidFill>
                  <a:srgbClr val="FFC000"/>
                </a:solidFill>
                <a:latin typeface="Calibri"/>
                <a:ea typeface="Calibri"/>
                <a:cs typeface="Calibri"/>
                <a:sym typeface="Calibri"/>
              </a:rPr>
              <a:t>C</a:t>
            </a:r>
            <a:r>
              <a:rPr lang="en-US" sz="3600" b="1">
                <a:solidFill>
                  <a:schemeClr val="lt1"/>
                </a:solidFill>
                <a:latin typeface="Calibri"/>
                <a:ea typeface="Calibri"/>
                <a:cs typeface="Calibri"/>
                <a:sym typeface="Calibri"/>
              </a:rPr>
              <a:t>omponent </a:t>
            </a:r>
            <a:r>
              <a:rPr lang="en-US" sz="3600" b="1">
                <a:solidFill>
                  <a:srgbClr val="FFC000"/>
                </a:solidFill>
                <a:latin typeface="Calibri"/>
                <a:ea typeface="Calibri"/>
                <a:cs typeface="Calibri"/>
                <a:sym typeface="Calibri"/>
              </a:rPr>
              <a:t>A</a:t>
            </a:r>
            <a:r>
              <a:rPr lang="en-US" sz="3600" b="1">
                <a:solidFill>
                  <a:schemeClr val="lt1"/>
                </a:solidFill>
                <a:latin typeface="Calibri"/>
                <a:ea typeface="Calibri"/>
                <a:cs typeface="Calibri"/>
                <a:sym typeface="Calibri"/>
              </a:rPr>
              <a:t>nalysis (PCA)</a:t>
            </a:r>
            <a:endParaRPr sz="3600">
              <a:solidFill>
                <a:schemeClr val="lt1"/>
              </a:solidFill>
              <a:latin typeface="Calibri"/>
              <a:ea typeface="Calibri"/>
              <a:cs typeface="Calibri"/>
              <a:sym typeface="Calibri"/>
            </a:endParaRPr>
          </a:p>
        </p:txBody>
      </p:sp>
      <p:sp>
        <p:nvSpPr>
          <p:cNvPr id="646" name="Google Shape;646;p6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cxnSp>
        <p:nvCxnSpPr>
          <p:cNvPr id="651" name="Google Shape;651;p64"/>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652" name="Google Shape;652;p64"/>
          <p:cNvSpPr txBox="1"/>
          <p:nvPr/>
        </p:nvSpPr>
        <p:spPr>
          <a:xfrm>
            <a:off x="546756" y="7545"/>
            <a:ext cx="774558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What is Curse of Dimensionality?</a:t>
            </a:r>
            <a:endParaRPr sz="4400">
              <a:solidFill>
                <a:schemeClr val="lt1"/>
              </a:solidFill>
              <a:latin typeface="Calibri"/>
              <a:ea typeface="Calibri"/>
              <a:cs typeface="Calibri"/>
              <a:sym typeface="Calibri"/>
            </a:endParaRPr>
          </a:p>
        </p:txBody>
      </p:sp>
      <p:sp>
        <p:nvSpPr>
          <p:cNvPr id="653" name="Google Shape;653;p6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54" name="Google Shape;654;p64"/>
          <p:cNvSpPr/>
          <p:nvPr/>
        </p:nvSpPr>
        <p:spPr>
          <a:xfrm>
            <a:off x="546755" y="902872"/>
            <a:ext cx="11261313" cy="5078313"/>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chemeClr val="lt1"/>
                </a:solidFill>
                <a:latin typeface="Calibri"/>
                <a:ea typeface="Calibri"/>
                <a:cs typeface="Calibri"/>
                <a:sym typeface="Calibri"/>
              </a:rPr>
              <a:t>It refers to the challenges and issues that emerge </a:t>
            </a:r>
            <a:r>
              <a:rPr lang="en-US" sz="2400" u="sng">
                <a:solidFill>
                  <a:schemeClr val="lt1"/>
                </a:solidFill>
                <a:latin typeface="Calibri"/>
                <a:ea typeface="Calibri"/>
                <a:cs typeface="Calibri"/>
                <a:sym typeface="Calibri"/>
              </a:rPr>
              <a:t>when dealing with high-dimensional data, where the number of features or dimensions greatly exceeds the number of data points</a:t>
            </a:r>
            <a:r>
              <a:rPr lang="en-US" sz="2400">
                <a:solidFill>
                  <a:schemeClr val="lt1"/>
                </a:solidFill>
                <a:latin typeface="Calibri"/>
                <a:ea typeface="Calibri"/>
                <a:cs typeface="Calibri"/>
                <a:sym typeface="Calibri"/>
              </a:rPr>
              <a:t>. This phenomenon has several important implications and consequences:</a:t>
            </a:r>
            <a:endParaRPr/>
          </a:p>
          <a:p>
            <a:pPr marL="457200" marR="0" lvl="0" indent="-457200" algn="just" rtl="0">
              <a:lnSpc>
                <a:spcPct val="150000"/>
              </a:lnSpc>
              <a:spcBef>
                <a:spcPts val="0"/>
              </a:spcBef>
              <a:spcAft>
                <a:spcPts val="0"/>
              </a:spcAft>
              <a:buClr>
                <a:srgbClr val="FFC000"/>
              </a:buClr>
              <a:buSzPts val="2400"/>
              <a:buFont typeface="Calibri"/>
              <a:buAutoNum type="arabicPeriod"/>
            </a:pPr>
            <a:r>
              <a:rPr lang="en-US" sz="2400" b="1">
                <a:solidFill>
                  <a:srgbClr val="FFC000"/>
                </a:solidFill>
                <a:latin typeface="Calibri"/>
                <a:ea typeface="Calibri"/>
                <a:cs typeface="Calibri"/>
                <a:sym typeface="Calibri"/>
              </a:rPr>
              <a:t>Data Sparsity:</a:t>
            </a:r>
            <a:r>
              <a:rPr lang="en-US" sz="2400">
                <a:solidFill>
                  <a:schemeClr val="lt1"/>
                </a:solidFill>
                <a:latin typeface="Calibri"/>
                <a:ea typeface="Calibri"/>
                <a:cs typeface="Calibri"/>
                <a:sym typeface="Calibri"/>
              </a:rPr>
              <a:t> As the number of dimensions increases, the available data points become sparser within the high-dimensional space.</a:t>
            </a:r>
            <a:endParaRPr/>
          </a:p>
          <a:p>
            <a:pPr marL="0" marR="0" lvl="0" indent="0" algn="just" rtl="0">
              <a:lnSpc>
                <a:spcPct val="150000"/>
              </a:lnSpc>
              <a:spcBef>
                <a:spcPts val="0"/>
              </a:spcBef>
              <a:spcAft>
                <a:spcPts val="0"/>
              </a:spcAft>
              <a:buNone/>
            </a:pPr>
            <a:r>
              <a:rPr lang="en-US" sz="2400" b="1">
                <a:solidFill>
                  <a:srgbClr val="FFC000"/>
                </a:solidFill>
                <a:latin typeface="Calibri"/>
                <a:ea typeface="Calibri"/>
                <a:cs typeface="Calibri"/>
                <a:sym typeface="Calibri"/>
              </a:rPr>
              <a:t>Example1:</a:t>
            </a:r>
            <a:r>
              <a:rPr lang="en-US" sz="2400">
                <a:solidFill>
                  <a:schemeClr val="lt1"/>
                </a:solidFill>
                <a:latin typeface="Calibri"/>
                <a:ea typeface="Calibri"/>
                <a:cs typeface="Calibri"/>
                <a:sym typeface="Calibri"/>
              </a:rPr>
              <a:t> </a:t>
            </a:r>
            <a:r>
              <a:rPr lang="en-US" sz="2400" b="1" u="sng">
                <a:solidFill>
                  <a:schemeClr val="lt1"/>
                </a:solidFill>
                <a:latin typeface="Calibri"/>
                <a:ea typeface="Calibri"/>
                <a:cs typeface="Calibri"/>
                <a:sym typeface="Calibri"/>
              </a:rPr>
              <a:t>Sentiment Analysis on Customer Reviews </a:t>
            </a:r>
            <a:endParaRPr/>
          </a:p>
          <a:p>
            <a:pPr marL="0" marR="0" lvl="0" indent="0" algn="just" rtl="0">
              <a:lnSpc>
                <a:spcPct val="150000"/>
              </a:lnSpc>
              <a:spcBef>
                <a:spcPts val="0"/>
              </a:spcBef>
              <a:spcAft>
                <a:spcPts val="0"/>
              </a:spcAft>
              <a:buNone/>
            </a:pPr>
            <a:r>
              <a:rPr lang="en-US" sz="2400" b="1" u="sng">
                <a:solidFill>
                  <a:schemeClr val="lt1"/>
                </a:solidFill>
                <a:latin typeface="Calibri"/>
                <a:ea typeface="Calibri"/>
                <a:cs typeface="Calibri"/>
                <a:sym typeface="Calibri"/>
              </a:rPr>
              <a:t>Task:</a:t>
            </a:r>
            <a:r>
              <a:rPr lang="en-US" sz="2400" b="1">
                <a:solidFill>
                  <a:schemeClr val="lt1"/>
                </a:solidFill>
                <a:latin typeface="Calibri"/>
                <a:ea typeface="Calibri"/>
                <a:cs typeface="Calibri"/>
                <a:sym typeface="Calibri"/>
              </a:rPr>
              <a:t> </a:t>
            </a:r>
            <a:r>
              <a:rPr lang="en-US" sz="2400">
                <a:solidFill>
                  <a:schemeClr val="lt1"/>
                </a:solidFill>
                <a:latin typeface="Calibri"/>
                <a:ea typeface="Calibri"/>
                <a:cs typeface="Calibri"/>
                <a:sym typeface="Calibri"/>
              </a:rPr>
              <a:t>To determine whether customer reviews of a product are positive or negative.</a:t>
            </a:r>
            <a:endParaRPr/>
          </a:p>
          <a:p>
            <a:pPr marL="0" marR="0" lvl="0" indent="0" algn="l" rtl="0">
              <a:spcBef>
                <a:spcPts val="0"/>
              </a:spcBef>
              <a:spcAft>
                <a:spcPts val="0"/>
              </a:spcAft>
              <a:buNone/>
            </a:pPr>
            <a:r>
              <a:rPr lang="en-US" sz="2400" u="sng">
                <a:solidFill>
                  <a:schemeClr val="lt1"/>
                </a:solidFill>
                <a:latin typeface="Calibri"/>
                <a:ea typeface="Calibri"/>
                <a:cs typeface="Calibri"/>
                <a:sym typeface="Calibri"/>
              </a:rPr>
              <a:t>Dataset Details:</a:t>
            </a:r>
            <a:endParaRPr/>
          </a:p>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Number of customer reviews (documents): 1,000</a:t>
            </a:r>
            <a:endParaRPr/>
          </a:p>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Vocabulary size (unique words in all reviews): 50,000</a:t>
            </a:r>
            <a:endParaRPr sz="2400">
              <a:solidFill>
                <a:schemeClr val="lt1"/>
              </a:solidFill>
              <a:latin typeface="Calibri"/>
              <a:ea typeface="Calibri"/>
              <a:cs typeface="Calibri"/>
              <a:sym typeface="Calibri"/>
            </a:endParaRPr>
          </a:p>
        </p:txBody>
      </p:sp>
      <p:sp>
        <p:nvSpPr>
          <p:cNvPr id="655" name="Google Shape;655;p64"/>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cxnSp>
        <p:nvCxnSpPr>
          <p:cNvPr id="660" name="Google Shape;660;p65"/>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661" name="Google Shape;661;p65"/>
          <p:cNvSpPr txBox="1"/>
          <p:nvPr/>
        </p:nvSpPr>
        <p:spPr>
          <a:xfrm>
            <a:off x="546756" y="7545"/>
            <a:ext cx="774558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What is Curse of Dimensionality?</a:t>
            </a:r>
            <a:endParaRPr sz="4400">
              <a:solidFill>
                <a:schemeClr val="lt1"/>
              </a:solidFill>
              <a:latin typeface="Calibri"/>
              <a:ea typeface="Calibri"/>
              <a:cs typeface="Calibri"/>
              <a:sym typeface="Calibri"/>
            </a:endParaRPr>
          </a:p>
        </p:txBody>
      </p:sp>
      <p:sp>
        <p:nvSpPr>
          <p:cNvPr id="662" name="Google Shape;662;p65"/>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63" name="Google Shape;663;p65"/>
          <p:cNvSpPr/>
          <p:nvPr/>
        </p:nvSpPr>
        <p:spPr>
          <a:xfrm>
            <a:off x="546755" y="902872"/>
            <a:ext cx="7005837" cy="168584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a:solidFill>
                  <a:srgbClr val="FFC000"/>
                </a:solidFill>
                <a:latin typeface="Arial"/>
                <a:ea typeface="Arial"/>
                <a:cs typeface="Arial"/>
                <a:sym typeface="Arial"/>
              </a:rPr>
              <a:t>Customer Review 1:</a:t>
            </a:r>
            <a:r>
              <a:rPr lang="en-US" sz="2400" b="1">
                <a:solidFill>
                  <a:schemeClr val="lt1"/>
                </a:solidFill>
                <a:latin typeface="Arial"/>
                <a:ea typeface="Arial"/>
                <a:cs typeface="Arial"/>
                <a:sym typeface="Arial"/>
              </a:rPr>
              <a:t> "The product is great."</a:t>
            </a:r>
            <a:endParaRPr/>
          </a:p>
          <a:p>
            <a:pPr marL="0" marR="0" lvl="0" indent="0" algn="l" rtl="0">
              <a:lnSpc>
                <a:spcPct val="150000"/>
              </a:lnSpc>
              <a:spcBef>
                <a:spcPts val="0"/>
              </a:spcBef>
              <a:spcAft>
                <a:spcPts val="0"/>
              </a:spcAft>
              <a:buNone/>
            </a:pPr>
            <a:r>
              <a:rPr lang="en-US" sz="2400" b="1">
                <a:solidFill>
                  <a:srgbClr val="FFC000"/>
                </a:solidFill>
                <a:latin typeface="Arial"/>
                <a:ea typeface="Arial"/>
                <a:cs typeface="Arial"/>
                <a:sym typeface="Arial"/>
              </a:rPr>
              <a:t>Customer Review 2:</a:t>
            </a:r>
            <a:r>
              <a:rPr lang="en-US" sz="2400" b="1">
                <a:solidFill>
                  <a:schemeClr val="lt1"/>
                </a:solidFill>
                <a:latin typeface="Arial"/>
                <a:ea typeface="Arial"/>
                <a:cs typeface="Arial"/>
                <a:sym typeface="Arial"/>
              </a:rPr>
              <a:t> "I don't like it."</a:t>
            </a:r>
            <a:endParaRPr/>
          </a:p>
          <a:p>
            <a:pPr marL="0" marR="0" lvl="0" indent="0" algn="l" rtl="0">
              <a:lnSpc>
                <a:spcPct val="150000"/>
              </a:lnSpc>
              <a:spcBef>
                <a:spcPts val="0"/>
              </a:spcBef>
              <a:spcAft>
                <a:spcPts val="0"/>
              </a:spcAft>
              <a:buNone/>
            </a:pPr>
            <a:r>
              <a:rPr lang="en-US" sz="2400" b="1">
                <a:solidFill>
                  <a:srgbClr val="FFC000"/>
                </a:solidFill>
                <a:latin typeface="Arial"/>
                <a:ea typeface="Arial"/>
                <a:cs typeface="Arial"/>
                <a:sym typeface="Arial"/>
              </a:rPr>
              <a:t>Customer Review 3: </a:t>
            </a:r>
            <a:r>
              <a:rPr lang="en-US" sz="2400" b="1">
                <a:solidFill>
                  <a:schemeClr val="lt1"/>
                </a:solidFill>
                <a:latin typeface="Arial"/>
                <a:ea typeface="Arial"/>
                <a:cs typeface="Arial"/>
                <a:sym typeface="Arial"/>
              </a:rPr>
              <a:t>"Excellent product!"</a:t>
            </a:r>
            <a:endParaRPr sz="2400">
              <a:solidFill>
                <a:schemeClr val="lt1"/>
              </a:solidFill>
              <a:latin typeface="Arial"/>
              <a:ea typeface="Arial"/>
              <a:cs typeface="Arial"/>
              <a:sym typeface="Arial"/>
            </a:endParaRPr>
          </a:p>
        </p:txBody>
      </p:sp>
      <p:sp>
        <p:nvSpPr>
          <p:cNvPr id="664" name="Google Shape;664;p65"/>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5" name="Google Shape;665;p65"/>
          <p:cNvSpPr/>
          <p:nvPr/>
        </p:nvSpPr>
        <p:spPr>
          <a:xfrm>
            <a:off x="9621382" y="776986"/>
            <a:ext cx="2157046"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C000"/>
                </a:solidFill>
                <a:latin typeface="Arial"/>
                <a:ea typeface="Arial"/>
                <a:cs typeface="Arial"/>
                <a:sym typeface="Arial"/>
              </a:rPr>
              <a:t>Unique Vocabulary:</a:t>
            </a:r>
            <a:endParaRPr sz="2400">
              <a:solidFill>
                <a:srgbClr val="FFC000"/>
              </a:solidFill>
              <a:latin typeface="Arial"/>
              <a:ea typeface="Arial"/>
              <a:cs typeface="Arial"/>
              <a:sym typeface="Arial"/>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The</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product</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is</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great</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I</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don't</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like</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it</a:t>
            </a:r>
            <a:endParaRPr/>
          </a:p>
          <a:p>
            <a:pPr marL="0" marR="0" lvl="0" indent="-152400" algn="l" rtl="0">
              <a:spcBef>
                <a:spcPts val="0"/>
              </a:spcBef>
              <a:spcAft>
                <a:spcPts val="0"/>
              </a:spcAft>
              <a:buClr>
                <a:schemeClr val="lt1"/>
              </a:buClr>
              <a:buSzPts val="2400"/>
              <a:buFont typeface="Calibri"/>
              <a:buAutoNum type="arabicPeriod"/>
            </a:pPr>
            <a:r>
              <a:rPr lang="en-US" sz="2400">
                <a:solidFill>
                  <a:schemeClr val="lt1"/>
                </a:solidFill>
                <a:latin typeface="Arial"/>
                <a:ea typeface="Arial"/>
                <a:cs typeface="Arial"/>
                <a:sym typeface="Arial"/>
              </a:rPr>
              <a:t>Excellent</a:t>
            </a:r>
            <a:endParaRPr sz="2400" b="0" i="0">
              <a:solidFill>
                <a:schemeClr val="lt1"/>
              </a:solidFill>
              <a:latin typeface="Arial"/>
              <a:ea typeface="Arial"/>
              <a:cs typeface="Arial"/>
              <a:sym typeface="Arial"/>
            </a:endParaRPr>
          </a:p>
        </p:txBody>
      </p:sp>
      <p:graphicFrame>
        <p:nvGraphicFramePr>
          <p:cNvPr id="666" name="Google Shape;666;p65"/>
          <p:cNvGraphicFramePr/>
          <p:nvPr/>
        </p:nvGraphicFramePr>
        <p:xfrm>
          <a:off x="785611" y="3986326"/>
          <a:ext cx="8391500" cy="1483400"/>
        </p:xfrm>
        <a:graphic>
          <a:graphicData uri="http://schemas.openxmlformats.org/drawingml/2006/table">
            <a:tbl>
              <a:tblPr firstRow="1" bandRow="1">
                <a:noFill/>
                <a:tableStyleId>{B8EB8283-1C1D-4487-8DC5-DA2C1829E0BC}</a:tableStyleId>
              </a:tblPr>
              <a:tblGrid>
                <a:gridCol w="1178175">
                  <a:extLst>
                    <a:ext uri="{9D8B030D-6E8A-4147-A177-3AD203B41FA5}">
                      <a16:colId xmlns:a16="http://schemas.microsoft.com/office/drawing/2014/main" val="20000"/>
                    </a:ext>
                  </a:extLst>
                </a:gridCol>
                <a:gridCol w="668225">
                  <a:extLst>
                    <a:ext uri="{9D8B030D-6E8A-4147-A177-3AD203B41FA5}">
                      <a16:colId xmlns:a16="http://schemas.microsoft.com/office/drawing/2014/main" val="20001"/>
                    </a:ext>
                  </a:extLst>
                </a:gridCol>
                <a:gridCol w="1063875">
                  <a:extLst>
                    <a:ext uri="{9D8B030D-6E8A-4147-A177-3AD203B41FA5}">
                      <a16:colId xmlns:a16="http://schemas.microsoft.com/office/drawing/2014/main" val="20002"/>
                    </a:ext>
                  </a:extLst>
                </a:gridCol>
                <a:gridCol w="446350">
                  <a:extLst>
                    <a:ext uri="{9D8B030D-6E8A-4147-A177-3AD203B41FA5}">
                      <a16:colId xmlns:a16="http://schemas.microsoft.com/office/drawing/2014/main" val="20003"/>
                    </a:ext>
                  </a:extLst>
                </a:gridCol>
                <a:gridCol w="839150">
                  <a:extLst>
                    <a:ext uri="{9D8B030D-6E8A-4147-A177-3AD203B41FA5}">
                      <a16:colId xmlns:a16="http://schemas.microsoft.com/office/drawing/2014/main" val="20004"/>
                    </a:ext>
                  </a:extLst>
                </a:gridCol>
                <a:gridCol w="393825">
                  <a:extLst>
                    <a:ext uri="{9D8B030D-6E8A-4147-A177-3AD203B41FA5}">
                      <a16:colId xmlns:a16="http://schemas.microsoft.com/office/drawing/2014/main" val="20005"/>
                    </a:ext>
                  </a:extLst>
                </a:gridCol>
                <a:gridCol w="738550">
                  <a:extLst>
                    <a:ext uri="{9D8B030D-6E8A-4147-A177-3AD203B41FA5}">
                      <a16:colId xmlns:a16="http://schemas.microsoft.com/office/drawing/2014/main" val="20006"/>
                    </a:ext>
                  </a:extLst>
                </a:gridCol>
                <a:gridCol w="641850">
                  <a:extLst>
                    <a:ext uri="{9D8B030D-6E8A-4147-A177-3AD203B41FA5}">
                      <a16:colId xmlns:a16="http://schemas.microsoft.com/office/drawing/2014/main" val="20007"/>
                    </a:ext>
                  </a:extLst>
                </a:gridCol>
                <a:gridCol w="562700">
                  <a:extLst>
                    <a:ext uri="{9D8B030D-6E8A-4147-A177-3AD203B41FA5}">
                      <a16:colId xmlns:a16="http://schemas.microsoft.com/office/drawing/2014/main" val="20008"/>
                    </a:ext>
                  </a:extLst>
                </a:gridCol>
                <a:gridCol w="1858800">
                  <a:extLst>
                    <a:ext uri="{9D8B030D-6E8A-4147-A177-3AD203B41FA5}">
                      <a16:colId xmlns:a16="http://schemas.microsoft.com/office/drawing/2014/main" val="20009"/>
                    </a:ext>
                  </a:extLst>
                </a:gridCol>
              </a:tblGrid>
              <a:tr h="370850">
                <a:tc>
                  <a:txBody>
                    <a:bodyPr/>
                    <a:lstStyle/>
                    <a:p>
                      <a:pPr marL="0" marR="0" lvl="0" indent="0" algn="l" rtl="0">
                        <a:spcBef>
                          <a:spcPts val="0"/>
                        </a:spcBef>
                        <a:spcAft>
                          <a:spcPts val="0"/>
                        </a:spcAft>
                        <a:buNone/>
                      </a:pPr>
                      <a:r>
                        <a:rPr lang="en-US" sz="1800"/>
                        <a:t>Document</a:t>
                      </a:r>
                      <a:endParaRPr sz="1800"/>
                    </a:p>
                  </a:txBody>
                  <a:tcPr marL="91450" marR="91450" marT="45725" marB="45725"/>
                </a:tc>
                <a:tc>
                  <a:txBody>
                    <a:bodyPr/>
                    <a:lstStyle/>
                    <a:p>
                      <a:pPr marL="0" marR="0" lvl="0" indent="0" algn="ctr" rtl="0">
                        <a:spcBef>
                          <a:spcPts val="0"/>
                        </a:spcBef>
                        <a:spcAft>
                          <a:spcPts val="0"/>
                        </a:spcAft>
                        <a:buNone/>
                      </a:pPr>
                      <a:r>
                        <a:rPr lang="en-US" sz="1800"/>
                        <a:t>The</a:t>
                      </a:r>
                      <a:endParaRPr sz="1800"/>
                    </a:p>
                  </a:txBody>
                  <a:tcPr marL="91450" marR="91450" marT="45725" marB="45725"/>
                </a:tc>
                <a:tc>
                  <a:txBody>
                    <a:bodyPr/>
                    <a:lstStyle/>
                    <a:p>
                      <a:pPr marL="0" marR="0" lvl="0" indent="0" algn="ctr" rtl="0">
                        <a:spcBef>
                          <a:spcPts val="0"/>
                        </a:spcBef>
                        <a:spcAft>
                          <a:spcPts val="0"/>
                        </a:spcAft>
                        <a:buNone/>
                      </a:pPr>
                      <a:r>
                        <a:rPr lang="en-US" sz="1800"/>
                        <a:t>Product</a:t>
                      </a:r>
                      <a:endParaRPr sz="1800"/>
                    </a:p>
                  </a:txBody>
                  <a:tcPr marL="91450" marR="91450" marT="45725" marB="45725"/>
                </a:tc>
                <a:tc>
                  <a:txBody>
                    <a:bodyPr/>
                    <a:lstStyle/>
                    <a:p>
                      <a:pPr marL="0" marR="0" lvl="0" indent="0" algn="ctr" rtl="0">
                        <a:spcBef>
                          <a:spcPts val="0"/>
                        </a:spcBef>
                        <a:spcAft>
                          <a:spcPts val="0"/>
                        </a:spcAft>
                        <a:buNone/>
                      </a:pPr>
                      <a:r>
                        <a:rPr lang="en-US" sz="1800"/>
                        <a:t>Is</a:t>
                      </a:r>
                      <a:endParaRPr sz="1800"/>
                    </a:p>
                  </a:txBody>
                  <a:tcPr marL="91450" marR="91450" marT="45725" marB="45725"/>
                </a:tc>
                <a:tc>
                  <a:txBody>
                    <a:bodyPr/>
                    <a:lstStyle/>
                    <a:p>
                      <a:pPr marL="0" marR="0" lvl="0" indent="0" algn="ctr" rtl="0">
                        <a:spcBef>
                          <a:spcPts val="0"/>
                        </a:spcBef>
                        <a:spcAft>
                          <a:spcPts val="0"/>
                        </a:spcAft>
                        <a:buNone/>
                      </a:pPr>
                      <a:r>
                        <a:rPr lang="en-US" sz="1800"/>
                        <a:t>Great</a:t>
                      </a:r>
                      <a:endParaRPr sz="1800"/>
                    </a:p>
                  </a:txBody>
                  <a:tcPr marL="91450" marR="91450" marT="45725" marB="45725"/>
                </a:tc>
                <a:tc>
                  <a:txBody>
                    <a:bodyPr/>
                    <a:lstStyle/>
                    <a:p>
                      <a:pPr marL="0" marR="0" lvl="0" indent="0" algn="ctr" rtl="0">
                        <a:spcBef>
                          <a:spcPts val="0"/>
                        </a:spcBef>
                        <a:spcAft>
                          <a:spcPts val="0"/>
                        </a:spcAft>
                        <a:buNone/>
                      </a:pPr>
                      <a:r>
                        <a:rPr lang="en-US" sz="1800"/>
                        <a:t>I</a:t>
                      </a:r>
                      <a:endParaRPr sz="1800"/>
                    </a:p>
                  </a:txBody>
                  <a:tcPr marL="91450" marR="91450" marT="45725" marB="45725"/>
                </a:tc>
                <a:tc>
                  <a:txBody>
                    <a:bodyPr/>
                    <a:lstStyle/>
                    <a:p>
                      <a:pPr marL="0" marR="0" lvl="0" indent="0" algn="ctr" rtl="0">
                        <a:spcBef>
                          <a:spcPts val="0"/>
                        </a:spcBef>
                        <a:spcAft>
                          <a:spcPts val="0"/>
                        </a:spcAft>
                        <a:buNone/>
                      </a:pPr>
                      <a:r>
                        <a:rPr lang="en-US" sz="1800"/>
                        <a:t>Don’t</a:t>
                      </a:r>
                      <a:endParaRPr sz="1800"/>
                    </a:p>
                  </a:txBody>
                  <a:tcPr marL="91450" marR="91450" marT="45725" marB="45725"/>
                </a:tc>
                <a:tc>
                  <a:txBody>
                    <a:bodyPr/>
                    <a:lstStyle/>
                    <a:p>
                      <a:pPr marL="0" marR="0" lvl="0" indent="0" algn="ctr" rtl="0">
                        <a:spcBef>
                          <a:spcPts val="0"/>
                        </a:spcBef>
                        <a:spcAft>
                          <a:spcPts val="0"/>
                        </a:spcAft>
                        <a:buNone/>
                      </a:pPr>
                      <a:r>
                        <a:rPr lang="en-US" sz="1800"/>
                        <a:t>Like</a:t>
                      </a:r>
                      <a:endParaRPr sz="1800"/>
                    </a:p>
                  </a:txBody>
                  <a:tcPr marL="91450" marR="91450" marT="45725" marB="45725"/>
                </a:tc>
                <a:tc>
                  <a:txBody>
                    <a:bodyPr/>
                    <a:lstStyle/>
                    <a:p>
                      <a:pPr marL="0" marR="0" lvl="0" indent="0" algn="ctr" rtl="0">
                        <a:spcBef>
                          <a:spcPts val="0"/>
                        </a:spcBef>
                        <a:spcAft>
                          <a:spcPts val="0"/>
                        </a:spcAft>
                        <a:buNone/>
                      </a:pPr>
                      <a:r>
                        <a:rPr lang="en-US" sz="1800"/>
                        <a:t>It</a:t>
                      </a:r>
                      <a:endParaRPr sz="1800"/>
                    </a:p>
                  </a:txBody>
                  <a:tcPr marL="91450" marR="91450" marT="45725" marB="45725"/>
                </a:tc>
                <a:tc>
                  <a:txBody>
                    <a:bodyPr/>
                    <a:lstStyle/>
                    <a:p>
                      <a:pPr marL="0" marR="0" lvl="0" indent="0" algn="ctr" rtl="0">
                        <a:spcBef>
                          <a:spcPts val="0"/>
                        </a:spcBef>
                        <a:spcAft>
                          <a:spcPts val="0"/>
                        </a:spcAft>
                        <a:buNone/>
                      </a:pPr>
                      <a:r>
                        <a:rPr lang="en-US" sz="1800"/>
                        <a:t>Excellent</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Review 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Review 2</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Review 3</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3"/>
                  </a:ext>
                </a:extLst>
              </a:tr>
            </a:tbl>
          </a:graphicData>
        </a:graphic>
      </p:graphicFrame>
      <p:sp>
        <p:nvSpPr>
          <p:cNvPr id="667" name="Google Shape;667;p65"/>
          <p:cNvSpPr/>
          <p:nvPr/>
        </p:nvSpPr>
        <p:spPr>
          <a:xfrm>
            <a:off x="3039863" y="3599941"/>
            <a:ext cx="38829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FFFF00"/>
                </a:solidFill>
                <a:latin typeface="Arial"/>
                <a:ea typeface="Arial"/>
                <a:cs typeface="Arial"/>
                <a:sym typeface="Arial"/>
              </a:rPr>
              <a:t>Sparse Document-Term Matrix</a:t>
            </a:r>
            <a:endParaRPr sz="2000">
              <a:solidFill>
                <a:srgbClr val="FFFF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cxnSp>
        <p:nvCxnSpPr>
          <p:cNvPr id="672" name="Google Shape;672;p66"/>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673" name="Google Shape;673;p66"/>
          <p:cNvSpPr txBox="1"/>
          <p:nvPr/>
        </p:nvSpPr>
        <p:spPr>
          <a:xfrm>
            <a:off x="546756" y="7545"/>
            <a:ext cx="774558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What is Curse of Dimensionality?</a:t>
            </a:r>
            <a:endParaRPr sz="4400">
              <a:solidFill>
                <a:schemeClr val="lt1"/>
              </a:solidFill>
              <a:latin typeface="Calibri"/>
              <a:ea typeface="Calibri"/>
              <a:cs typeface="Calibri"/>
              <a:sym typeface="Calibri"/>
            </a:endParaRPr>
          </a:p>
        </p:txBody>
      </p:sp>
      <p:sp>
        <p:nvSpPr>
          <p:cNvPr id="674" name="Google Shape;674;p66"/>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75" name="Google Shape;675;p66"/>
          <p:cNvSpPr/>
          <p:nvPr/>
        </p:nvSpPr>
        <p:spPr>
          <a:xfrm>
            <a:off x="546755" y="902872"/>
            <a:ext cx="11417718" cy="397031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1">
                <a:solidFill>
                  <a:srgbClr val="FFC000"/>
                </a:solidFill>
                <a:latin typeface="Calibri"/>
                <a:ea typeface="Calibri"/>
                <a:cs typeface="Calibri"/>
                <a:sym typeface="Calibri"/>
              </a:rPr>
              <a:t>Example1:</a:t>
            </a:r>
            <a:r>
              <a:rPr lang="en-US" sz="2400">
                <a:solidFill>
                  <a:schemeClr val="lt1"/>
                </a:solidFill>
                <a:latin typeface="Calibri"/>
                <a:ea typeface="Calibri"/>
                <a:cs typeface="Calibri"/>
                <a:sym typeface="Calibri"/>
              </a:rPr>
              <a:t> </a:t>
            </a:r>
            <a:r>
              <a:rPr lang="en-US" sz="2400" b="1" u="sng">
                <a:solidFill>
                  <a:schemeClr val="lt1"/>
                </a:solidFill>
                <a:latin typeface="Calibri"/>
                <a:ea typeface="Calibri"/>
                <a:cs typeface="Calibri"/>
                <a:sym typeface="Calibri"/>
              </a:rPr>
              <a:t>Image Dataset for Object Classification</a:t>
            </a:r>
            <a:endParaRPr/>
          </a:p>
          <a:p>
            <a:pPr marL="0" marR="0" lvl="0" indent="0" algn="just" rtl="0">
              <a:lnSpc>
                <a:spcPct val="150000"/>
              </a:lnSpc>
              <a:spcBef>
                <a:spcPts val="0"/>
              </a:spcBef>
              <a:spcAft>
                <a:spcPts val="0"/>
              </a:spcAft>
              <a:buNone/>
            </a:pPr>
            <a:r>
              <a:rPr lang="en-US" sz="2400" b="1" u="sng">
                <a:solidFill>
                  <a:schemeClr val="lt1"/>
                </a:solidFill>
                <a:latin typeface="Calibri"/>
                <a:ea typeface="Calibri"/>
                <a:cs typeface="Calibri"/>
                <a:sym typeface="Calibri"/>
              </a:rPr>
              <a:t>Task:</a:t>
            </a:r>
            <a:r>
              <a:rPr lang="en-US" sz="2400" b="1">
                <a:solidFill>
                  <a:schemeClr val="lt1"/>
                </a:solidFill>
                <a:latin typeface="Calibri"/>
                <a:ea typeface="Calibri"/>
                <a:cs typeface="Calibri"/>
                <a:sym typeface="Calibri"/>
              </a:rPr>
              <a:t> </a:t>
            </a:r>
            <a:r>
              <a:rPr lang="en-US" sz="2400">
                <a:solidFill>
                  <a:schemeClr val="lt1"/>
                </a:solidFill>
                <a:latin typeface="Calibri"/>
                <a:ea typeface="Calibri"/>
                <a:cs typeface="Calibri"/>
                <a:sym typeface="Calibri"/>
              </a:rPr>
              <a:t>To classify images into one of several categories, such as "cat," "dog," and "tree.“</a:t>
            </a:r>
            <a:endParaRPr/>
          </a:p>
          <a:p>
            <a:pPr marL="0" marR="0" lvl="0" indent="0" algn="just" rtl="0">
              <a:lnSpc>
                <a:spcPct val="150000"/>
              </a:lnSpc>
              <a:spcBef>
                <a:spcPts val="0"/>
              </a:spcBef>
              <a:spcAft>
                <a:spcPts val="0"/>
              </a:spcAft>
              <a:buNone/>
            </a:pPr>
            <a:r>
              <a:rPr lang="en-US" sz="2400" b="1">
                <a:solidFill>
                  <a:schemeClr val="lt1"/>
                </a:solidFill>
                <a:latin typeface="Calibri"/>
                <a:ea typeface="Calibri"/>
                <a:cs typeface="Calibri"/>
                <a:sym typeface="Calibri"/>
              </a:rPr>
              <a:t>Dataset Details:</a:t>
            </a:r>
            <a:endParaRPr/>
          </a:p>
          <a:p>
            <a:pPr marL="342900" marR="0" lvl="0" indent="-342900" algn="just" rtl="0">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Number of images (samples): 200</a:t>
            </a:r>
            <a:endParaRPr/>
          </a:p>
          <a:p>
            <a:pPr marL="342900" marR="0" lvl="0" indent="-342900" algn="just" rtl="0">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Image resolution: 256x256 pixels</a:t>
            </a:r>
            <a:endParaRPr/>
          </a:p>
          <a:p>
            <a:pPr marL="342900" marR="0" lvl="0" indent="-342900" algn="just" rtl="0">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Color images (3 channels: red, green, blue)</a:t>
            </a:r>
            <a:endParaRPr/>
          </a:p>
          <a:p>
            <a:pPr marL="342900" marR="0" lvl="0" indent="-342900" algn="just" rtl="0">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No feature extraction applied (each pixel is treated as a feature)</a:t>
            </a:r>
            <a:endParaRPr/>
          </a:p>
          <a:p>
            <a:pPr marL="0" marR="0" lvl="0" indent="0" algn="just" rtl="0">
              <a:spcBef>
                <a:spcPts val="0"/>
              </a:spcBef>
              <a:spcAft>
                <a:spcPts val="0"/>
              </a:spcAft>
              <a:buNone/>
            </a:pPr>
            <a:r>
              <a:rPr lang="en-US" sz="2400">
                <a:solidFill>
                  <a:schemeClr val="lt1"/>
                </a:solidFill>
                <a:latin typeface="Calibri"/>
                <a:ea typeface="Calibri"/>
                <a:cs typeface="Calibri"/>
                <a:sym typeface="Calibri"/>
              </a:rPr>
              <a:t>Therefore, each image can be represented as a vector of </a:t>
            </a:r>
            <a:r>
              <a:rPr lang="en-US" sz="2400" b="1">
                <a:solidFill>
                  <a:srgbClr val="FFC000"/>
                </a:solidFill>
                <a:latin typeface="Calibri"/>
                <a:ea typeface="Calibri"/>
                <a:cs typeface="Calibri"/>
                <a:sym typeface="Calibri"/>
              </a:rPr>
              <a:t>256x256x3 = 196,608 features (dimensions).</a:t>
            </a:r>
            <a:endParaRPr/>
          </a:p>
        </p:txBody>
      </p:sp>
      <p:sp>
        <p:nvSpPr>
          <p:cNvPr id="676" name="Google Shape;676;p66"/>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cxnSp>
        <p:nvCxnSpPr>
          <p:cNvPr id="681" name="Google Shape;681;p67"/>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682" name="Google Shape;682;p67"/>
          <p:cNvSpPr txBox="1"/>
          <p:nvPr/>
        </p:nvSpPr>
        <p:spPr>
          <a:xfrm>
            <a:off x="546756" y="7545"/>
            <a:ext cx="774558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What is Curse of Dimensionality?</a:t>
            </a:r>
            <a:endParaRPr sz="4400">
              <a:solidFill>
                <a:schemeClr val="lt1"/>
              </a:solidFill>
              <a:latin typeface="Calibri"/>
              <a:ea typeface="Calibri"/>
              <a:cs typeface="Calibri"/>
              <a:sym typeface="Calibri"/>
            </a:endParaRPr>
          </a:p>
        </p:txBody>
      </p:sp>
      <p:sp>
        <p:nvSpPr>
          <p:cNvPr id="683" name="Google Shape;683;p67"/>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84" name="Google Shape;684;p67"/>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85" name="Google Shape;685;p67" descr="https://miro.medium.com/v2/resize:fit:739/1*7Iy8M3IRNvJhU1GGlJ3JUQ.jpeg"/>
          <p:cNvPicPr preferRelativeResize="0"/>
          <p:nvPr/>
        </p:nvPicPr>
        <p:blipFill rotWithShape="1">
          <a:blip r:embed="rId3">
            <a:alphaModFix/>
          </a:blip>
          <a:srcRect/>
          <a:stretch/>
        </p:blipFill>
        <p:spPr>
          <a:xfrm>
            <a:off x="4894629" y="1347787"/>
            <a:ext cx="6860686" cy="3989144"/>
          </a:xfrm>
          <a:prstGeom prst="rect">
            <a:avLst/>
          </a:prstGeom>
          <a:noFill/>
          <a:ln>
            <a:noFill/>
          </a:ln>
        </p:spPr>
      </p:pic>
      <p:pic>
        <p:nvPicPr>
          <p:cNvPr id="686" name="Google Shape;686;p67"/>
          <p:cNvPicPr preferRelativeResize="0"/>
          <p:nvPr/>
        </p:nvPicPr>
        <p:blipFill rotWithShape="1">
          <a:blip r:embed="rId4">
            <a:alphaModFix/>
          </a:blip>
          <a:srcRect/>
          <a:stretch/>
        </p:blipFill>
        <p:spPr>
          <a:xfrm>
            <a:off x="317255" y="1347787"/>
            <a:ext cx="4105275" cy="3989144"/>
          </a:xfrm>
          <a:prstGeom prst="rect">
            <a:avLst/>
          </a:prstGeom>
          <a:noFill/>
          <a:ln>
            <a:noFill/>
          </a:ln>
        </p:spPr>
      </p:pic>
      <p:sp>
        <p:nvSpPr>
          <p:cNvPr id="687" name="Google Shape;687;p67"/>
          <p:cNvSpPr/>
          <p:nvPr/>
        </p:nvSpPr>
        <p:spPr>
          <a:xfrm>
            <a:off x="6796348" y="5407241"/>
            <a:ext cx="30572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This is the first 5 data points</a:t>
            </a:r>
            <a:endParaRPr/>
          </a:p>
        </p:txBody>
      </p:sp>
      <p:sp>
        <p:nvSpPr>
          <p:cNvPr id="688" name="Google Shape;688;p67"/>
          <p:cNvSpPr/>
          <p:nvPr/>
        </p:nvSpPr>
        <p:spPr>
          <a:xfrm>
            <a:off x="1251637" y="5407241"/>
            <a:ext cx="22365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Arial"/>
                <a:ea typeface="Arial"/>
                <a:cs typeface="Arial"/>
                <a:sym typeface="Arial"/>
              </a:rPr>
              <a:t>784 pixels(28 * 28)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cxnSp>
        <p:nvCxnSpPr>
          <p:cNvPr id="693" name="Google Shape;693;p68"/>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694" name="Google Shape;694;p68"/>
          <p:cNvSpPr txBox="1"/>
          <p:nvPr/>
        </p:nvSpPr>
        <p:spPr>
          <a:xfrm>
            <a:off x="546756" y="7545"/>
            <a:ext cx="774558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What is Curse of Dimensionality?</a:t>
            </a:r>
            <a:endParaRPr sz="4400">
              <a:solidFill>
                <a:schemeClr val="lt1"/>
              </a:solidFill>
              <a:latin typeface="Calibri"/>
              <a:ea typeface="Calibri"/>
              <a:cs typeface="Calibri"/>
              <a:sym typeface="Calibri"/>
            </a:endParaRPr>
          </a:p>
        </p:txBody>
      </p:sp>
      <p:sp>
        <p:nvSpPr>
          <p:cNvPr id="695" name="Google Shape;695;p68"/>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696" name="Google Shape;696;p68"/>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7" name="Google Shape;697;p68"/>
          <p:cNvSpPr/>
          <p:nvPr/>
        </p:nvSpPr>
        <p:spPr>
          <a:xfrm>
            <a:off x="546757" y="959321"/>
            <a:ext cx="11194139" cy="5078313"/>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C000"/>
              </a:buClr>
              <a:buSzPts val="2400"/>
              <a:buFont typeface="Calibri"/>
              <a:buAutoNum type="arabicPeriod" startAt="2"/>
            </a:pPr>
            <a:r>
              <a:rPr lang="en-US" sz="2400" b="1">
                <a:solidFill>
                  <a:srgbClr val="FFC000"/>
                </a:solidFill>
                <a:latin typeface="Calibri"/>
                <a:ea typeface="Calibri"/>
                <a:cs typeface="Calibri"/>
                <a:sym typeface="Calibri"/>
              </a:rPr>
              <a:t>Increased Computational Complexity: </a:t>
            </a:r>
            <a:r>
              <a:rPr lang="en-US" sz="2400">
                <a:solidFill>
                  <a:schemeClr val="lt1"/>
                </a:solidFill>
                <a:latin typeface="Calibri"/>
                <a:ea typeface="Calibri"/>
                <a:cs typeface="Calibri"/>
                <a:sym typeface="Calibri"/>
              </a:rPr>
              <a:t>High-dimensional data requires more computational resources. Training models to recognize objects in high-resolution images with millions of features can be computationally expensive and time-consuming.</a:t>
            </a:r>
            <a:endParaRPr/>
          </a:p>
          <a:p>
            <a:pPr marL="457200" marR="0" lvl="0" indent="-457200" algn="just" rtl="0">
              <a:spcBef>
                <a:spcPts val="0"/>
              </a:spcBef>
              <a:spcAft>
                <a:spcPts val="0"/>
              </a:spcAft>
              <a:buClr>
                <a:srgbClr val="FFC000"/>
              </a:buClr>
              <a:buSzPts val="2400"/>
              <a:buFont typeface="Calibri"/>
              <a:buAutoNum type="arabicPeriod" startAt="2"/>
            </a:pPr>
            <a:r>
              <a:rPr lang="en-US" sz="2400" b="1">
                <a:solidFill>
                  <a:srgbClr val="FFC000"/>
                </a:solidFill>
                <a:latin typeface="Calibri"/>
                <a:ea typeface="Calibri"/>
                <a:cs typeface="Calibri"/>
                <a:sym typeface="Calibri"/>
              </a:rPr>
              <a:t>Overfitting: </a:t>
            </a:r>
            <a:r>
              <a:rPr lang="en-US" sz="2400">
                <a:solidFill>
                  <a:schemeClr val="lt1"/>
                </a:solidFill>
                <a:latin typeface="Calibri"/>
                <a:ea typeface="Calibri"/>
                <a:cs typeface="Calibri"/>
                <a:sym typeface="Calibri"/>
              </a:rPr>
              <a:t>In high-dimensional feature spaces, there's an increased risk of overfitting. A complex model can potentially fit noise in the data, making it perform well on the training set but poorly on unseen data. </a:t>
            </a:r>
            <a:endParaRPr sz="24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chemeClr val="lt1"/>
                </a:solidFill>
                <a:latin typeface="Calibri"/>
                <a:ea typeface="Calibri"/>
                <a:cs typeface="Calibri"/>
                <a:sym typeface="Calibri"/>
              </a:rPr>
              <a:t>To mitigate the curse of dimensionality, you might need to employ techniques to reduce the number of features while preserving essential information. </a:t>
            </a:r>
            <a:endParaRPr sz="2400">
              <a:solidFill>
                <a:schemeClr val="lt1"/>
              </a:solidFill>
              <a:latin typeface="Calibri"/>
              <a:ea typeface="Calibri"/>
              <a:cs typeface="Calibri"/>
              <a:sym typeface="Calibri"/>
            </a:endParaRPr>
          </a:p>
          <a:p>
            <a:pPr marL="342900" marR="0" lvl="0" indent="-342900" algn="just" rtl="0">
              <a:lnSpc>
                <a:spcPct val="150000"/>
              </a:lnSpc>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Feature Extraction </a:t>
            </a:r>
            <a:endParaRPr/>
          </a:p>
          <a:p>
            <a:pPr marL="342900" marR="0" lvl="0" indent="-342900" algn="just" rtl="0">
              <a:lnSpc>
                <a:spcPct val="150000"/>
              </a:lnSpc>
              <a:spcBef>
                <a:spcPts val="0"/>
              </a:spcBef>
              <a:spcAft>
                <a:spcPts val="0"/>
              </a:spcAft>
              <a:buClr>
                <a:schemeClr val="lt1"/>
              </a:buClr>
              <a:buSzPts val="2400"/>
              <a:buFont typeface="Arial"/>
              <a:buChar char="•"/>
            </a:pPr>
            <a:r>
              <a:rPr lang="en-US" sz="2400">
                <a:solidFill>
                  <a:schemeClr val="lt1"/>
                </a:solidFill>
                <a:latin typeface="Calibri"/>
                <a:ea typeface="Calibri"/>
                <a:cs typeface="Calibri"/>
                <a:sym typeface="Calibri"/>
              </a:rPr>
              <a:t>Dimensionality reduction (e.g., Principal Component Analysis, tSNE, LSA etc…)</a:t>
            </a:r>
            <a:endParaRPr sz="2400">
              <a:solidFill>
                <a:schemeClr val="lt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cxnSp>
        <p:nvCxnSpPr>
          <p:cNvPr id="702" name="Google Shape;702;p69"/>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03" name="Google Shape;703;p69"/>
          <p:cNvSpPr txBox="1"/>
          <p:nvPr/>
        </p:nvSpPr>
        <p:spPr>
          <a:xfrm>
            <a:off x="546756" y="7545"/>
            <a:ext cx="4247573"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PCA Works ?</a:t>
            </a:r>
            <a:endParaRPr sz="4400">
              <a:solidFill>
                <a:schemeClr val="lt1"/>
              </a:solidFill>
              <a:latin typeface="Calibri"/>
              <a:ea typeface="Calibri"/>
              <a:cs typeface="Calibri"/>
              <a:sym typeface="Calibri"/>
            </a:endParaRPr>
          </a:p>
        </p:txBody>
      </p:sp>
      <p:sp>
        <p:nvSpPr>
          <p:cNvPr id="704" name="Google Shape;704;p69"/>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05" name="Google Shape;705;p69"/>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6" name="Google Shape;706;p69"/>
          <p:cNvSpPr/>
          <p:nvPr/>
        </p:nvSpPr>
        <p:spPr>
          <a:xfrm>
            <a:off x="254977" y="880193"/>
            <a:ext cx="11709496" cy="581697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a:solidFill>
                  <a:schemeClr val="lt1"/>
                </a:solidFill>
                <a:latin typeface="Calibri"/>
                <a:ea typeface="Calibri"/>
                <a:cs typeface="Calibri"/>
                <a:sym typeface="Calibri"/>
              </a:rPr>
              <a:t>Its primary purpose is to reduce the number of features (dimensions) in a dataset while </a:t>
            </a:r>
            <a:r>
              <a:rPr lang="en-US" sz="2400" u="sng">
                <a:solidFill>
                  <a:schemeClr val="lt1"/>
                </a:solidFill>
                <a:latin typeface="Calibri"/>
                <a:ea typeface="Calibri"/>
                <a:cs typeface="Calibri"/>
                <a:sym typeface="Calibri"/>
              </a:rPr>
              <a:t>preserving as much of the original variance as possible</a:t>
            </a:r>
            <a:r>
              <a:rPr lang="en-US" sz="2400">
                <a:solidFill>
                  <a:schemeClr val="lt1"/>
                </a:solidFill>
                <a:latin typeface="Calibri"/>
                <a:ea typeface="Calibri"/>
                <a:cs typeface="Calibri"/>
                <a:sym typeface="Calibri"/>
              </a:rPr>
              <a:t>. PCA does this by finding a new set of orthogonal axes, called principal components, along which the data varies the most.</a:t>
            </a:r>
            <a:endParaRPr/>
          </a:p>
          <a:p>
            <a:pPr marL="0" marR="0" lvl="0" indent="0" algn="just" rtl="0">
              <a:lnSpc>
                <a:spcPct val="150000"/>
              </a:lnSpc>
              <a:spcBef>
                <a:spcPts val="0"/>
              </a:spcBef>
              <a:spcAft>
                <a:spcPts val="0"/>
              </a:spcAft>
              <a:buNone/>
            </a:pPr>
            <a:endParaRPr sz="2400">
              <a:solidFill>
                <a:schemeClr val="lt1"/>
              </a:solidFill>
              <a:latin typeface="Calibri"/>
              <a:ea typeface="Calibri"/>
              <a:cs typeface="Calibri"/>
              <a:sym typeface="Calibri"/>
            </a:endParaRPr>
          </a:p>
          <a:p>
            <a:pPr marL="0" marR="0" lvl="0" indent="0" algn="just" rtl="0">
              <a:lnSpc>
                <a:spcPct val="150000"/>
              </a:lnSpc>
              <a:spcBef>
                <a:spcPts val="0"/>
              </a:spcBef>
              <a:spcAft>
                <a:spcPts val="0"/>
              </a:spcAft>
              <a:buNone/>
            </a:pPr>
            <a:r>
              <a:rPr lang="en-US" sz="2400">
                <a:solidFill>
                  <a:schemeClr val="lt1"/>
                </a:solidFill>
                <a:latin typeface="Calibri"/>
                <a:ea typeface="Calibri"/>
                <a:cs typeface="Calibri"/>
                <a:sym typeface="Calibri"/>
              </a:rPr>
              <a:t>Overview of how PCA works:</a:t>
            </a:r>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Data Preparation:</a:t>
            </a:r>
            <a:r>
              <a:rPr lang="en-US" sz="2400">
                <a:solidFill>
                  <a:schemeClr val="lt1"/>
                </a:solidFill>
                <a:latin typeface="Calibri"/>
                <a:ea typeface="Calibri"/>
                <a:cs typeface="Calibri"/>
                <a:sym typeface="Calibri"/>
              </a:rPr>
              <a:t> Start with a dataset that has multiple features (dimensions).</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Standardization:</a:t>
            </a:r>
            <a:r>
              <a:rPr lang="en-US" sz="2400">
                <a:solidFill>
                  <a:schemeClr val="lt1"/>
                </a:solidFill>
                <a:latin typeface="Calibri"/>
                <a:ea typeface="Calibri"/>
                <a:cs typeface="Calibri"/>
                <a:sym typeface="Calibri"/>
              </a:rPr>
              <a:t> Standardize the data (mean = 0, standard deviation = 1) to ensure that variables with different scales do not dominate the analysis.</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Covariance Matrix:</a:t>
            </a:r>
            <a:r>
              <a:rPr lang="en-US" sz="2400">
                <a:solidFill>
                  <a:schemeClr val="lt1"/>
                </a:solidFill>
                <a:latin typeface="Calibri"/>
                <a:ea typeface="Calibri"/>
                <a:cs typeface="Calibri"/>
                <a:sym typeface="Calibri"/>
              </a:rPr>
              <a:t> Calculate the covariance matrix of the standardized data. The covariance matrix represents the relationships between features and helps identify the directions in which the data varies the most.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cxnSp>
        <p:nvCxnSpPr>
          <p:cNvPr id="711" name="Google Shape;711;p70"/>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12" name="Google Shape;712;p70"/>
          <p:cNvSpPr txBox="1"/>
          <p:nvPr/>
        </p:nvSpPr>
        <p:spPr>
          <a:xfrm>
            <a:off x="546756" y="7545"/>
            <a:ext cx="4247573"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PCA Works ?</a:t>
            </a:r>
            <a:endParaRPr/>
          </a:p>
        </p:txBody>
      </p:sp>
      <p:sp>
        <p:nvSpPr>
          <p:cNvPr id="713" name="Google Shape;713;p70"/>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14" name="Google Shape;714;p70"/>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5" name="Google Shape;715;p70"/>
          <p:cNvSpPr/>
          <p:nvPr/>
        </p:nvSpPr>
        <p:spPr>
          <a:xfrm>
            <a:off x="254977" y="880193"/>
            <a:ext cx="11709496" cy="747897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rgbClr val="FFC000"/>
                </a:solidFill>
                <a:latin typeface="Calibri"/>
                <a:ea typeface="Calibri"/>
                <a:cs typeface="Calibri"/>
                <a:sym typeface="Calibri"/>
              </a:rPr>
              <a:t>Eigenvalues and Eigenvectors:</a:t>
            </a:r>
            <a:r>
              <a:rPr lang="en-US" sz="2400">
                <a:solidFill>
                  <a:schemeClr val="lt1"/>
                </a:solidFill>
                <a:latin typeface="Calibri"/>
                <a:ea typeface="Calibri"/>
                <a:cs typeface="Calibri"/>
                <a:sym typeface="Calibri"/>
              </a:rPr>
              <a:t> Solve for the eigenvectors and eigenvalues of the covariance matrix. Eigenvectors represent the directions of maximum variance (principal components), and eigenvalues represent the amount of variance explained by each eigenvector.</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Sort and Select:</a:t>
            </a:r>
            <a:r>
              <a:rPr lang="en-US" sz="2400">
                <a:solidFill>
                  <a:schemeClr val="lt1"/>
                </a:solidFill>
                <a:latin typeface="Calibri"/>
                <a:ea typeface="Calibri"/>
                <a:cs typeface="Calibri"/>
                <a:sym typeface="Calibri"/>
              </a:rPr>
              <a:t> Sort the eigenvectors in descending order based on their corresponding eigenvalues. The eigenvector with the highest eigenvalue is the first principal component, the one with the second-highest eigenvalue is the second principal component, and so on.</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Dimension Reduction:</a:t>
            </a:r>
            <a:r>
              <a:rPr lang="en-US" sz="2400">
                <a:solidFill>
                  <a:schemeClr val="lt1"/>
                </a:solidFill>
                <a:latin typeface="Calibri"/>
                <a:ea typeface="Calibri"/>
                <a:cs typeface="Calibri"/>
                <a:sym typeface="Calibri"/>
              </a:rPr>
              <a:t> Decide how many principal components to keep. You can choose to keep all of them or select a subset that explains a significant portion of the variance. A common approach is to set a threshold (e.g., 95% of the total variance) and retain enough principal components to reach that threshold.</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rgbClr val="FFC000"/>
                </a:solidFill>
                <a:latin typeface="Calibri"/>
                <a:ea typeface="Calibri"/>
                <a:cs typeface="Calibri"/>
                <a:sym typeface="Calibri"/>
              </a:rPr>
              <a:t>Create the Projection Matrix:</a:t>
            </a:r>
            <a:r>
              <a:rPr lang="en-US" sz="2400">
                <a:solidFill>
                  <a:schemeClr val="lt1"/>
                </a:solidFill>
                <a:latin typeface="Calibri"/>
                <a:ea typeface="Calibri"/>
                <a:cs typeface="Calibri"/>
                <a:sym typeface="Calibri"/>
              </a:rPr>
              <a:t> Create a projection matrix that consists of the selected principal components as columns. This matrix is used to transform the data into the new lower-dimensional space.</a:t>
            </a:r>
            <a:endParaRPr/>
          </a:p>
          <a:p>
            <a:pPr marL="0" marR="0" lvl="0" indent="0" algn="just" rtl="0">
              <a:spcBef>
                <a:spcPts val="0"/>
              </a:spcBef>
              <a:spcAft>
                <a:spcPts val="0"/>
              </a:spcAft>
              <a:buNone/>
            </a:pPr>
            <a:endParaRPr sz="2400">
              <a:solidFill>
                <a:schemeClr val="lt1"/>
              </a:solidFill>
              <a:latin typeface="Calibri"/>
              <a:ea typeface="Calibri"/>
              <a:cs typeface="Calibri"/>
              <a:sym typeface="Calibri"/>
            </a:endParaRPr>
          </a:p>
          <a:p>
            <a:pPr marL="0" marR="0" lvl="0" indent="0" algn="just" rtl="0">
              <a:spcBef>
                <a:spcPts val="0"/>
              </a:spcBef>
              <a:spcAft>
                <a:spcPts val="0"/>
              </a:spcAft>
              <a:buNone/>
            </a:pPr>
            <a:r>
              <a:rPr lang="en-US" sz="2400">
                <a:solidFill>
                  <a:schemeClr val="lt1"/>
                </a:solidFill>
                <a:latin typeface="Calibri"/>
                <a:ea typeface="Calibri"/>
                <a:cs typeface="Calibri"/>
                <a:sym typeface="Calibri"/>
              </a:rPr>
              <a:t>Transform the Data: Multiply the original data by the projection matrix to obtain the new, lower-dimensional representation of the data. This step reduces the dimensionality of the data while preserving as much variance as possible.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cxnSp>
        <p:nvCxnSpPr>
          <p:cNvPr id="720" name="Google Shape;720;p71"/>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21" name="Google Shape;721;p71"/>
          <p:cNvSpPr txBox="1"/>
          <p:nvPr/>
        </p:nvSpPr>
        <p:spPr>
          <a:xfrm>
            <a:off x="546756" y="7545"/>
            <a:ext cx="4247573"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How PCA Works ?</a:t>
            </a:r>
            <a:endParaRPr/>
          </a:p>
        </p:txBody>
      </p:sp>
      <p:sp>
        <p:nvSpPr>
          <p:cNvPr id="722" name="Google Shape;722;p7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23" name="Google Shape;723;p71"/>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4" name="Google Shape;724;p71"/>
          <p:cNvSpPr/>
          <p:nvPr/>
        </p:nvSpPr>
        <p:spPr>
          <a:xfrm>
            <a:off x="254977" y="880193"/>
            <a:ext cx="11709496"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rgbClr val="FFC000"/>
                </a:solidFill>
                <a:latin typeface="Calibri"/>
                <a:ea typeface="Calibri"/>
                <a:cs typeface="Calibri"/>
                <a:sym typeface="Calibri"/>
              </a:rPr>
              <a:t>Transform the Data:</a:t>
            </a:r>
            <a:r>
              <a:rPr lang="en-US" sz="2400">
                <a:solidFill>
                  <a:schemeClr val="lt1"/>
                </a:solidFill>
                <a:latin typeface="Calibri"/>
                <a:ea typeface="Calibri"/>
                <a:cs typeface="Calibri"/>
                <a:sym typeface="Calibri"/>
              </a:rPr>
              <a:t> Multiply the original data by the projection matrix to obtain the new, lower-dimensional representation of the data. This step reduces the dimensionality of the data while preserving as much variance as possible.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cxnSp>
        <p:nvCxnSpPr>
          <p:cNvPr id="729" name="Google Shape;729;p72"/>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30" name="Google Shape;730;p72"/>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731" name="Google Shape;731;p7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32" name="Google Shape;732;p72"/>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733" name="Google Shape;733;p72"/>
          <p:cNvGraphicFramePr/>
          <p:nvPr/>
        </p:nvGraphicFramePr>
        <p:xfrm>
          <a:off x="785611" y="913380"/>
          <a:ext cx="3000000" cy="3000000"/>
        </p:xfrm>
        <a:graphic>
          <a:graphicData uri="http://schemas.openxmlformats.org/drawingml/2006/table">
            <a:tbl>
              <a:tblPr>
                <a:noFill/>
                <a:tableStyleId>{49649710-54AA-49DE-955E-7AFB838E4C77}</a:tableStyleId>
              </a:tblPr>
              <a:tblGrid>
                <a:gridCol w="1187500">
                  <a:extLst>
                    <a:ext uri="{9D8B030D-6E8A-4147-A177-3AD203B41FA5}">
                      <a16:colId xmlns:a16="http://schemas.microsoft.com/office/drawing/2014/main" val="20000"/>
                    </a:ext>
                  </a:extLst>
                </a:gridCol>
                <a:gridCol w="1187500">
                  <a:extLst>
                    <a:ext uri="{9D8B030D-6E8A-4147-A177-3AD203B41FA5}">
                      <a16:colId xmlns:a16="http://schemas.microsoft.com/office/drawing/2014/main" val="20001"/>
                    </a:ext>
                  </a:extLst>
                </a:gridCol>
                <a:gridCol w="1187500">
                  <a:extLst>
                    <a:ext uri="{9D8B030D-6E8A-4147-A177-3AD203B41FA5}">
                      <a16:colId xmlns:a16="http://schemas.microsoft.com/office/drawing/2014/main" val="20002"/>
                    </a:ext>
                  </a:extLst>
                </a:gridCol>
                <a:gridCol w="1187500">
                  <a:extLst>
                    <a:ext uri="{9D8B030D-6E8A-4147-A177-3AD203B41FA5}">
                      <a16:colId xmlns:a16="http://schemas.microsoft.com/office/drawing/2014/main" val="20003"/>
                    </a:ext>
                  </a:extLst>
                </a:gridCol>
                <a:gridCol w="1187500">
                  <a:extLst>
                    <a:ext uri="{9D8B030D-6E8A-4147-A177-3AD203B41FA5}">
                      <a16:colId xmlns:a16="http://schemas.microsoft.com/office/drawing/2014/main" val="20004"/>
                    </a:ext>
                  </a:extLst>
                </a:gridCol>
              </a:tblGrid>
              <a:tr h="228600">
                <a:tc>
                  <a:txBody>
                    <a:bodyPr/>
                    <a:lstStyle/>
                    <a:p>
                      <a:pPr marL="0" marR="0" lvl="0" indent="0" algn="ctr" rtl="0">
                        <a:spcBef>
                          <a:spcPts val="0"/>
                        </a:spcBef>
                        <a:spcAft>
                          <a:spcPts val="0"/>
                        </a:spcAft>
                        <a:buNone/>
                      </a:pPr>
                      <a:r>
                        <a:rPr lang="en-US" sz="1800" b="1"/>
                        <a:t>Feature</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b="1"/>
                        <a:t>Example 1</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b="1"/>
                        <a:t>Example 2</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b="1"/>
                        <a:t>Example 3</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b="1"/>
                        <a:t>Example 4</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b="1"/>
                        <a:t>X</a:t>
                      </a:r>
                      <a:r>
                        <a:rPr lang="en-US" sz="1800" b="1" baseline="-25000"/>
                        <a:t>1</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4</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8</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13</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7</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b="1"/>
                        <a:t>X</a:t>
                      </a:r>
                      <a:r>
                        <a:rPr lang="en-US" sz="1800" b="1" baseline="-25000"/>
                        <a:t>2</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11</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4</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5</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14</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extLst>
                  <a:ext uri="{0D108BD9-81ED-4DB2-BD59-A6C34878D82A}">
                    <a16:rowId xmlns:a16="http://schemas.microsoft.com/office/drawing/2014/main" val="10002"/>
                  </a:ext>
                </a:extLst>
              </a:tr>
            </a:tbl>
          </a:graphicData>
        </a:graphic>
      </p:graphicFrame>
      <p:sp>
        <p:nvSpPr>
          <p:cNvPr id="734" name="Google Shape;734;p72"/>
          <p:cNvSpPr/>
          <p:nvPr/>
        </p:nvSpPr>
        <p:spPr>
          <a:xfrm>
            <a:off x="785611" y="2184580"/>
            <a:ext cx="237622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 1: Calculate Mean</a:t>
            </a:r>
            <a:endParaRPr/>
          </a:p>
        </p:txBody>
      </p:sp>
      <p:pic>
        <p:nvPicPr>
          <p:cNvPr id="735" name="Google Shape;735;p72" descr="https://www.vtupulse.com/wp-content/uploads/2022/05/image-15.png"/>
          <p:cNvPicPr preferRelativeResize="0"/>
          <p:nvPr/>
        </p:nvPicPr>
        <p:blipFill rotWithShape="1">
          <a:blip r:embed="rId3">
            <a:alphaModFix/>
          </a:blip>
          <a:srcRect/>
          <a:stretch/>
        </p:blipFill>
        <p:spPr>
          <a:xfrm>
            <a:off x="7602660" y="913380"/>
            <a:ext cx="2466975" cy="2390775"/>
          </a:xfrm>
          <a:prstGeom prst="rect">
            <a:avLst/>
          </a:prstGeom>
          <a:noFill/>
          <a:ln>
            <a:noFill/>
          </a:ln>
        </p:spPr>
      </p:pic>
      <p:pic>
        <p:nvPicPr>
          <p:cNvPr id="736" name="Google Shape;736;p72" descr="https://www.vtupulse.com/wp-content/uploads/2022/05/image-16.png"/>
          <p:cNvPicPr preferRelativeResize="0"/>
          <p:nvPr/>
        </p:nvPicPr>
        <p:blipFill rotWithShape="1">
          <a:blip r:embed="rId4">
            <a:alphaModFix/>
          </a:blip>
          <a:srcRect/>
          <a:stretch/>
        </p:blipFill>
        <p:spPr>
          <a:xfrm>
            <a:off x="1045658" y="2713604"/>
            <a:ext cx="3174650" cy="90006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cxnSp>
        <p:nvCxnSpPr>
          <p:cNvPr id="741" name="Google Shape;741;p73"/>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42" name="Google Shape;742;p73"/>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743" name="Google Shape;743;p7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44" name="Google Shape;744;p73"/>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5" name="Google Shape;745;p73"/>
          <p:cNvSpPr/>
          <p:nvPr/>
        </p:nvSpPr>
        <p:spPr>
          <a:xfrm>
            <a:off x="546756" y="874526"/>
            <a:ext cx="43946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 2: Calculation of the covariance matrix.</a:t>
            </a:r>
            <a:endParaRPr sz="1800" b="1">
              <a:solidFill>
                <a:srgbClr val="FFC000"/>
              </a:solidFill>
              <a:latin typeface="Calibri"/>
              <a:ea typeface="Calibri"/>
              <a:cs typeface="Calibri"/>
              <a:sym typeface="Calibri"/>
            </a:endParaRPr>
          </a:p>
        </p:txBody>
      </p:sp>
      <p:pic>
        <p:nvPicPr>
          <p:cNvPr id="746" name="Google Shape;746;p73" descr="Calculation of the covariance matrix."/>
          <p:cNvPicPr preferRelativeResize="0"/>
          <p:nvPr/>
        </p:nvPicPr>
        <p:blipFill rotWithShape="1">
          <a:blip r:embed="rId3">
            <a:alphaModFix/>
          </a:blip>
          <a:srcRect/>
          <a:stretch/>
        </p:blipFill>
        <p:spPr>
          <a:xfrm>
            <a:off x="639152" y="1713085"/>
            <a:ext cx="5802608" cy="4670130"/>
          </a:xfrm>
          <a:prstGeom prst="rect">
            <a:avLst/>
          </a:prstGeom>
          <a:noFill/>
          <a:ln>
            <a:noFill/>
          </a:ln>
        </p:spPr>
      </p:pic>
      <p:sp>
        <p:nvSpPr>
          <p:cNvPr id="747" name="Google Shape;747;p73"/>
          <p:cNvSpPr/>
          <p:nvPr/>
        </p:nvSpPr>
        <p:spPr>
          <a:xfrm>
            <a:off x="6925408" y="1679752"/>
            <a:ext cx="28164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Calibri"/>
                <a:ea typeface="Calibri"/>
                <a:cs typeface="Calibri"/>
                <a:sym typeface="Calibri"/>
              </a:rPr>
              <a:t>The covariance matrix is,</a:t>
            </a:r>
            <a:endParaRPr sz="1800" b="1">
              <a:solidFill>
                <a:schemeClr val="lt1"/>
              </a:solidFill>
              <a:latin typeface="Calibri"/>
              <a:ea typeface="Calibri"/>
              <a:cs typeface="Calibri"/>
              <a:sym typeface="Calibri"/>
            </a:endParaRPr>
          </a:p>
        </p:txBody>
      </p:sp>
      <p:pic>
        <p:nvPicPr>
          <p:cNvPr id="748" name="Google Shape;748;p73" descr="covariance matrix "/>
          <p:cNvPicPr preferRelativeResize="0"/>
          <p:nvPr/>
        </p:nvPicPr>
        <p:blipFill rotWithShape="1">
          <a:blip r:embed="rId4">
            <a:alphaModFix/>
          </a:blip>
          <a:srcRect/>
          <a:stretch/>
        </p:blipFill>
        <p:spPr>
          <a:xfrm>
            <a:off x="7183771" y="2314575"/>
            <a:ext cx="3947291" cy="1712302"/>
          </a:xfrm>
          <a:prstGeom prst="rect">
            <a:avLst/>
          </a:prstGeom>
          <a:noFill/>
          <a:ln>
            <a:noFill/>
          </a:ln>
        </p:spPr>
      </p:pic>
      <p:sp>
        <p:nvSpPr>
          <p:cNvPr id="749" name="Google Shape;749;p73"/>
          <p:cNvSpPr txBox="1"/>
          <p:nvPr/>
        </p:nvSpPr>
        <p:spPr>
          <a:xfrm>
            <a:off x="1610951" y="1897076"/>
            <a:ext cx="457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Calibri"/>
                <a:ea typeface="Calibri"/>
                <a:cs typeface="Calibri"/>
                <a:sym typeface="Calibri"/>
              </a:rPr>
              <a:t>1</a:t>
            </a:r>
            <a:endParaRPr sz="1800" b="1">
              <a:solidFill>
                <a:srgbClr val="FF0000"/>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cxnSp>
        <p:nvCxnSpPr>
          <p:cNvPr id="754" name="Google Shape;754;p74"/>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55" name="Google Shape;755;p74"/>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756" name="Google Shape;756;p7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57" name="Google Shape;757;p74"/>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8" name="Google Shape;758;p74"/>
          <p:cNvSpPr/>
          <p:nvPr/>
        </p:nvSpPr>
        <p:spPr>
          <a:xfrm>
            <a:off x="546756" y="874526"/>
            <a:ext cx="5406545"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C000"/>
                </a:solidFill>
                <a:latin typeface="Calibri"/>
                <a:ea typeface="Calibri"/>
                <a:cs typeface="Calibri"/>
                <a:sym typeface="Calibri"/>
              </a:rPr>
              <a:t>Step 3: Eigenvalues of the covariance matrix.</a:t>
            </a:r>
            <a:endParaRPr/>
          </a:p>
          <a:p>
            <a:pPr marL="0" marR="0" lvl="0" indent="0" algn="l" rtl="0">
              <a:spcBef>
                <a:spcPts val="0"/>
              </a:spcBef>
              <a:spcAft>
                <a:spcPts val="0"/>
              </a:spcAft>
              <a:buNone/>
            </a:pPr>
            <a:endParaRPr sz="1800" b="1">
              <a:solidFill>
                <a:schemeClr val="lt1"/>
              </a:solidFill>
              <a:latin typeface="Calibri"/>
              <a:ea typeface="Calibri"/>
              <a:cs typeface="Calibri"/>
              <a:sym typeface="Calibri"/>
            </a:endParaRPr>
          </a:p>
          <a:p>
            <a:pPr marL="0" marR="0" lvl="0" indent="0" algn="l" rtl="0">
              <a:spcBef>
                <a:spcPts val="0"/>
              </a:spcBef>
              <a:spcAft>
                <a:spcPts val="0"/>
              </a:spcAft>
              <a:buNone/>
            </a:pPr>
            <a:r>
              <a:rPr lang="en-US" sz="1800" b="1">
                <a:solidFill>
                  <a:schemeClr val="lt1"/>
                </a:solidFill>
                <a:latin typeface="Calibri"/>
                <a:ea typeface="Calibri"/>
                <a:cs typeface="Calibri"/>
                <a:sym typeface="Calibri"/>
              </a:rPr>
              <a:t>The characteristic equation of the covariance matrix is,</a:t>
            </a:r>
            <a:endParaRPr sz="1800" b="1">
              <a:solidFill>
                <a:srgbClr val="FFC000"/>
              </a:solidFill>
              <a:latin typeface="Calibri"/>
              <a:ea typeface="Calibri"/>
              <a:cs typeface="Calibri"/>
              <a:sym typeface="Calibri"/>
            </a:endParaRPr>
          </a:p>
          <a:p>
            <a:pPr marL="0" marR="0" lvl="0" indent="0" algn="l" rtl="0">
              <a:spcBef>
                <a:spcPts val="0"/>
              </a:spcBef>
              <a:spcAft>
                <a:spcPts val="0"/>
              </a:spcAft>
              <a:buNone/>
            </a:pPr>
            <a:endParaRPr sz="1800" b="1">
              <a:solidFill>
                <a:srgbClr val="FFC000"/>
              </a:solidFill>
              <a:latin typeface="Calibri"/>
              <a:ea typeface="Calibri"/>
              <a:cs typeface="Calibri"/>
              <a:sym typeface="Calibri"/>
            </a:endParaRPr>
          </a:p>
        </p:txBody>
      </p:sp>
      <p:pic>
        <p:nvPicPr>
          <p:cNvPr id="759" name="Google Shape;759;p74" descr="Eigenvalues of the covariance matrix"/>
          <p:cNvPicPr preferRelativeResize="0"/>
          <p:nvPr/>
        </p:nvPicPr>
        <p:blipFill rotWithShape="1">
          <a:blip r:embed="rId3">
            <a:alphaModFix/>
          </a:blip>
          <a:srcRect/>
          <a:stretch/>
        </p:blipFill>
        <p:spPr>
          <a:xfrm>
            <a:off x="709490" y="1943343"/>
            <a:ext cx="3572769" cy="1749425"/>
          </a:xfrm>
          <a:prstGeom prst="rect">
            <a:avLst/>
          </a:prstGeom>
          <a:noFill/>
          <a:ln>
            <a:noFill/>
          </a:ln>
        </p:spPr>
      </p:pic>
      <p:sp>
        <p:nvSpPr>
          <p:cNvPr id="760" name="Google Shape;760;p74"/>
          <p:cNvSpPr/>
          <p:nvPr/>
        </p:nvSpPr>
        <p:spPr>
          <a:xfrm>
            <a:off x="546756" y="3958688"/>
            <a:ext cx="6096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Solving the characteristic equation we get,</a:t>
            </a:r>
            <a:endParaRPr sz="1800">
              <a:solidFill>
                <a:schemeClr val="lt1"/>
              </a:solidFill>
              <a:latin typeface="Calibri"/>
              <a:ea typeface="Calibri"/>
              <a:cs typeface="Calibri"/>
              <a:sym typeface="Calibri"/>
            </a:endParaRPr>
          </a:p>
        </p:txBody>
      </p:sp>
      <p:pic>
        <p:nvPicPr>
          <p:cNvPr id="761" name="Google Shape;761;p74" descr="Eigenvalues of the covariance matrix 1"/>
          <p:cNvPicPr preferRelativeResize="0"/>
          <p:nvPr/>
        </p:nvPicPr>
        <p:blipFill rotWithShape="1">
          <a:blip r:embed="rId4">
            <a:alphaModFix/>
          </a:blip>
          <a:srcRect/>
          <a:stretch/>
        </p:blipFill>
        <p:spPr>
          <a:xfrm>
            <a:off x="717012" y="4461811"/>
            <a:ext cx="2877744" cy="1647013"/>
          </a:xfrm>
          <a:prstGeom prst="rect">
            <a:avLst/>
          </a:prstGeom>
          <a:noFill/>
          <a:ln>
            <a:noFill/>
          </a:ln>
        </p:spPr>
      </p:pic>
      <p:pic>
        <p:nvPicPr>
          <p:cNvPr id="762" name="Google Shape;762;p74" descr="covariance matrix "/>
          <p:cNvPicPr preferRelativeResize="0"/>
          <p:nvPr/>
        </p:nvPicPr>
        <p:blipFill rotWithShape="1">
          <a:blip r:embed="rId5">
            <a:alphaModFix/>
          </a:blip>
          <a:srcRect/>
          <a:stretch/>
        </p:blipFill>
        <p:spPr>
          <a:xfrm>
            <a:off x="7931917" y="1943343"/>
            <a:ext cx="3947291" cy="171230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cxnSp>
        <p:nvCxnSpPr>
          <p:cNvPr id="767" name="Google Shape;767;p75"/>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68" name="Google Shape;768;p75"/>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769" name="Google Shape;769;p75"/>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70" name="Google Shape;770;p75"/>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1" name="Google Shape;771;p75"/>
          <p:cNvSpPr/>
          <p:nvPr/>
        </p:nvSpPr>
        <p:spPr>
          <a:xfrm>
            <a:off x="546756" y="874526"/>
            <a:ext cx="11417717"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a:solidFill>
                  <a:srgbClr val="FFC000"/>
                </a:solidFill>
                <a:latin typeface="Calibri"/>
                <a:ea typeface="Calibri"/>
                <a:cs typeface="Calibri"/>
                <a:sym typeface="Calibri"/>
              </a:rPr>
              <a:t>Step 4: Computation of the eigenvectors: </a:t>
            </a:r>
            <a:r>
              <a:rPr lang="en-US" sz="2400">
                <a:solidFill>
                  <a:schemeClr val="lt1"/>
                </a:solidFill>
                <a:latin typeface="Calibri"/>
                <a:ea typeface="Calibri"/>
                <a:cs typeface="Calibri"/>
                <a:sym typeface="Calibri"/>
              </a:rPr>
              <a:t>To find the first principal components, we need to </a:t>
            </a:r>
            <a:r>
              <a:rPr lang="en-US" sz="2400" u="sng">
                <a:solidFill>
                  <a:schemeClr val="lt1"/>
                </a:solidFill>
                <a:latin typeface="Calibri"/>
                <a:ea typeface="Calibri"/>
                <a:cs typeface="Calibri"/>
                <a:sym typeface="Calibri"/>
              </a:rPr>
              <a:t>compute the eigenvector corresponding to the largest eigenvalue</a:t>
            </a:r>
            <a:r>
              <a:rPr lang="en-US" sz="2400">
                <a:solidFill>
                  <a:schemeClr val="lt1"/>
                </a:solidFill>
                <a:latin typeface="Calibri"/>
                <a:ea typeface="Calibri"/>
                <a:cs typeface="Calibri"/>
                <a:sym typeface="Calibri"/>
              </a:rPr>
              <a:t>. In the present example, the </a:t>
            </a:r>
            <a:r>
              <a:rPr lang="en-US" sz="2400" u="sng">
                <a:solidFill>
                  <a:srgbClr val="FFC000"/>
                </a:solidFill>
                <a:latin typeface="Calibri"/>
                <a:ea typeface="Calibri"/>
                <a:cs typeface="Calibri"/>
                <a:sym typeface="Calibri"/>
              </a:rPr>
              <a:t>largest eigenvalue is λ</a:t>
            </a:r>
            <a:r>
              <a:rPr lang="en-US" sz="2400" u="sng" baseline="-25000">
                <a:solidFill>
                  <a:srgbClr val="FFC000"/>
                </a:solidFill>
                <a:latin typeface="Calibri"/>
                <a:ea typeface="Calibri"/>
                <a:cs typeface="Calibri"/>
                <a:sym typeface="Calibri"/>
              </a:rPr>
              <a:t>1</a:t>
            </a:r>
            <a:r>
              <a:rPr lang="en-US" sz="2400">
                <a:solidFill>
                  <a:srgbClr val="FFC000"/>
                </a:solidFill>
                <a:latin typeface="Calibri"/>
                <a:ea typeface="Calibri"/>
                <a:cs typeface="Calibri"/>
                <a:sym typeface="Calibri"/>
              </a:rPr>
              <a:t> </a:t>
            </a:r>
            <a:r>
              <a:rPr lang="en-US" sz="2400">
                <a:solidFill>
                  <a:schemeClr val="lt1"/>
                </a:solidFill>
                <a:latin typeface="Calibri"/>
                <a:ea typeface="Calibri"/>
                <a:cs typeface="Calibri"/>
                <a:sym typeface="Calibri"/>
              </a:rPr>
              <a:t>and so we compute the eigenvector corresponding to λ</a:t>
            </a:r>
            <a:r>
              <a:rPr lang="en-US" sz="2400" baseline="-25000">
                <a:solidFill>
                  <a:schemeClr val="lt1"/>
                </a:solidFill>
                <a:latin typeface="Calibri"/>
                <a:ea typeface="Calibri"/>
                <a:cs typeface="Calibri"/>
                <a:sym typeface="Calibri"/>
              </a:rPr>
              <a:t>1</a:t>
            </a:r>
            <a:r>
              <a:rPr lang="en-US" sz="2400">
                <a:solidFill>
                  <a:schemeClr val="lt1"/>
                </a:solidFill>
                <a:latin typeface="Calibri"/>
                <a:ea typeface="Calibri"/>
                <a:cs typeface="Calibri"/>
                <a:sym typeface="Calibri"/>
              </a:rPr>
              <a:t>.</a:t>
            </a:r>
            <a:endParaRPr sz="2400" b="1">
              <a:solidFill>
                <a:schemeClr val="lt1"/>
              </a:solidFill>
              <a:latin typeface="Calibri"/>
              <a:ea typeface="Calibri"/>
              <a:cs typeface="Calibri"/>
              <a:sym typeface="Calibri"/>
            </a:endParaRPr>
          </a:p>
        </p:txBody>
      </p:sp>
      <p:sp>
        <p:nvSpPr>
          <p:cNvPr id="772" name="Google Shape;772;p75"/>
          <p:cNvSpPr/>
          <p:nvPr/>
        </p:nvSpPr>
        <p:spPr>
          <a:xfrm>
            <a:off x="546756" y="2593213"/>
            <a:ext cx="651922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The eigenvector corresponding to </a:t>
            </a:r>
            <a:r>
              <a:rPr lang="en-US" sz="2400" b="1">
                <a:solidFill>
                  <a:srgbClr val="FFC000"/>
                </a:solidFill>
                <a:latin typeface="Calibri"/>
                <a:ea typeface="Calibri"/>
                <a:cs typeface="Calibri"/>
                <a:sym typeface="Calibri"/>
              </a:rPr>
              <a:t>λ = λ1 is a vector</a:t>
            </a:r>
            <a:endParaRPr/>
          </a:p>
        </p:txBody>
      </p:sp>
      <p:pic>
        <p:nvPicPr>
          <p:cNvPr id="773" name="Google Shape;773;p75" descr="https://www.vtupulse.com/wp-content/uploads/2022/05/image-21.png"/>
          <p:cNvPicPr preferRelativeResize="0"/>
          <p:nvPr/>
        </p:nvPicPr>
        <p:blipFill rotWithShape="1">
          <a:blip r:embed="rId3">
            <a:alphaModFix/>
          </a:blip>
          <a:srcRect/>
          <a:stretch/>
        </p:blipFill>
        <p:spPr>
          <a:xfrm>
            <a:off x="785611" y="3244334"/>
            <a:ext cx="1397216" cy="1011143"/>
          </a:xfrm>
          <a:prstGeom prst="rect">
            <a:avLst/>
          </a:prstGeom>
          <a:noFill/>
          <a:ln>
            <a:noFill/>
          </a:ln>
        </p:spPr>
      </p:pic>
      <p:pic>
        <p:nvPicPr>
          <p:cNvPr id="774" name="Google Shape;774;p75" descr="https://www.vtupulse.com/wp-content/uploads/2022/05/image-22.png"/>
          <p:cNvPicPr preferRelativeResize="0"/>
          <p:nvPr/>
        </p:nvPicPr>
        <p:blipFill rotWithShape="1">
          <a:blip r:embed="rId4">
            <a:alphaModFix/>
          </a:blip>
          <a:srcRect/>
          <a:stretch/>
        </p:blipFill>
        <p:spPr>
          <a:xfrm>
            <a:off x="2775683" y="3244334"/>
            <a:ext cx="4290294" cy="2935466"/>
          </a:xfrm>
          <a:prstGeom prst="rect">
            <a:avLst/>
          </a:prstGeom>
          <a:noFill/>
          <a:ln>
            <a:noFill/>
          </a:ln>
        </p:spPr>
      </p:pic>
      <p:sp>
        <p:nvSpPr>
          <p:cNvPr id="775" name="Google Shape;775;p75"/>
          <p:cNvSpPr/>
          <p:nvPr/>
        </p:nvSpPr>
        <p:spPr>
          <a:xfrm>
            <a:off x="7221308" y="3013501"/>
            <a:ext cx="497069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This is equivalent to the following two equations:</a:t>
            </a:r>
            <a:endParaRPr/>
          </a:p>
        </p:txBody>
      </p:sp>
      <p:pic>
        <p:nvPicPr>
          <p:cNvPr id="776" name="Google Shape;776;p75" descr="https://www.vtupulse.com/wp-content/uploads/2022/05/image-23.png"/>
          <p:cNvPicPr preferRelativeResize="0"/>
          <p:nvPr/>
        </p:nvPicPr>
        <p:blipFill rotWithShape="1">
          <a:blip r:embed="rId5">
            <a:alphaModFix/>
          </a:blip>
          <a:srcRect/>
          <a:stretch/>
        </p:blipFill>
        <p:spPr>
          <a:xfrm>
            <a:off x="7658833" y="3889497"/>
            <a:ext cx="3584482" cy="93748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cxnSp>
        <p:nvCxnSpPr>
          <p:cNvPr id="781" name="Google Shape;781;p76"/>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82" name="Google Shape;782;p76"/>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783" name="Google Shape;783;p76"/>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84" name="Google Shape;784;p76"/>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5" name="Google Shape;785;p76"/>
          <p:cNvSpPr/>
          <p:nvPr/>
        </p:nvSpPr>
        <p:spPr>
          <a:xfrm>
            <a:off x="618284" y="903347"/>
            <a:ext cx="6740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This is equivalent to the following two equations:</a:t>
            </a:r>
            <a:endParaRPr/>
          </a:p>
        </p:txBody>
      </p:sp>
      <p:pic>
        <p:nvPicPr>
          <p:cNvPr id="786" name="Google Shape;786;p76" descr="https://www.vtupulse.com/wp-content/uploads/2022/05/image-23.png"/>
          <p:cNvPicPr preferRelativeResize="0"/>
          <p:nvPr/>
        </p:nvPicPr>
        <p:blipFill rotWithShape="1">
          <a:blip r:embed="rId3">
            <a:alphaModFix/>
          </a:blip>
          <a:srcRect/>
          <a:stretch/>
        </p:blipFill>
        <p:spPr>
          <a:xfrm>
            <a:off x="785611" y="1510988"/>
            <a:ext cx="3584482" cy="937480"/>
          </a:xfrm>
          <a:prstGeom prst="rect">
            <a:avLst/>
          </a:prstGeom>
          <a:noFill/>
          <a:ln>
            <a:noFill/>
          </a:ln>
        </p:spPr>
      </p:pic>
      <p:pic>
        <p:nvPicPr>
          <p:cNvPr id="787" name="Google Shape;787;p76" descr="https://www.vtupulse.com/wp-content/uploads/2022/05/image-24.png"/>
          <p:cNvPicPr preferRelativeResize="0"/>
          <p:nvPr/>
        </p:nvPicPr>
        <p:blipFill rotWithShape="1">
          <a:blip r:embed="rId4">
            <a:alphaModFix/>
          </a:blip>
          <a:srcRect/>
          <a:stretch/>
        </p:blipFill>
        <p:spPr>
          <a:xfrm>
            <a:off x="838273" y="2787134"/>
            <a:ext cx="3270822" cy="1090274"/>
          </a:xfrm>
          <a:prstGeom prst="rect">
            <a:avLst/>
          </a:prstGeom>
          <a:noFill/>
          <a:ln>
            <a:noFill/>
          </a:ln>
        </p:spPr>
      </p:pic>
      <p:pic>
        <p:nvPicPr>
          <p:cNvPr id="788" name="Google Shape;788;p76" descr="https://www.vtupulse.com/wp-content/uploads/2022/05/image-25.png"/>
          <p:cNvPicPr preferRelativeResize="0"/>
          <p:nvPr/>
        </p:nvPicPr>
        <p:blipFill rotWithShape="1">
          <a:blip r:embed="rId5">
            <a:alphaModFix/>
          </a:blip>
          <a:srcRect/>
          <a:stretch/>
        </p:blipFill>
        <p:spPr>
          <a:xfrm>
            <a:off x="785611" y="4347552"/>
            <a:ext cx="3323484" cy="444152"/>
          </a:xfrm>
          <a:prstGeom prst="rect">
            <a:avLst/>
          </a:prstGeom>
          <a:noFill/>
          <a:ln>
            <a:noFill/>
          </a:ln>
        </p:spPr>
      </p:pic>
      <p:sp>
        <p:nvSpPr>
          <p:cNvPr id="789" name="Google Shape;789;p76"/>
          <p:cNvSpPr/>
          <p:nvPr/>
        </p:nvSpPr>
        <p:spPr>
          <a:xfrm>
            <a:off x="785611" y="5077182"/>
            <a:ext cx="1084655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where t is any real number. Taking t = 1, we get an eigenvector corresponding to λ1 as</a:t>
            </a:r>
            <a:endParaRPr/>
          </a:p>
        </p:txBody>
      </p:sp>
      <p:pic>
        <p:nvPicPr>
          <p:cNvPr id="790" name="Google Shape;790;p76" descr="https://www.vtupulse.com/wp-content/uploads/2022/05/image-26.png"/>
          <p:cNvPicPr preferRelativeResize="0"/>
          <p:nvPr/>
        </p:nvPicPr>
        <p:blipFill rotWithShape="1">
          <a:blip r:embed="rId6">
            <a:alphaModFix/>
          </a:blip>
          <a:srcRect/>
          <a:stretch/>
        </p:blipFill>
        <p:spPr>
          <a:xfrm>
            <a:off x="860927" y="5601819"/>
            <a:ext cx="2184775" cy="105715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cxnSp>
        <p:nvCxnSpPr>
          <p:cNvPr id="795" name="Google Shape;795;p77"/>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796" name="Google Shape;796;p77"/>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797" name="Google Shape;797;p77"/>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798" name="Google Shape;798;p77"/>
          <p:cNvSpPr/>
          <p:nvPr/>
        </p:nvSpPr>
        <p:spPr>
          <a:xfrm>
            <a:off x="4512040" y="3244334"/>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9" name="Google Shape;799;p77"/>
          <p:cNvSpPr/>
          <p:nvPr/>
        </p:nvSpPr>
        <p:spPr>
          <a:xfrm>
            <a:off x="618284" y="903347"/>
            <a:ext cx="989731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To find a unit eigenvector, we compute the length of X1 which is given by,</a:t>
            </a:r>
            <a:endParaRPr/>
          </a:p>
        </p:txBody>
      </p:sp>
      <p:pic>
        <p:nvPicPr>
          <p:cNvPr id="800" name="Google Shape;800;p77" descr="https://www.vtupulse.com/wp-content/uploads/2022/05/image-27.png"/>
          <p:cNvPicPr preferRelativeResize="0"/>
          <p:nvPr/>
        </p:nvPicPr>
        <p:blipFill rotWithShape="1">
          <a:blip r:embed="rId3">
            <a:alphaModFix/>
          </a:blip>
          <a:srcRect/>
          <a:stretch/>
        </p:blipFill>
        <p:spPr>
          <a:xfrm>
            <a:off x="785611" y="1517665"/>
            <a:ext cx="4019519" cy="1489304"/>
          </a:xfrm>
          <a:prstGeom prst="rect">
            <a:avLst/>
          </a:prstGeom>
          <a:noFill/>
          <a:ln>
            <a:noFill/>
          </a:ln>
        </p:spPr>
      </p:pic>
      <p:sp>
        <p:nvSpPr>
          <p:cNvPr id="801" name="Google Shape;801;p77"/>
          <p:cNvSpPr/>
          <p:nvPr/>
        </p:nvSpPr>
        <p:spPr>
          <a:xfrm>
            <a:off x="697415" y="3437737"/>
            <a:ext cx="663143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Calibri"/>
                <a:ea typeface="Calibri"/>
                <a:cs typeface="Calibri"/>
                <a:sym typeface="Calibri"/>
              </a:rPr>
              <a:t>Therefore, a unit eigenvector corresponding to λ1 is</a:t>
            </a:r>
            <a:endParaRPr/>
          </a:p>
        </p:txBody>
      </p:sp>
      <p:pic>
        <p:nvPicPr>
          <p:cNvPr id="802" name="Google Shape;802;p77" descr="https://www.vtupulse.com/wp-content/uploads/2022/05/image-28.png"/>
          <p:cNvPicPr preferRelativeResize="0"/>
          <p:nvPr/>
        </p:nvPicPr>
        <p:blipFill rotWithShape="1">
          <a:blip r:embed="rId4">
            <a:alphaModFix/>
          </a:blip>
          <a:srcRect/>
          <a:stretch/>
        </p:blipFill>
        <p:spPr>
          <a:xfrm>
            <a:off x="785611" y="4003682"/>
            <a:ext cx="3911160" cy="2720109"/>
          </a:xfrm>
          <a:prstGeom prst="rect">
            <a:avLst/>
          </a:prstGeom>
          <a:noFill/>
          <a:ln>
            <a:noFill/>
          </a:ln>
        </p:spPr>
      </p:pic>
      <p:sp>
        <p:nvSpPr>
          <p:cNvPr id="803" name="Google Shape;803;p77"/>
          <p:cNvSpPr/>
          <p:nvPr/>
        </p:nvSpPr>
        <p:spPr>
          <a:xfrm>
            <a:off x="7403124" y="3429000"/>
            <a:ext cx="4699434"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lt1"/>
                </a:solidFill>
                <a:latin typeface="Calibri"/>
                <a:ea typeface="Calibri"/>
                <a:cs typeface="Calibri"/>
                <a:sym typeface="Calibri"/>
              </a:rPr>
              <a:t>By carrying out similar computations, the unit eigenvector e2 corresponding to the eigenvalue λ= λ2 can be shown to be,</a:t>
            </a:r>
            <a:endParaRPr/>
          </a:p>
        </p:txBody>
      </p:sp>
      <p:pic>
        <p:nvPicPr>
          <p:cNvPr id="804" name="Google Shape;804;p77" descr="https://www.vtupulse.com/wp-content/uploads/2022/05/image-29.png"/>
          <p:cNvPicPr preferRelativeResize="0"/>
          <p:nvPr/>
        </p:nvPicPr>
        <p:blipFill rotWithShape="1">
          <a:blip r:embed="rId5">
            <a:alphaModFix/>
          </a:blip>
          <a:srcRect/>
          <a:stretch/>
        </p:blipFill>
        <p:spPr>
          <a:xfrm>
            <a:off x="8112268" y="5145045"/>
            <a:ext cx="2014794" cy="1079356"/>
          </a:xfrm>
          <a:prstGeom prst="rect">
            <a:avLst/>
          </a:prstGeom>
          <a:noFill/>
          <a:ln>
            <a:noFill/>
          </a:ln>
        </p:spPr>
      </p:pic>
      <p:cxnSp>
        <p:nvCxnSpPr>
          <p:cNvPr id="805" name="Google Shape;805;p77"/>
          <p:cNvCxnSpPr/>
          <p:nvPr/>
        </p:nvCxnSpPr>
        <p:spPr>
          <a:xfrm>
            <a:off x="7411916" y="3282615"/>
            <a:ext cx="0" cy="3441176"/>
          </a:xfrm>
          <a:prstGeom prst="straightConnector1">
            <a:avLst/>
          </a:prstGeom>
          <a:noFill/>
          <a:ln w="57150" cap="flat" cmpd="sng">
            <a:solidFill>
              <a:srgbClr val="FFC000"/>
            </a:solidFill>
            <a:prstDash val="solid"/>
            <a:miter lim="8000"/>
            <a:headEnd type="none" w="sm" len="sm"/>
            <a:tailEnd type="none" w="sm" len="sm"/>
          </a:ln>
        </p:spPr>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cxnSp>
        <p:nvCxnSpPr>
          <p:cNvPr id="810" name="Google Shape;810;p78"/>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11" name="Google Shape;811;p78"/>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812" name="Google Shape;812;p78"/>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813" name="Google Shape;813;p78"/>
          <p:cNvSpPr/>
          <p:nvPr/>
        </p:nvSpPr>
        <p:spPr>
          <a:xfrm>
            <a:off x="618284" y="903347"/>
            <a:ext cx="668812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C000"/>
                </a:solidFill>
                <a:latin typeface="Calibri"/>
                <a:ea typeface="Calibri"/>
                <a:cs typeface="Calibri"/>
                <a:sym typeface="Calibri"/>
              </a:rPr>
              <a:t>Step 5: Computation of first principal components</a:t>
            </a:r>
            <a:endParaRPr/>
          </a:p>
        </p:txBody>
      </p:sp>
      <p:pic>
        <p:nvPicPr>
          <p:cNvPr id="814" name="Google Shape;814;p78" descr="https://www.vtupulse.com/wp-content/uploads/2022/05/image-30.png"/>
          <p:cNvPicPr preferRelativeResize="0"/>
          <p:nvPr/>
        </p:nvPicPr>
        <p:blipFill rotWithShape="1">
          <a:blip r:embed="rId3">
            <a:alphaModFix/>
          </a:blip>
          <a:srcRect/>
          <a:stretch/>
        </p:blipFill>
        <p:spPr>
          <a:xfrm>
            <a:off x="696117" y="1581857"/>
            <a:ext cx="939252" cy="939254"/>
          </a:xfrm>
          <a:prstGeom prst="rect">
            <a:avLst/>
          </a:prstGeom>
          <a:noFill/>
          <a:ln>
            <a:noFill/>
          </a:ln>
        </p:spPr>
      </p:pic>
      <p:sp>
        <p:nvSpPr>
          <p:cNvPr id="815" name="Google Shape;815;p78"/>
          <p:cNvSpPr/>
          <p:nvPr/>
        </p:nvSpPr>
        <p:spPr>
          <a:xfrm>
            <a:off x="1800179" y="1581857"/>
            <a:ext cx="4292890" cy="178510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a:solidFill>
                  <a:schemeClr val="lt1"/>
                </a:solidFill>
                <a:latin typeface="Calibri"/>
                <a:ea typeface="Calibri"/>
                <a:cs typeface="Calibri"/>
                <a:sym typeface="Calibri"/>
              </a:rPr>
              <a:t>be the k</a:t>
            </a:r>
            <a:r>
              <a:rPr lang="en-US" sz="2200" baseline="30000">
                <a:solidFill>
                  <a:schemeClr val="lt1"/>
                </a:solidFill>
                <a:latin typeface="Calibri"/>
                <a:ea typeface="Calibri"/>
                <a:cs typeface="Calibri"/>
                <a:sym typeface="Calibri"/>
              </a:rPr>
              <a:t>th</a:t>
            </a:r>
            <a:r>
              <a:rPr lang="en-US" sz="2200">
                <a:solidFill>
                  <a:schemeClr val="lt1"/>
                </a:solidFill>
                <a:latin typeface="Calibri"/>
                <a:ea typeface="Calibri"/>
                <a:cs typeface="Calibri"/>
                <a:sym typeface="Calibri"/>
              </a:rPr>
              <a:t> sample in the above Table (dataset). The first principal component of this example is given by (here “T” denotes the transpose of the matrix)</a:t>
            </a:r>
            <a:endParaRPr/>
          </a:p>
        </p:txBody>
      </p:sp>
      <p:pic>
        <p:nvPicPr>
          <p:cNvPr id="816" name="Google Shape;816;p78" descr="https://www.vtupulse.com/wp-content/uploads/2022/05/image-31.png"/>
          <p:cNvPicPr preferRelativeResize="0"/>
          <p:nvPr/>
        </p:nvPicPr>
        <p:blipFill rotWithShape="1">
          <a:blip r:embed="rId4">
            <a:alphaModFix/>
          </a:blip>
          <a:srcRect/>
          <a:stretch/>
        </p:blipFill>
        <p:spPr>
          <a:xfrm>
            <a:off x="785612" y="3704572"/>
            <a:ext cx="5307458" cy="1206834"/>
          </a:xfrm>
          <a:prstGeom prst="rect">
            <a:avLst/>
          </a:prstGeom>
          <a:noFill/>
          <a:ln>
            <a:noFill/>
          </a:ln>
        </p:spPr>
      </p:pic>
      <p:sp>
        <p:nvSpPr>
          <p:cNvPr id="817" name="Google Shape;817;p78"/>
          <p:cNvSpPr/>
          <p:nvPr/>
        </p:nvSpPr>
        <p:spPr>
          <a:xfrm>
            <a:off x="618284" y="5154443"/>
            <a:ext cx="3065693" cy="14465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200">
                <a:solidFill>
                  <a:schemeClr val="lt1"/>
                </a:solidFill>
                <a:latin typeface="Calibri"/>
                <a:ea typeface="Calibri"/>
                <a:cs typeface="Calibri"/>
                <a:sym typeface="Calibri"/>
              </a:rPr>
              <a:t>For example, the first principal component corresponding to the first example</a:t>
            </a:r>
            <a:endParaRPr/>
          </a:p>
        </p:txBody>
      </p:sp>
      <p:pic>
        <p:nvPicPr>
          <p:cNvPr id="818" name="Google Shape;818;p78" descr="https://www.vtupulse.com/wp-content/uploads/2022/05/image-32.png"/>
          <p:cNvPicPr preferRelativeResize="0"/>
          <p:nvPr/>
        </p:nvPicPr>
        <p:blipFill rotWithShape="1">
          <a:blip r:embed="rId5">
            <a:alphaModFix/>
          </a:blip>
          <a:srcRect/>
          <a:stretch/>
        </p:blipFill>
        <p:spPr>
          <a:xfrm>
            <a:off x="3951721" y="5249017"/>
            <a:ext cx="1798448" cy="1076547"/>
          </a:xfrm>
          <a:prstGeom prst="rect">
            <a:avLst/>
          </a:prstGeom>
          <a:noFill/>
          <a:ln>
            <a:noFill/>
          </a:ln>
        </p:spPr>
      </p:pic>
      <p:pic>
        <p:nvPicPr>
          <p:cNvPr id="819" name="Google Shape;819;p78" descr="https://www.vtupulse.com/wp-content/uploads/2022/05/image-33.png"/>
          <p:cNvPicPr preferRelativeResize="0"/>
          <p:nvPr/>
        </p:nvPicPr>
        <p:blipFill rotWithShape="1">
          <a:blip r:embed="rId6">
            <a:alphaModFix/>
          </a:blip>
          <a:srcRect/>
          <a:stretch/>
        </p:blipFill>
        <p:spPr>
          <a:xfrm>
            <a:off x="6560896" y="4308231"/>
            <a:ext cx="5324475" cy="1852424"/>
          </a:xfrm>
          <a:prstGeom prst="rect">
            <a:avLst/>
          </a:prstGeom>
          <a:noFill/>
          <a:ln>
            <a:noFill/>
          </a:ln>
        </p:spPr>
      </p:pic>
      <p:sp>
        <p:nvSpPr>
          <p:cNvPr id="820" name="Google Shape;820;p78"/>
          <p:cNvSpPr/>
          <p:nvPr/>
        </p:nvSpPr>
        <p:spPr>
          <a:xfrm>
            <a:off x="6560896" y="3704572"/>
            <a:ext cx="2641364"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lt1"/>
                </a:solidFill>
                <a:latin typeface="Calibri"/>
                <a:ea typeface="Calibri"/>
                <a:cs typeface="Calibri"/>
                <a:sym typeface="Calibri"/>
              </a:rPr>
              <a:t>Calculated as follows:</a:t>
            </a:r>
            <a:endParaRPr/>
          </a:p>
        </p:txBody>
      </p:sp>
      <p:cxnSp>
        <p:nvCxnSpPr>
          <p:cNvPr id="821" name="Google Shape;821;p78"/>
          <p:cNvCxnSpPr/>
          <p:nvPr/>
        </p:nvCxnSpPr>
        <p:spPr>
          <a:xfrm flipH="1">
            <a:off x="6345486" y="3226777"/>
            <a:ext cx="17583" cy="3374216"/>
          </a:xfrm>
          <a:prstGeom prst="straightConnector1">
            <a:avLst/>
          </a:prstGeom>
          <a:noFill/>
          <a:ln w="57150" cap="flat" cmpd="sng">
            <a:solidFill>
              <a:srgbClr val="FFC000"/>
            </a:solidFill>
            <a:prstDash val="solid"/>
            <a:miter lim="8000"/>
            <a:headEnd type="none" w="sm" len="sm"/>
            <a:tailEnd type="none" w="sm" len="sm"/>
          </a:ln>
        </p:spPr>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cxnSp>
        <p:nvCxnSpPr>
          <p:cNvPr id="826" name="Google Shape;826;p79"/>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27" name="Google Shape;827;p79"/>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828" name="Google Shape;828;p79"/>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829" name="Google Shape;829;p79"/>
          <p:cNvSpPr/>
          <p:nvPr/>
        </p:nvSpPr>
        <p:spPr>
          <a:xfrm>
            <a:off x="618284" y="903347"/>
            <a:ext cx="886861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Calibri"/>
                <a:ea typeface="Calibri"/>
                <a:cs typeface="Calibri"/>
                <a:sym typeface="Calibri"/>
              </a:rPr>
              <a:t>The results of the calculations are summarized in the below Table.</a:t>
            </a:r>
            <a:endParaRPr/>
          </a:p>
        </p:txBody>
      </p:sp>
      <p:graphicFrame>
        <p:nvGraphicFramePr>
          <p:cNvPr id="830" name="Google Shape;830;p79"/>
          <p:cNvGraphicFramePr/>
          <p:nvPr/>
        </p:nvGraphicFramePr>
        <p:xfrm>
          <a:off x="860927" y="1488904"/>
          <a:ext cx="3000000" cy="3000000"/>
        </p:xfrm>
        <a:graphic>
          <a:graphicData uri="http://schemas.openxmlformats.org/drawingml/2006/table">
            <a:tbl>
              <a:tblPr>
                <a:noFill/>
                <a:tableStyleId>{49649710-54AA-49DE-955E-7AFB838E4C77}</a:tableStyleId>
              </a:tblPr>
              <a:tblGrid>
                <a:gridCol w="1513000">
                  <a:extLst>
                    <a:ext uri="{9D8B030D-6E8A-4147-A177-3AD203B41FA5}">
                      <a16:colId xmlns:a16="http://schemas.microsoft.com/office/drawing/2014/main" val="20000"/>
                    </a:ext>
                  </a:extLst>
                </a:gridCol>
                <a:gridCol w="940775">
                  <a:extLst>
                    <a:ext uri="{9D8B030D-6E8A-4147-A177-3AD203B41FA5}">
                      <a16:colId xmlns:a16="http://schemas.microsoft.com/office/drawing/2014/main" val="20001"/>
                    </a:ext>
                  </a:extLst>
                </a:gridCol>
                <a:gridCol w="1108725">
                  <a:extLst>
                    <a:ext uri="{9D8B030D-6E8A-4147-A177-3AD203B41FA5}">
                      <a16:colId xmlns:a16="http://schemas.microsoft.com/office/drawing/2014/main" val="20002"/>
                    </a:ext>
                  </a:extLst>
                </a:gridCol>
                <a:gridCol w="1187500">
                  <a:extLst>
                    <a:ext uri="{9D8B030D-6E8A-4147-A177-3AD203B41FA5}">
                      <a16:colId xmlns:a16="http://schemas.microsoft.com/office/drawing/2014/main" val="20003"/>
                    </a:ext>
                  </a:extLst>
                </a:gridCol>
                <a:gridCol w="1187500">
                  <a:extLst>
                    <a:ext uri="{9D8B030D-6E8A-4147-A177-3AD203B41FA5}">
                      <a16:colId xmlns:a16="http://schemas.microsoft.com/office/drawing/2014/main" val="20004"/>
                    </a:ext>
                  </a:extLst>
                </a:gridCol>
              </a:tblGrid>
              <a:tr h="228600">
                <a:tc>
                  <a:txBody>
                    <a:bodyPr/>
                    <a:lstStyle/>
                    <a:p>
                      <a:pPr marL="0" marR="0" lvl="0" indent="0" algn="ctr" rtl="0">
                        <a:spcBef>
                          <a:spcPts val="0"/>
                        </a:spcBef>
                        <a:spcAft>
                          <a:spcPts val="0"/>
                        </a:spcAft>
                        <a:buNone/>
                      </a:pPr>
                      <a:r>
                        <a:rPr lang="en-US" sz="1800" b="1"/>
                        <a:t>X</a:t>
                      </a:r>
                      <a:r>
                        <a:rPr lang="en-US" sz="1800" b="1" baseline="-25000"/>
                        <a:t>1</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4</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8</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13</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7</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b="1"/>
                        <a:t>X</a:t>
                      </a:r>
                      <a:r>
                        <a:rPr lang="en-US" sz="1800" b="1" baseline="-25000"/>
                        <a:t>2</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11</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4</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5</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14</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b="1"/>
                        <a:t>First Principle Components</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-4.3052</a:t>
                      </a:r>
                      <a:endParaRPr sz="1800"/>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3.7361</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5.6928</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tc>
                  <a:txBody>
                    <a:bodyPr/>
                    <a:lstStyle/>
                    <a:p>
                      <a:pPr marL="0" marR="0" lvl="0" indent="0" algn="ctr" rtl="0">
                        <a:spcBef>
                          <a:spcPts val="0"/>
                        </a:spcBef>
                        <a:spcAft>
                          <a:spcPts val="0"/>
                        </a:spcAft>
                        <a:buNone/>
                      </a:pPr>
                      <a:r>
                        <a:rPr lang="en-US" sz="1800"/>
                        <a:t>-5.1238</a:t>
                      </a:r>
                      <a:endParaRPr/>
                    </a:p>
                  </a:txBody>
                  <a:tcPr marL="91450" marR="91450" marT="45725" marB="4572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AFA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cxnSp>
        <p:nvCxnSpPr>
          <p:cNvPr id="835" name="Google Shape;835;p80"/>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36" name="Google Shape;836;p80"/>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837" name="Google Shape;837;p80"/>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838" name="Google Shape;838;p80"/>
          <p:cNvSpPr/>
          <p:nvPr/>
        </p:nvSpPr>
        <p:spPr>
          <a:xfrm>
            <a:off x="785611" y="959321"/>
            <a:ext cx="761772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C000"/>
                </a:solidFill>
                <a:latin typeface="Calibri"/>
                <a:ea typeface="Calibri"/>
                <a:cs typeface="Calibri"/>
                <a:sym typeface="Calibri"/>
              </a:rPr>
              <a:t>Step 6: Geometrical meaning of first principal components</a:t>
            </a:r>
            <a:endParaRPr/>
          </a:p>
        </p:txBody>
      </p:sp>
      <p:pic>
        <p:nvPicPr>
          <p:cNvPr id="839" name="Google Shape;839;p80" descr="Coordinate system for principal components"/>
          <p:cNvPicPr preferRelativeResize="0"/>
          <p:nvPr/>
        </p:nvPicPr>
        <p:blipFill rotWithShape="1">
          <a:blip r:embed="rId3">
            <a:alphaModFix/>
          </a:blip>
          <a:srcRect/>
          <a:stretch/>
        </p:blipFill>
        <p:spPr>
          <a:xfrm>
            <a:off x="608302" y="2372762"/>
            <a:ext cx="3794554" cy="3977642"/>
          </a:xfrm>
          <a:prstGeom prst="rect">
            <a:avLst/>
          </a:prstGeom>
          <a:noFill/>
          <a:ln>
            <a:noFill/>
          </a:ln>
        </p:spPr>
      </p:pic>
      <p:sp>
        <p:nvSpPr>
          <p:cNvPr id="840" name="Google Shape;840;p80"/>
          <p:cNvSpPr/>
          <p:nvPr/>
        </p:nvSpPr>
        <p:spPr>
          <a:xfrm>
            <a:off x="5712070" y="1603321"/>
            <a:ext cx="60960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a:solidFill>
                  <a:schemeClr val="lt1"/>
                </a:solidFill>
                <a:latin typeface="Calibri"/>
                <a:ea typeface="Calibri"/>
                <a:cs typeface="Calibri"/>
                <a:sym typeface="Calibri"/>
              </a:rPr>
              <a:t>Next, we drop perpendiculars from the given data points to the e1-axis (see below Figure).</a:t>
            </a:r>
            <a:endParaRPr/>
          </a:p>
        </p:txBody>
      </p:sp>
      <p:pic>
        <p:nvPicPr>
          <p:cNvPr id="841" name="Google Shape;841;p80" descr="Projections of data points on the axis of the first principal component"/>
          <p:cNvPicPr preferRelativeResize="0"/>
          <p:nvPr/>
        </p:nvPicPr>
        <p:blipFill rotWithShape="1">
          <a:blip r:embed="rId4">
            <a:alphaModFix/>
          </a:blip>
          <a:srcRect/>
          <a:stretch/>
        </p:blipFill>
        <p:spPr>
          <a:xfrm>
            <a:off x="5870576" y="2372762"/>
            <a:ext cx="4055940" cy="3977642"/>
          </a:xfrm>
          <a:prstGeom prst="rect">
            <a:avLst/>
          </a:prstGeom>
          <a:noFill/>
          <a:ln>
            <a:noFill/>
          </a:ln>
        </p:spPr>
      </p:pic>
      <p:sp>
        <p:nvSpPr>
          <p:cNvPr id="842" name="Google Shape;842;p80"/>
          <p:cNvSpPr/>
          <p:nvPr/>
        </p:nvSpPr>
        <p:spPr>
          <a:xfrm>
            <a:off x="4783015" y="3912577"/>
            <a:ext cx="791308" cy="518746"/>
          </a:xfrm>
          <a:prstGeom prst="rightArrow">
            <a:avLst>
              <a:gd name="adj1" fmla="val 50000"/>
              <a:gd name="adj2" fmla="val 50000"/>
            </a:avLst>
          </a:prstGeom>
          <a:solidFill>
            <a:schemeClr val="accent2"/>
          </a:solidFill>
          <a:ln w="1270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cxnSp>
        <p:nvCxnSpPr>
          <p:cNvPr id="847" name="Google Shape;847;p81"/>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48" name="Google Shape;848;p81"/>
          <p:cNvSpPr txBox="1"/>
          <p:nvPr/>
        </p:nvSpPr>
        <p:spPr>
          <a:xfrm>
            <a:off x="546756" y="7545"/>
            <a:ext cx="481285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Solved Example</a:t>
            </a:r>
            <a:endParaRPr/>
          </a:p>
        </p:txBody>
      </p:sp>
      <p:sp>
        <p:nvSpPr>
          <p:cNvPr id="849" name="Google Shape;849;p81"/>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pic>
        <p:nvPicPr>
          <p:cNvPr id="850" name="Google Shape;850;p81" descr="Geometrical representation of one-dimensional approximation to the data set"/>
          <p:cNvPicPr preferRelativeResize="0"/>
          <p:nvPr/>
        </p:nvPicPr>
        <p:blipFill rotWithShape="1">
          <a:blip r:embed="rId3">
            <a:alphaModFix/>
          </a:blip>
          <a:srcRect/>
          <a:stretch/>
        </p:blipFill>
        <p:spPr>
          <a:xfrm>
            <a:off x="1518383" y="1488904"/>
            <a:ext cx="8256568" cy="392723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cxnSp>
        <p:nvCxnSpPr>
          <p:cNvPr id="855" name="Google Shape;855;p82"/>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56" name="Google Shape;856;p82"/>
          <p:cNvSpPr txBox="1"/>
          <p:nvPr/>
        </p:nvSpPr>
        <p:spPr>
          <a:xfrm>
            <a:off x="546756" y="7545"/>
            <a:ext cx="373211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Case Study</a:t>
            </a:r>
            <a:endParaRPr sz="4400">
              <a:solidFill>
                <a:schemeClr val="lt1"/>
              </a:solidFill>
              <a:latin typeface="Calibri"/>
              <a:ea typeface="Calibri"/>
              <a:cs typeface="Calibri"/>
              <a:sym typeface="Calibri"/>
            </a:endParaRPr>
          </a:p>
        </p:txBody>
      </p:sp>
      <p:sp>
        <p:nvSpPr>
          <p:cNvPr id="857" name="Google Shape;857;p82"/>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858" name="Google Shape;858;p82"/>
          <p:cNvSpPr/>
          <p:nvPr/>
        </p:nvSpPr>
        <p:spPr>
          <a:xfrm>
            <a:off x="546756" y="779001"/>
            <a:ext cx="11183426" cy="415498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Case Study: Customer Satisfaction Survey</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Let's imagine a retail company conducted a customer satisfaction survey with 1000 respondents. The survey included questions on five aspects of the shopping experience:</a:t>
            </a:r>
            <a:endParaRPr/>
          </a:p>
          <a:p>
            <a:pPr marL="457200" marR="0" lvl="0" indent="-457200" algn="l" rtl="0">
              <a:lnSpc>
                <a:spcPct val="150000"/>
              </a:lnSpc>
              <a:spcBef>
                <a:spcPts val="0"/>
              </a:spcBef>
              <a:spcAft>
                <a:spcPts val="0"/>
              </a:spcAft>
              <a:buClr>
                <a:schemeClr val="lt1"/>
              </a:buClr>
              <a:buSzPts val="2200"/>
              <a:buFont typeface="Calibri"/>
              <a:buAutoNum type="arabicPeriod"/>
            </a:pPr>
            <a:r>
              <a:rPr lang="en-US" sz="2200">
                <a:solidFill>
                  <a:schemeClr val="lt1"/>
                </a:solidFill>
                <a:latin typeface="Calibri"/>
                <a:ea typeface="Calibri"/>
                <a:cs typeface="Calibri"/>
                <a:sym typeface="Calibri"/>
              </a:rPr>
              <a:t>Product Quality</a:t>
            </a:r>
            <a:endParaRPr/>
          </a:p>
          <a:p>
            <a:pPr marL="457200" marR="0" lvl="0" indent="-457200" algn="l" rtl="0">
              <a:lnSpc>
                <a:spcPct val="150000"/>
              </a:lnSpc>
              <a:spcBef>
                <a:spcPts val="0"/>
              </a:spcBef>
              <a:spcAft>
                <a:spcPts val="0"/>
              </a:spcAft>
              <a:buClr>
                <a:schemeClr val="lt1"/>
              </a:buClr>
              <a:buSzPts val="2200"/>
              <a:buFont typeface="Calibri"/>
              <a:buAutoNum type="arabicPeriod"/>
            </a:pPr>
            <a:r>
              <a:rPr lang="en-US" sz="2200">
                <a:solidFill>
                  <a:schemeClr val="lt1"/>
                </a:solidFill>
                <a:latin typeface="Calibri"/>
                <a:ea typeface="Calibri"/>
                <a:cs typeface="Calibri"/>
                <a:sym typeface="Calibri"/>
              </a:rPr>
              <a:t>Price Fairness</a:t>
            </a:r>
            <a:endParaRPr/>
          </a:p>
          <a:p>
            <a:pPr marL="457200" marR="0" lvl="0" indent="-457200" algn="l" rtl="0">
              <a:lnSpc>
                <a:spcPct val="150000"/>
              </a:lnSpc>
              <a:spcBef>
                <a:spcPts val="0"/>
              </a:spcBef>
              <a:spcAft>
                <a:spcPts val="0"/>
              </a:spcAft>
              <a:buClr>
                <a:schemeClr val="lt1"/>
              </a:buClr>
              <a:buSzPts val="2200"/>
              <a:buFont typeface="Calibri"/>
              <a:buAutoNum type="arabicPeriod"/>
            </a:pPr>
            <a:r>
              <a:rPr lang="en-US" sz="2200">
                <a:solidFill>
                  <a:schemeClr val="lt1"/>
                </a:solidFill>
                <a:latin typeface="Calibri"/>
                <a:ea typeface="Calibri"/>
                <a:cs typeface="Calibri"/>
                <a:sym typeface="Calibri"/>
              </a:rPr>
              <a:t>Customer Service</a:t>
            </a:r>
            <a:endParaRPr/>
          </a:p>
          <a:p>
            <a:pPr marL="457200" marR="0" lvl="0" indent="-457200" algn="l" rtl="0">
              <a:lnSpc>
                <a:spcPct val="150000"/>
              </a:lnSpc>
              <a:spcBef>
                <a:spcPts val="0"/>
              </a:spcBef>
              <a:spcAft>
                <a:spcPts val="0"/>
              </a:spcAft>
              <a:buClr>
                <a:schemeClr val="lt1"/>
              </a:buClr>
              <a:buSzPts val="2200"/>
              <a:buFont typeface="Calibri"/>
              <a:buAutoNum type="arabicPeriod"/>
            </a:pPr>
            <a:r>
              <a:rPr lang="en-US" sz="2200">
                <a:solidFill>
                  <a:schemeClr val="lt1"/>
                </a:solidFill>
                <a:latin typeface="Calibri"/>
                <a:ea typeface="Calibri"/>
                <a:cs typeface="Calibri"/>
                <a:sym typeface="Calibri"/>
              </a:rPr>
              <a:t>Store Atmosphere</a:t>
            </a:r>
            <a:endParaRPr/>
          </a:p>
          <a:p>
            <a:pPr marL="457200" marR="0" lvl="0" indent="-457200" algn="l" rtl="0">
              <a:lnSpc>
                <a:spcPct val="150000"/>
              </a:lnSpc>
              <a:spcBef>
                <a:spcPts val="0"/>
              </a:spcBef>
              <a:spcAft>
                <a:spcPts val="0"/>
              </a:spcAft>
              <a:buClr>
                <a:schemeClr val="lt1"/>
              </a:buClr>
              <a:buSzPts val="2200"/>
              <a:buFont typeface="Calibri"/>
              <a:buAutoNum type="arabicPeriod"/>
            </a:pPr>
            <a:r>
              <a:rPr lang="en-US" sz="2200">
                <a:solidFill>
                  <a:schemeClr val="lt1"/>
                </a:solidFill>
                <a:latin typeface="Calibri"/>
                <a:ea typeface="Calibri"/>
                <a:cs typeface="Calibri"/>
                <a:sym typeface="Calibri"/>
              </a:rPr>
              <a:t>Checkout Speed</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cxnSp>
        <p:nvCxnSpPr>
          <p:cNvPr id="863" name="Google Shape;863;p83"/>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64" name="Google Shape;864;p83"/>
          <p:cNvSpPr txBox="1"/>
          <p:nvPr/>
        </p:nvSpPr>
        <p:spPr>
          <a:xfrm>
            <a:off x="546756" y="7545"/>
            <a:ext cx="373211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Case Study</a:t>
            </a:r>
            <a:endParaRPr sz="4400">
              <a:solidFill>
                <a:schemeClr val="lt1"/>
              </a:solidFill>
              <a:latin typeface="Calibri"/>
              <a:ea typeface="Calibri"/>
              <a:cs typeface="Calibri"/>
              <a:sym typeface="Calibri"/>
            </a:endParaRPr>
          </a:p>
        </p:txBody>
      </p:sp>
      <p:sp>
        <p:nvSpPr>
          <p:cNvPr id="865" name="Google Shape;865;p83"/>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866" name="Google Shape;866;p83"/>
          <p:cNvSpPr/>
          <p:nvPr/>
        </p:nvSpPr>
        <p:spPr>
          <a:xfrm>
            <a:off x="546756" y="779001"/>
            <a:ext cx="11183426" cy="466281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Step 1: Covariance Matrix: First, they calculate the covariance matrix for these five variables.</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Step 2: Eigenvalue Calculation</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Next, they calculate the eigenvalues of this covariance matrix. Let's say they get the following eigenvalues:</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λ1 = 2.5</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λ2 = 1.2</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λ3 = 0.8</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λ4 = 0.3</a:t>
            </a:r>
            <a:endParaRPr/>
          </a:p>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λ5 = 0.2</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cxnSp>
        <p:nvCxnSpPr>
          <p:cNvPr id="871" name="Google Shape;871;p84"/>
          <p:cNvCxnSpPr/>
          <p:nvPr/>
        </p:nvCxnSpPr>
        <p:spPr>
          <a:xfrm>
            <a:off x="785611" y="748224"/>
            <a:ext cx="11178862" cy="0"/>
          </a:xfrm>
          <a:prstGeom prst="straightConnector1">
            <a:avLst/>
          </a:prstGeom>
          <a:noFill/>
          <a:ln w="9525" cap="flat" cmpd="sng">
            <a:solidFill>
              <a:schemeClr val="lt1"/>
            </a:solidFill>
            <a:prstDash val="solid"/>
            <a:miter lim="8000"/>
            <a:headEnd type="none" w="sm" len="sm"/>
            <a:tailEnd type="none" w="sm" len="sm"/>
          </a:ln>
        </p:spPr>
      </p:cxnSp>
      <p:sp>
        <p:nvSpPr>
          <p:cNvPr id="872" name="Google Shape;872;p84"/>
          <p:cNvSpPr txBox="1"/>
          <p:nvPr/>
        </p:nvSpPr>
        <p:spPr>
          <a:xfrm>
            <a:off x="546756" y="7545"/>
            <a:ext cx="3732112"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lt1"/>
                </a:solidFill>
                <a:latin typeface="Calibri"/>
                <a:ea typeface="Calibri"/>
                <a:cs typeface="Calibri"/>
                <a:sym typeface="Calibri"/>
              </a:rPr>
              <a:t>PCA Case Study</a:t>
            </a:r>
            <a:endParaRPr sz="4400">
              <a:solidFill>
                <a:schemeClr val="lt1"/>
              </a:solidFill>
              <a:latin typeface="Calibri"/>
              <a:ea typeface="Calibri"/>
              <a:cs typeface="Calibri"/>
              <a:sym typeface="Calibri"/>
            </a:endParaRPr>
          </a:p>
        </p:txBody>
      </p:sp>
      <p:sp>
        <p:nvSpPr>
          <p:cNvPr id="873" name="Google Shape;873;p84"/>
          <p:cNvSpPr/>
          <p:nvPr/>
        </p:nvSpPr>
        <p:spPr>
          <a:xfrm>
            <a:off x="860927" y="1510988"/>
            <a:ext cx="184731" cy="63042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600">
              <a:solidFill>
                <a:schemeClr val="lt1"/>
              </a:solidFill>
              <a:latin typeface="Calibri"/>
              <a:ea typeface="Calibri"/>
              <a:cs typeface="Calibri"/>
              <a:sym typeface="Calibri"/>
            </a:endParaRPr>
          </a:p>
        </p:txBody>
      </p:sp>
      <p:sp>
        <p:nvSpPr>
          <p:cNvPr id="874" name="Google Shape;874;p84"/>
          <p:cNvSpPr/>
          <p:nvPr/>
        </p:nvSpPr>
        <p:spPr>
          <a:xfrm>
            <a:off x="546756" y="779001"/>
            <a:ext cx="11183426" cy="533992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chemeClr val="lt1"/>
                </a:solidFill>
                <a:latin typeface="Calibri"/>
                <a:ea typeface="Calibri"/>
                <a:cs typeface="Calibri"/>
                <a:sym typeface="Calibri"/>
              </a:rPr>
              <a:t>Step 3: Interpreting Eigenvalues</a:t>
            </a:r>
            <a:endParaRPr/>
          </a:p>
          <a:p>
            <a:pPr marL="0" marR="0" lvl="0" indent="0" algn="just" rtl="0">
              <a:lnSpc>
                <a:spcPct val="150000"/>
              </a:lnSpc>
              <a:spcBef>
                <a:spcPts val="0"/>
              </a:spcBef>
              <a:spcAft>
                <a:spcPts val="0"/>
              </a:spcAft>
              <a:buNone/>
            </a:pPr>
            <a:r>
              <a:rPr lang="en-US" sz="2200">
                <a:solidFill>
                  <a:schemeClr val="lt1"/>
                </a:solidFill>
                <a:latin typeface="Calibri"/>
                <a:ea typeface="Calibri"/>
                <a:cs typeface="Calibri"/>
                <a:sym typeface="Calibri"/>
              </a:rPr>
              <a:t>Here's how these eigenvalues help quantify the rank of principal components:</a:t>
            </a:r>
            <a:endParaRPr/>
          </a:p>
          <a:p>
            <a:pPr marL="0" marR="0" lvl="0" indent="0" algn="just" rtl="0">
              <a:lnSpc>
                <a:spcPct val="150000"/>
              </a:lnSpc>
              <a:spcBef>
                <a:spcPts val="0"/>
              </a:spcBef>
              <a:spcAft>
                <a:spcPts val="0"/>
              </a:spcAft>
              <a:buNone/>
            </a:pPr>
            <a:r>
              <a:rPr lang="en-US" sz="2200">
                <a:solidFill>
                  <a:schemeClr val="lt1"/>
                </a:solidFill>
                <a:latin typeface="Calibri"/>
                <a:ea typeface="Calibri"/>
                <a:cs typeface="Calibri"/>
                <a:sym typeface="Calibri"/>
              </a:rPr>
              <a:t>Variance Explained: Each eigenvalue represents the amount of variance explained by its corresponding principal component. </a:t>
            </a:r>
            <a:r>
              <a:rPr lang="en-US" sz="2200" b="1" u="sng">
                <a:solidFill>
                  <a:schemeClr val="lt1"/>
                </a:solidFill>
                <a:latin typeface="Calibri"/>
                <a:ea typeface="Calibri"/>
                <a:cs typeface="Calibri"/>
                <a:sym typeface="Calibri"/>
              </a:rPr>
              <a:t>Larger eigenvalues indicate more important components.</a:t>
            </a:r>
            <a:endParaRPr/>
          </a:p>
          <a:p>
            <a:pPr marL="0" marR="0" lvl="0" indent="0" algn="l" rtl="0">
              <a:spcBef>
                <a:spcPts val="0"/>
              </a:spcBef>
              <a:spcAft>
                <a:spcPts val="0"/>
              </a:spcAft>
              <a:buNone/>
            </a:pPr>
            <a:endParaRPr sz="2200">
              <a:solidFill>
                <a:schemeClr val="lt1"/>
              </a:solidFill>
              <a:latin typeface="Calibri"/>
              <a:ea typeface="Calibri"/>
              <a:cs typeface="Calibri"/>
              <a:sym typeface="Calibri"/>
            </a:endParaRPr>
          </a:p>
          <a:p>
            <a:pPr marL="0" marR="0" lvl="0" indent="0" algn="l" rtl="0">
              <a:spcBef>
                <a:spcPts val="0"/>
              </a:spcBef>
              <a:spcAft>
                <a:spcPts val="0"/>
              </a:spcAft>
              <a:buNone/>
            </a:pPr>
            <a:r>
              <a:rPr lang="en-US" sz="2200">
                <a:solidFill>
                  <a:schemeClr val="lt1"/>
                </a:solidFill>
                <a:latin typeface="Calibri"/>
                <a:ea typeface="Calibri"/>
                <a:cs typeface="Calibri"/>
                <a:sym typeface="Calibri"/>
              </a:rPr>
              <a:t>Proportion of Variance: We can calculate the proportion of total variance explained by each component: Total variance = 2.5 + 1.2 + 0.8 + 0.3 + 0.2 = 5 </a:t>
            </a:r>
            <a:endParaRPr sz="2200">
              <a:solidFill>
                <a:schemeClr val="lt1"/>
              </a:solidFill>
              <a:latin typeface="Calibri"/>
              <a:ea typeface="Calibri"/>
              <a:cs typeface="Calibri"/>
              <a:sym typeface="Calibri"/>
            </a:endParaRPr>
          </a:p>
          <a:p>
            <a:pPr marL="0" marR="0" lvl="0" indent="0" algn="l" rtl="0">
              <a:spcBef>
                <a:spcPts val="0"/>
              </a:spcBef>
              <a:spcAft>
                <a:spcPts val="0"/>
              </a:spcAft>
              <a:buNone/>
            </a:pPr>
            <a:r>
              <a:rPr lang="en-US" sz="2200">
                <a:solidFill>
                  <a:schemeClr val="lt1"/>
                </a:solidFill>
                <a:latin typeface="Calibri"/>
                <a:ea typeface="Calibri"/>
                <a:cs typeface="Calibri"/>
                <a:sym typeface="Calibri"/>
              </a:rPr>
              <a:t>PC1 explains 2.5/5 = 50% of the variance</a:t>
            </a:r>
            <a:endParaRPr/>
          </a:p>
          <a:p>
            <a:pPr marL="0" marR="0" lvl="0" indent="0" algn="l" rtl="0">
              <a:spcBef>
                <a:spcPts val="0"/>
              </a:spcBef>
              <a:spcAft>
                <a:spcPts val="0"/>
              </a:spcAft>
              <a:buNone/>
            </a:pPr>
            <a:r>
              <a:rPr lang="en-US" sz="2200">
                <a:solidFill>
                  <a:schemeClr val="lt1"/>
                </a:solidFill>
                <a:latin typeface="Calibri"/>
                <a:ea typeface="Calibri"/>
                <a:cs typeface="Calibri"/>
                <a:sym typeface="Calibri"/>
              </a:rPr>
              <a:t>PC2 explains 1.2/5 = 24% of the variance</a:t>
            </a:r>
            <a:endParaRPr/>
          </a:p>
          <a:p>
            <a:pPr marL="0" marR="0" lvl="0" indent="0" algn="l" rtl="0">
              <a:spcBef>
                <a:spcPts val="0"/>
              </a:spcBef>
              <a:spcAft>
                <a:spcPts val="0"/>
              </a:spcAft>
              <a:buNone/>
            </a:pPr>
            <a:r>
              <a:rPr lang="en-US" sz="2200">
                <a:solidFill>
                  <a:schemeClr val="lt1"/>
                </a:solidFill>
                <a:latin typeface="Calibri"/>
                <a:ea typeface="Calibri"/>
                <a:cs typeface="Calibri"/>
                <a:sym typeface="Calibri"/>
              </a:rPr>
              <a:t>PC3 explains 0.8/5 = 16% of the variance</a:t>
            </a:r>
            <a:endParaRPr/>
          </a:p>
          <a:p>
            <a:pPr marL="0" marR="0" lvl="0" indent="0" algn="l" rtl="0">
              <a:spcBef>
                <a:spcPts val="0"/>
              </a:spcBef>
              <a:spcAft>
                <a:spcPts val="0"/>
              </a:spcAft>
              <a:buNone/>
            </a:pPr>
            <a:r>
              <a:rPr lang="en-US" sz="2200">
                <a:solidFill>
                  <a:schemeClr val="lt1"/>
                </a:solidFill>
                <a:latin typeface="Calibri"/>
                <a:ea typeface="Calibri"/>
                <a:cs typeface="Calibri"/>
                <a:sym typeface="Calibri"/>
              </a:rPr>
              <a:t>PC4 explains 0.3/5 = 6% of the variance</a:t>
            </a:r>
            <a:endParaRPr/>
          </a:p>
          <a:p>
            <a:pPr marL="0" marR="0" lvl="0" indent="0" algn="l" rtl="0">
              <a:spcBef>
                <a:spcPts val="0"/>
              </a:spcBef>
              <a:spcAft>
                <a:spcPts val="0"/>
              </a:spcAft>
              <a:buNone/>
            </a:pPr>
            <a:r>
              <a:rPr lang="en-US" sz="2200">
                <a:solidFill>
                  <a:schemeClr val="lt1"/>
                </a:solidFill>
                <a:latin typeface="Calibri"/>
                <a:ea typeface="Calibri"/>
                <a:cs typeface="Calibri"/>
                <a:sym typeface="Calibri"/>
              </a:rPr>
              <a:t>PC5 explains 0.2/5 = 4% of the variance</a:t>
            </a:r>
            <a:endParaRPr/>
          </a:p>
          <a:p>
            <a:pPr marL="0" marR="0" lvl="0" indent="0" algn="just" rtl="0">
              <a:lnSpc>
                <a:spcPct val="150000"/>
              </a:lnSpc>
              <a:spcBef>
                <a:spcPts val="0"/>
              </a:spcBef>
              <a:spcAft>
                <a:spcPts val="0"/>
              </a:spcAft>
              <a:buNone/>
            </a:pPr>
            <a:endParaRPr sz="2200" b="1" u="sng">
              <a:solidFill>
                <a:schemeClr val="lt1"/>
              </a:solidFill>
              <a:latin typeface="Calibri"/>
              <a:ea typeface="Calibri"/>
              <a:cs typeface="Calibri"/>
              <a:sym typeface="Calibri"/>
            </a:endParaRPr>
          </a:p>
        </p:txBody>
      </p:sp>
      <p:sp>
        <p:nvSpPr>
          <p:cNvPr id="875" name="Google Shape;875;p84"/>
          <p:cNvSpPr/>
          <p:nvPr/>
        </p:nvSpPr>
        <p:spPr>
          <a:xfrm>
            <a:off x="5868473" y="4241953"/>
            <a:ext cx="6096000" cy="1615827"/>
          </a:xfrm>
          <a:prstGeom prst="rect">
            <a:avLst/>
          </a:prstGeom>
          <a:noFill/>
          <a:ln>
            <a:noFill/>
          </a:ln>
        </p:spPr>
        <p:txBody>
          <a:bodyPr spcFirstLastPara="1" wrap="square" lIns="91425" tIns="45700" rIns="91425" bIns="45700" anchor="t" anchorCtr="0">
            <a:spAutoFit/>
          </a:bodyPr>
          <a:lstStyle/>
          <a:p>
            <a:pPr marL="0" marR="0" lvl="0" indent="-139700" algn="l" rtl="0">
              <a:lnSpc>
                <a:spcPct val="150000"/>
              </a:lnSpc>
              <a:spcBef>
                <a:spcPts val="0"/>
              </a:spcBef>
              <a:spcAft>
                <a:spcPts val="0"/>
              </a:spcAft>
              <a:buClr>
                <a:schemeClr val="lt1"/>
              </a:buClr>
              <a:buSzPts val="2200"/>
              <a:buFont typeface="Arial"/>
              <a:buChar char="•"/>
            </a:pPr>
            <a:r>
              <a:rPr lang="en-US" sz="2200">
                <a:solidFill>
                  <a:schemeClr val="lt1"/>
                </a:solidFill>
                <a:latin typeface="Calibri"/>
                <a:ea typeface="Calibri"/>
                <a:cs typeface="Calibri"/>
                <a:sym typeface="Calibri"/>
              </a:rPr>
              <a:t>PC1 and PC2 together explain 74% of the variance</a:t>
            </a:r>
            <a:endParaRPr/>
          </a:p>
          <a:p>
            <a:pPr marL="0" marR="0" lvl="0" indent="-139700" algn="l" rtl="0">
              <a:lnSpc>
                <a:spcPct val="150000"/>
              </a:lnSpc>
              <a:spcBef>
                <a:spcPts val="0"/>
              </a:spcBef>
              <a:spcAft>
                <a:spcPts val="0"/>
              </a:spcAft>
              <a:buClr>
                <a:schemeClr val="lt1"/>
              </a:buClr>
              <a:buSzPts val="2200"/>
              <a:buFont typeface="Arial"/>
              <a:buChar char="•"/>
            </a:pPr>
            <a:r>
              <a:rPr lang="en-US" sz="2200">
                <a:solidFill>
                  <a:schemeClr val="lt1"/>
                </a:solidFill>
                <a:latin typeface="Calibri"/>
                <a:ea typeface="Calibri"/>
                <a:cs typeface="Calibri"/>
                <a:sym typeface="Calibri"/>
              </a:rPr>
              <a:t>PC1, PC2, and PC3 together explain 90% of the variance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6451</Words>
  <Application>Microsoft Office PowerPoint</Application>
  <PresentationFormat>Widescreen</PresentationFormat>
  <Paragraphs>1202</Paragraphs>
  <Slides>86</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DBSCAN Example</vt:lpstr>
      <vt:lpstr>DBSCAN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Mrugendra</dc:creator>
  <cp:lastModifiedBy>CHARUSAT</cp:lastModifiedBy>
  <cp:revision>8</cp:revision>
  <dcterms:created xsi:type="dcterms:W3CDTF">2015-07-02T03:38:10Z</dcterms:created>
  <dcterms:modified xsi:type="dcterms:W3CDTF">2026-08-07T10:48:29Z</dcterms:modified>
</cp:coreProperties>
</file>